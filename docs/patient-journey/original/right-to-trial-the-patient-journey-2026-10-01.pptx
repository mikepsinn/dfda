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walks through the full patient experience in a care-integrated clinical trial system, from exploring options to public results and outcome labels. We follow one illustrative patient, Margaret, throughout. The path across the top shows the seven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Margaret is a made-up composite to make the journey concrete. Her situation is common: a progressive condition, approved drugs that did not help, many promising but unsponsored generics, and no eligibility under current right-to-try because she is not terminally ill. In a care-integrated trial system, her own doctor can recommend a treatment that an independent board has already reviewed, and she can get it at a local clinic.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estimated 7.4 million Americans aged 65 or older live with Alzheimer's (Alzheimer's Association, 2026 Facts and Figures), about 30 million Americans live with a rare disease (NIH), and about 2.11 million new cancer cases are projected in the U.S. in 2026 (American Cancer Society, Cancer Statistics 2026). Fewer than 5% of more than 10,000 known rare diseases have an approved treatment.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problems. One: you have to be dying. Right-to-try covers only patients with a terminal or life-threatening illness who used up approved options and cannot join a trial, and the maker must agree. FDA reports only 21 investigational drugs used under the federal law from May 30, 2018 to December 31, 2024, and does not publish how many patients got them (https://www.factcheck.org/2026/06/no-evidence-for-trumps-right-to-try-claim/). Margaret is sick but not dying, so she cannot use it. Two: no financial incentive. A ten-year literature review (Frontiers in Pharmacology, 2023) found 573 existing, prescribable drugs proposed for Alzheimer's. Few have been tested. Many are off patent, so no company pays for a trial, and under right-to-try the maker can charge only its direct costs. Three: no one publishes outcomes. Only about 12,000 of about 7.4 million Americans with Alzheimer's join a trial each year (USC Schaeffer Center; Alzheimer's Association, 2026), so about 99.8% are treated outside any study, and nobody records, pools or publishes their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9,500 compounds (range 7,000 to 12,000) already have a human safety record: approved drug ingredients, investigational compounds that passed Phase I, and GRAS substances. The roughly 14,000 ICD-10 diagnosis codes group into about 1,000 diseases that trials can target. 9,500 times 1,000 gives about 9.5 million possible drug-disease pairs. Only about 32,500 pairs have ever been tested (range 15,000 to 50,000), which is 0.34%. Each square in the grid is about 31,700 pairs, so one square of 300 is the whole tested part. At about 3,300 to 4,400 completed trials a year, testing every pair one trial at a time would take 2,000 to 2,900 years. Expect the objection that most pairs make no sense. That is true, and it does not matter: if only 1 in 1,000 pairs works, that is about 9,500 treatments that nobody is testing. Most of these compounds are off patent, so no company has a reason to pay for the tests. Expect the objection that doctors can already prescribe approved drugs off-label. That is true, but nobody tracks what happens, so nobody learns which uses work. Right to Trial does two things here: it lets patients get compounds that passed Phase I but are not yet approved, and it records the outcome of every treatment so the evidence builds. Source: https://manual.warondisease.org/knowledge/problem/untapped-therapeutic-frontier.html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whole path. Steps 1 to 5 are what Margaret does and feels. Every treatment she can choose has already been pre-screened by an independent review board (ETRB). In step 6, her results are de-identified and go to a public registry. In step 7, everyone's pooled results update the treatment rankings and outcome labels. The next patient starts at step 1 with better data than Margaret had.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Outcome labels and treatment rankings come from the pooled, de-identified results, so Margaret can compare benefits, side effects and costs. A public directory lists every participating provider, with location, review board, protocol and status. Every treatment offered has already been pre-screened: an independent review board (the Experimental Treatment Review Board, or ETRB), with at least a physician, an outcomes researcher and an ethicist, reviewed the evidence, the treatment plan, each clinic's competence, conflicts of interest and the consent form before any patient can choose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Margaret never has to do this herself: every treatment is pre-screened before it is offered to any patient. The Experimental Treatment Review Board, or ETRB, has at least three members, including a physician, an outcomes researcher and an ethicist, with no financial ties to the provider or manufacturer. One approval can cover many qualified clinics. Qualifying pathways: a Phase I or comparable early human study, a documented human safety record, a well-characterized platform or individualized treatment, or device-specific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prototype's actual demo figures for depression, which the site labels as preliminary estimates. Effectiveness and safety are 0 to 100 scores, not response percentages. The idea is that Margaret, or her doctor, could see an experimental treatment ranked next to approved ones, with its evidence strength clearly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outcome label is not a fixed document. It combines published clinical trial results with real-world outcomes from every patient treated in the system, plus side-effect reports, and it updates as new data arrives. All numbers here are invented for illustration.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bar is deliberately simple: a treating physician's recommendation plus written consent, which can happen by telemedicine and be signed electronically. No diagnosis, medical necessity, severity, terminal condition, treatment purpose, trial ineligibility, or exhaustion of approved options is required. A doctor who only recommends or discusses the treatment does not have to register or appear in the directory.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nine items in the written consent, in plain language: the specific treatment; the doctor's view of realistic outcomes; alternatives, including no treatment; known risks and benefits; unknown risks, regulatory status, and that early evidence does not prove safety or effectiveness; that the choice is voluntary; who pays and what she may owe; what outcome data is collected, coded and published only de-identified; and a clear statement that this is experimental treatment. Recording needs separate agreement. If a patient cannot consent, a legal representative consents for 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under federal right-to-try, the drug maker decides whether to provide the drug and may charge only its direct costs (21 CFR 312.8(d)(1)). Nobody can earn anything from offering it, so almost nobody does. FDA reports only 21 investigational drugs used under the federal law from May 2018 to December 2024, and it does not publish patient counts (https://www.factcheck.org/2026/06/no-evidence-for-trumps-right-to-try-claim/). Under Right to Trial, clinics can charge a fair price, so they have a real reason to offer new treatments, and one board approval can cover many clinics. No insurer or state program is required to pay. The patient, family, charities, employers, research sponsors, and insurers that choose to can pay. If asked about liability: federal right-to-try already protects makers and doctors from lawsuits, except for gross negligence or willful misconduct, so the main barrier is money, not liability. If asked, other payment options also exist: installments or memberships, crowdfunding, patient-aid groups, free supply from the maker, and lower prices for patients who share outcome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required outcome record is short and can come straight from ordinary medical records, with no duplicate entry. Tools like a tracking app, wearable integration and AI check-ins are optional extras that can make tracking easier and richer.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Serious side effects go to the review board within days. The board must reassess if a trial of the same treatment elsewhere stops for safety or lack of effect, and an unresolved serious safety finding immediately stops treatment of new patients. Current patients may continue if stopping suddenly is more dangerous.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review board publishes a de-identified annual report for each protocol: how many improved, had no real change, worsened, stopped, died, had side effects, or were lost to follow-up. Boards may not omit bad, null or unclear results. The numbers here are made up to show the format.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one patient's result becomes shared evidence. Each clinic files standardized, de-identified outcome reports in an open format. Evidence systems pool the reports across all clinics and publish outcome labels and treatment rankings, which the next patient uses at step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Putting it together on one timeline. The key idea: the outcome is reported whether it's good, bad, or neutral, so the evidence base reflects reality.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Scale it up from Margaret to everyone. About 6,650 diseases have no approved treatment. Today about 15 diseases get their first treatment each year, so the last one would get it about 443 years from now, about 18 generations. Today about 1.9 million people join a clinical trial each year worldwide (IQVIA). About 2.4 billion people have a chronic disease, and about 44.8% say they would join a trial, about 1.08 billion people. If only 23 million join each year, about 2%, research capacity rises about 12 times, to about 185 diseases a year, and the backlog clears in about 36 years, within one lifetime. Cost: a traditional Phase III trial costs about $41,000 per patient; embedded pragmatic trials such as RECOVERY (about $500) and ADAPTABLE (about $929) cost under $1,000, about 44 times less. Waiting: today a treatment that passes Phase I safety testing waits about 8.2 years for efficacy proof; here, patients can choose it after independent board review. Key assumption: discoveries rise in proportion to the number of patients studied; the impact paper states and tests this. Source: https://manual.warondisease.org/knowledge/appendix/dfda-impact-paper.html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standard cost-effectiveness test every new drug must pass: what it costs to gain one year of healthy life (one disability-adjusted life year, or DALY: a year without early death or disability). Lower is better. The bar strip is drawn to scale: if the drug bar is 1,220 pixels, bed nets are about 1 pixel and Right to Trial about one tenth of a pixel, so the empty space is the point. Right to Trial at scale, meaning pragmatic trials built into everyday care: about $9.50 per healthy year. The cost counts the full research cost of the trials, whoever pays: about 23.4 million patients a year at about $929 each, for the 36 years it takes to give every untreated disease a first treatment. The benefit is the healthy years gained because treatments arrive sooner (War on Disease manual, impact paper). Both costs and health are discounted at the standard 3% a year. If asked: with no discounting at all, it is about $1.39 per healthy year. The impact paper's headline of $0.84 discounts costs but not health, so we do not lead with it. Malaria bed nets: about $89 per healthy year (War on Disease manual parameter). That is about 9 times more than $9.50. A typical new drug: the usual U.S. limit is $100,000 to $150,000 per quality-adjusted life year (Institute for Clinical and Economic Review). $100,000 divided by $9.50 is about 10,500, so over 10,000 times more. Even if only half of disease deaths can ever be avoided (the manual's low estimate), the cost is still about $17.50 per healthy year. Source: https://manual.warondisease.org/knowledge/appendix/dfda-impact-paper.html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three fixes: any patient can try, clinics can charge fairly so they offer treatment, and every result is published to produce treatment rankings and outcome labels. Point people to the prototype to see outcome labels in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slideLayout" Target="../slideLayouts/slideLayout1.xml"/><Relationship Id="rId11"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image" Target="../media/image-6-13.png"/><Relationship Id="rId14" Type="http://schemas.openxmlformats.org/officeDocument/2006/relationships/image" Target="../media/image-6-14.png"/><Relationship Id="rId15" Type="http://schemas.openxmlformats.org/officeDocument/2006/relationships/slideLayout" Target="../slideLayouts/slideLayout1.xml"/><Relationship Id="rId1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slideLayout" Target="../slideLayouts/slideLayout1.xml"/><Relationship Id="rId10"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image" Target="../media/image-17-9.png"/><Relationship Id="rId10" Type="http://schemas.openxmlformats.org/officeDocument/2006/relationships/image" Target="../media/image-17-10.png"/><Relationship Id="rId11" Type="http://schemas.openxmlformats.org/officeDocument/2006/relationships/image" Target="../media/image-17-11.png"/><Relationship Id="rId12" Type="http://schemas.openxmlformats.org/officeDocument/2006/relationships/slideLayout" Target="../slideLayouts/slideLayout1.xml"/><Relationship Id="rId1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slideLayout" Target="../slideLayouts/slideLayout1.xml"/><Relationship Id="rId9"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0" Type="http://schemas.openxmlformats.org/officeDocument/2006/relationships/hyperlink" Target="https://prototype.dfda.earth" TargetMode="External"/><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image" Target="../media/image-21-8.png"/><Relationship Id="rId9" Type="http://schemas.openxmlformats.org/officeDocument/2006/relationships/image" Target="../media/image-21-9.png"/><Relationship Id="rId11" Type="http://schemas.openxmlformats.org/officeDocument/2006/relationships/slideLayout" Target="../slideLayouts/slideLayout1.xml"/><Relationship Id="rId1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A44"/>
        </a:solidFill>
      </p:bgPr>
    </p:bg>
    <p:spTree>
      <p:nvGrpSpPr>
        <p:cNvPr id="1" name=""/>
        <p:cNvGrpSpPr/>
        <p:nvPr/>
      </p:nvGrpSpPr>
      <p:grpSpPr>
        <a:xfrm>
          <a:off x="0" y="0"/>
          <a:ext cx="0" cy="0"/>
          <a:chOff x="0" y="0"/>
          <a:chExt cx="0" cy="0"/>
        </a:xfrm>
      </p:grpSpPr>
      <p:pic>
        <p:nvPicPr>
          <p:cNvPr id="2" name="Image 0" descr="Eight-step journey path">    </p:cNvPr>
          <p:cNvPicPr>
            <a:picLocks noChangeAspect="1"/>
          </p:cNvPicPr>
          <p:nvPr/>
        </p:nvPicPr>
        <p:blipFill>
          <a:blip r:embed="rId1"/>
          <a:srcRect l="0" r="0" t="-89" b="-89"/>
          <a:stretch/>
        </p:blipFill>
        <p:spPr>
          <a:xfrm>
            <a:off x="812800" y="812800"/>
            <a:ext cx="10566400" cy="1333500"/>
          </a:xfrm>
          <a:prstGeom prst="rect">
            <a:avLst/>
          </a:prstGeom>
        </p:spPr>
      </p:pic>
      <p:pic>
        <p:nvPicPr>
          <p:cNvPr id="3" name="Image 1" descr="Search">    </p:cNvPr>
          <p:cNvPicPr>
            <a:picLocks noChangeAspect="1"/>
          </p:cNvPicPr>
          <p:nvPr/>
        </p:nvPicPr>
        <p:blipFill>
          <a:blip r:embed="rId2"/>
          <a:srcRect l="0" r="0" t="0" b="0"/>
          <a:stretch/>
        </p:blipFill>
        <p:spPr>
          <a:xfrm>
            <a:off x="939800" y="1574800"/>
            <a:ext cx="254000" cy="254000"/>
          </a:xfrm>
          <a:prstGeom prst="rect">
            <a:avLst/>
          </a:prstGeom>
        </p:spPr>
      </p:pic>
      <p:pic>
        <p:nvPicPr>
          <p:cNvPr id="4" name="Image 2" descr="Chat">    </p:cNvPr>
          <p:cNvPicPr>
            <a:picLocks noChangeAspect="1"/>
          </p:cNvPicPr>
          <p:nvPr/>
        </p:nvPicPr>
        <p:blipFill>
          <a:blip r:embed="rId3"/>
          <a:srcRect l="0" r="0" t="0" b="0"/>
          <a:stretch/>
        </p:blipFill>
        <p:spPr>
          <a:xfrm>
            <a:off x="2374900" y="1130300"/>
            <a:ext cx="254000" cy="254000"/>
          </a:xfrm>
          <a:prstGeom prst="rect">
            <a:avLst/>
          </a:prstGeom>
        </p:spPr>
      </p:pic>
      <p:pic>
        <p:nvPicPr>
          <p:cNvPr id="5" name="Image 3" descr="Verified">    </p:cNvPr>
          <p:cNvPicPr>
            <a:picLocks noChangeAspect="1"/>
          </p:cNvPicPr>
          <p:nvPr/>
        </p:nvPicPr>
        <p:blipFill>
          <a:blip r:embed="rId4"/>
          <a:srcRect l="0" r="0" t="0" b="0"/>
          <a:stretch/>
        </p:blipFill>
        <p:spPr>
          <a:xfrm>
            <a:off x="3816350" y="1574800"/>
            <a:ext cx="254000" cy="254000"/>
          </a:xfrm>
          <a:prstGeom prst="rect">
            <a:avLst/>
          </a:prstGeom>
        </p:spPr>
      </p:pic>
      <p:pic>
        <p:nvPicPr>
          <p:cNvPr id="6" name="Image 4" descr="Book">    </p:cNvPr>
          <p:cNvPicPr>
            <a:picLocks noChangeAspect="1"/>
          </p:cNvPicPr>
          <p:nvPr/>
        </p:nvPicPr>
        <p:blipFill>
          <a:blip r:embed="rId5"/>
          <a:srcRect l="0" r="0" t="0" b="0"/>
          <a:stretch/>
        </p:blipFill>
        <p:spPr>
          <a:xfrm>
            <a:off x="5251450" y="1130300"/>
            <a:ext cx="254000" cy="254000"/>
          </a:xfrm>
          <a:prstGeom prst="rect">
            <a:avLst/>
          </a:prstGeom>
        </p:spPr>
      </p:pic>
      <p:pic>
        <p:nvPicPr>
          <p:cNvPr id="7" name="Image 5" descr="Trust">    </p:cNvPr>
          <p:cNvPicPr>
            <a:picLocks noChangeAspect="1"/>
          </p:cNvPicPr>
          <p:nvPr/>
        </p:nvPicPr>
        <p:blipFill>
          <a:blip r:embed="rId6"/>
          <a:srcRect l="0" r="0" t="0" b="0"/>
          <a:stretch/>
        </p:blipFill>
        <p:spPr>
          <a:xfrm>
            <a:off x="6686550" y="1574800"/>
            <a:ext cx="254000" cy="254000"/>
          </a:xfrm>
          <a:prstGeom prst="rect">
            <a:avLst/>
          </a:prstGeom>
        </p:spPr>
      </p:pic>
      <p:pic>
        <p:nvPicPr>
          <p:cNvPr id="8" name="Image 6" descr="Activity">    </p:cNvPr>
          <p:cNvPicPr>
            <a:picLocks noChangeAspect="1"/>
          </p:cNvPicPr>
          <p:nvPr/>
        </p:nvPicPr>
        <p:blipFill>
          <a:blip r:embed="rId7"/>
          <a:srcRect l="0" r="0" t="0" b="0"/>
          <a:stretch/>
        </p:blipFill>
        <p:spPr>
          <a:xfrm>
            <a:off x="8128000" y="1130300"/>
            <a:ext cx="254000" cy="254000"/>
          </a:xfrm>
          <a:prstGeom prst="rect">
            <a:avLst/>
          </a:prstGeom>
        </p:spPr>
      </p:pic>
      <p:pic>
        <p:nvPicPr>
          <p:cNvPr id="9" name="Image 7" descr="Chart">    </p:cNvPr>
          <p:cNvPicPr>
            <a:picLocks noChangeAspect="1"/>
          </p:cNvPicPr>
          <p:nvPr/>
        </p:nvPicPr>
        <p:blipFill>
          <a:blip r:embed="rId8"/>
          <a:srcRect l="0" r="0" t="0" b="0"/>
          <a:stretch/>
        </p:blipFill>
        <p:spPr>
          <a:xfrm>
            <a:off x="9563100" y="1574800"/>
            <a:ext cx="254000" cy="254000"/>
          </a:xfrm>
          <a:prstGeom prst="rect">
            <a:avLst/>
          </a:prstGeom>
        </p:spPr>
      </p:pic>
      <p:pic>
        <p:nvPicPr>
          <p:cNvPr id="10" name="Image 8" descr="Star">    </p:cNvPr>
          <p:cNvPicPr>
            <a:picLocks noChangeAspect="1"/>
          </p:cNvPicPr>
          <p:nvPr/>
        </p:nvPicPr>
        <p:blipFill>
          <a:blip r:embed="rId9"/>
          <a:srcRect l="0" r="0" t="0" b="0"/>
          <a:stretch/>
        </p:blipFill>
        <p:spPr>
          <a:xfrm>
            <a:off x="10998200" y="1130300"/>
            <a:ext cx="254000" cy="254000"/>
          </a:xfrm>
          <a:prstGeom prst="rect">
            <a:avLst/>
          </a:prstGeom>
        </p:spPr>
      </p:pic>
      <p:sp>
        <p:nvSpPr>
          <p:cNvPr id="11" name="Text 0"/>
          <p:cNvSpPr/>
          <p:nvPr/>
        </p:nvSpPr>
        <p:spPr>
          <a:xfrm>
            <a:off x="812800" y="2284095"/>
            <a:ext cx="10883392" cy="1038860"/>
          </a:xfrm>
          <a:prstGeom prst="rect">
            <a:avLst/>
          </a:prstGeom>
          <a:noFill/>
          <a:ln/>
        </p:spPr>
        <p:txBody>
          <a:bodyPr wrap="square" lIns="0" tIns="0" rIns="0" bIns="0" rtlCol="0" anchor="t">
            <a:normAutofit/>
          </a:bodyPr>
          <a:lstStyle/>
          <a:p>
            <a:pPr algn="l" indent="0" marL="0">
              <a:lnSpc>
                <a:spcPts val="3990"/>
              </a:lnSpc>
              <a:buNone/>
            </a:pPr>
            <a:r>
              <a:rPr lang="en-US" sz="2850" b="1" spc="150" kern="0" dirty="0">
                <a:solidFill>
                  <a:srgbClr val="F2A65A"/>
                </a:solidFill>
                <a:latin typeface="Arial" pitchFamily="34" charset="0"/>
                <a:ea typeface="Arial" pitchFamily="34" charset="-122"/>
                <a:cs typeface="Arial" pitchFamily="34" charset="-120"/>
              </a:rPr>
              <a:t>THE CARE-INTEGRATED CLINICAL TRIALS INITIATIVE</a:t>
            </a:r>
            <a:endParaRPr lang="en-US" sz="2850" dirty="0"/>
          </a:p>
        </p:txBody>
      </p:sp>
      <p:sp>
        <p:nvSpPr>
          <p:cNvPr id="12" name="Text 1"/>
          <p:cNvSpPr/>
          <p:nvPr/>
        </p:nvSpPr>
        <p:spPr>
          <a:xfrm>
            <a:off x="812800" y="3526155"/>
            <a:ext cx="10883392" cy="1561465"/>
          </a:xfrm>
          <a:prstGeom prst="rect">
            <a:avLst/>
          </a:prstGeom>
          <a:noFill/>
          <a:ln/>
        </p:spPr>
        <p:txBody>
          <a:bodyPr wrap="square" lIns="0" tIns="0" rIns="0" bIns="0" rtlCol="0" anchor="t">
            <a:normAutofit/>
          </a:bodyPr>
          <a:lstStyle/>
          <a:p>
            <a:pPr algn="l" indent="0" marL="0">
              <a:lnSpc>
                <a:spcPts val="6048"/>
              </a:lnSpc>
              <a:buNone/>
            </a:pPr>
            <a:r>
              <a:rPr lang="en-US" sz="5600" b="1" dirty="0">
                <a:solidFill>
                  <a:srgbClr val="FAF7F2"/>
                </a:solidFill>
                <a:latin typeface="Georgia" pitchFamily="18" charset="0"/>
                <a:ea typeface="Georgia" pitchFamily="18" charset="-122"/>
                <a:cs typeface="Georgia" pitchFamily="18" charset="-120"/>
              </a:rPr>
              <a:t>From first question</a:t>
            </a:r>
            <a:endParaRPr lang="en-US" sz="5600" dirty="0"/>
          </a:p>
          <a:p>
            <a:pPr algn="l" indent="0" marL="0">
              <a:lnSpc>
                <a:spcPts val="6048"/>
              </a:lnSpc>
              <a:buNone/>
            </a:pPr>
            <a:r>
              <a:rPr lang="en-US" sz="5600" b="1" dirty="0">
                <a:solidFill>
                  <a:srgbClr val="FAF7F2"/>
                </a:solidFill>
                <a:latin typeface="Georgia" pitchFamily="18" charset="0"/>
                <a:ea typeface="Georgia" pitchFamily="18" charset="-122"/>
                <a:cs typeface="Georgia" pitchFamily="18" charset="-120"/>
              </a:rPr>
              <a:t>to outcome label</a:t>
            </a:r>
            <a:endParaRPr lang="en-US" sz="5600" dirty="0"/>
          </a:p>
        </p:txBody>
      </p:sp>
      <p:sp>
        <p:nvSpPr>
          <p:cNvPr id="13" name="Text 2"/>
          <p:cNvSpPr/>
          <p:nvPr/>
        </p:nvSpPr>
        <p:spPr>
          <a:xfrm>
            <a:off x="812800" y="5290820"/>
            <a:ext cx="9810750" cy="779780"/>
          </a:xfrm>
          <a:prstGeom prst="rect">
            <a:avLst/>
          </a:prstGeom>
          <a:noFill/>
          <a:ln/>
        </p:spPr>
        <p:txBody>
          <a:bodyPr wrap="square" lIns="0" tIns="0" rIns="0" bIns="0" rtlCol="0" anchor="t">
            <a:normAutofit/>
          </a:bodyPr>
          <a:lstStyle/>
          <a:p>
            <a:pPr algn="l" indent="0" marL="0">
              <a:lnSpc>
                <a:spcPts val="2970"/>
              </a:lnSpc>
              <a:buNone/>
            </a:pPr>
            <a:r>
              <a:rPr lang="en-US" sz="2200" dirty="0">
                <a:solidFill>
                  <a:srgbClr val="C9D1E3"/>
                </a:solidFill>
                <a:latin typeface="Arial" pitchFamily="34" charset="0"/>
                <a:ea typeface="Arial" pitchFamily="34" charset="-122"/>
                <a:cs typeface="Arial" pitchFamily="34" charset="-120"/>
              </a:rPr>
              <a:t>What a patient experiences when seeking an experimental treatment, and how every result helps the next person.</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800" y="812800"/>
            <a:ext cx="10883392" cy="248682"/>
          </a:xfrm>
          <a:prstGeom prst="rect">
            <a:avLst/>
          </a:prstGeom>
          <a:noFill/>
          <a:ln/>
        </p:spPr>
        <p:txBody>
          <a:bodyPr wrap="square" lIns="0" tIns="0" rIns="0" bIns="0" rtlCol="0" anchor="t">
            <a:normAutofit/>
          </a:bodyPr>
          <a:lstStyle/>
          <a:p>
            <a:pPr algn="l" indent="0" marL="0">
              <a:lnSpc>
                <a:spcPts val="1770"/>
              </a:lnSpc>
              <a:buNone/>
            </a:pPr>
            <a:r>
              <a:rPr lang="en-US" sz="1264" b="1" spc="150" kern="0" dirty="0">
                <a:solidFill>
                  <a:srgbClr val="5B47D6"/>
                </a:solidFill>
                <a:latin typeface="Arial" pitchFamily="34" charset="0"/>
                <a:ea typeface="Arial" pitchFamily="34" charset="-122"/>
                <a:cs typeface="Arial" pitchFamily="34" charset="-120"/>
              </a:rPr>
              <a:t>MEET MARGARET</a:t>
            </a:r>
            <a:endParaRPr lang="en-US" sz="1264" dirty="0"/>
          </a:p>
        </p:txBody>
      </p:sp>
      <p:sp>
        <p:nvSpPr>
          <p:cNvPr id="3" name="Shape 1"/>
          <p:cNvSpPr/>
          <p:nvPr/>
        </p:nvSpPr>
        <p:spPr>
          <a:xfrm>
            <a:off x="815975" y="1293257"/>
            <a:ext cx="5459730" cy="4545568"/>
          </a:xfrm>
          <a:prstGeom prst="roundRect">
            <a:avLst>
              <a:gd name="adj" fmla="val 3283"/>
            </a:avLst>
          </a:prstGeom>
          <a:solidFill>
            <a:srgbClr val="FFFDF9"/>
          </a:solidFill>
          <a:ln w="6350">
            <a:solidFill>
              <a:srgbClr val="E4DED3"/>
            </a:solidFill>
            <a:prstDash val="solid"/>
          </a:ln>
        </p:spPr>
      </p:sp>
      <p:pic>
        <p:nvPicPr>
          <p:cNvPr id="4" name="Image 0" descr="Illustration of Margaret">    </p:cNvPr>
          <p:cNvPicPr>
            <a:picLocks noChangeAspect="1"/>
          </p:cNvPicPr>
          <p:nvPr/>
        </p:nvPicPr>
        <p:blipFill>
          <a:blip r:embed="rId1"/>
          <a:srcRect l="0" r="0" t="0" b="0"/>
          <a:stretch/>
        </p:blipFill>
        <p:spPr>
          <a:xfrm>
            <a:off x="1097280" y="1574562"/>
            <a:ext cx="1397000" cy="1397000"/>
          </a:xfrm>
          <a:prstGeom prst="rect">
            <a:avLst/>
          </a:prstGeom>
        </p:spPr>
      </p:pic>
      <p:sp>
        <p:nvSpPr>
          <p:cNvPr id="5" name="Text 2"/>
          <p:cNvSpPr/>
          <p:nvPr/>
        </p:nvSpPr>
        <p:spPr>
          <a:xfrm>
            <a:off x="2697480" y="2043192"/>
            <a:ext cx="3395828"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F2A44"/>
                </a:solidFill>
                <a:latin typeface="Georgia" pitchFamily="18" charset="0"/>
                <a:ea typeface="Georgia" pitchFamily="18" charset="-122"/>
                <a:cs typeface="Georgia" pitchFamily="18" charset="-120"/>
              </a:rPr>
              <a:t>Margaret, 68</a:t>
            </a:r>
            <a:endParaRPr lang="en-US" sz="3200" dirty="0"/>
          </a:p>
        </p:txBody>
      </p:sp>
      <p:sp>
        <p:nvSpPr>
          <p:cNvPr id="6" name="Text 3"/>
          <p:cNvSpPr/>
          <p:nvPr/>
        </p:nvSpPr>
        <p:spPr>
          <a:xfrm>
            <a:off x="1097280" y="3136662"/>
            <a:ext cx="5044034" cy="2446258"/>
          </a:xfrm>
          <a:prstGeom prst="rect">
            <a:avLst/>
          </a:prstGeom>
          <a:noFill/>
          <a:ln/>
        </p:spPr>
        <p:txBody>
          <a:bodyPr wrap="square" lIns="0" tIns="0" rIns="0" bIns="0" rtlCol="0" anchor="t">
            <a:normAutofit/>
          </a:bodyPr>
          <a:lstStyle/>
          <a:p>
            <a:pPr algn="l" indent="0" marL="0">
              <a:lnSpc>
                <a:spcPts val="3811"/>
              </a:lnSpc>
              <a:buNone/>
            </a:pPr>
            <a:r>
              <a:rPr lang="en-US" sz="2823" dirty="0">
                <a:solidFill>
                  <a:srgbClr val="3F4A5E"/>
                </a:solidFill>
                <a:latin typeface="Arial" pitchFamily="34" charset="0"/>
                <a:ea typeface="Arial" pitchFamily="34" charset="-122"/>
                <a:cs typeface="Arial" pitchFamily="34" charset="-120"/>
              </a:rPr>
              <a:t>Margaret has Alzheimer's disease. There </a:t>
            </a:r>
            <a:r>
              <a:rPr lang="en-US" sz="2823" b="1" dirty="0">
                <a:solidFill>
                  <a:srgbClr val="3F4A5E"/>
                </a:solidFill>
                <a:latin typeface="Arial" pitchFamily="34" charset="0"/>
                <a:ea typeface="Arial" pitchFamily="34" charset="-122"/>
                <a:cs typeface="Arial" pitchFamily="34" charset="-120"/>
              </a:rPr>
              <a:t>573 potentially effective drugs</a:t>
            </a:r>
            <a:r>
              <a:rPr lang="en-US" sz="2823" dirty="0">
                <a:solidFill>
                  <a:srgbClr val="3F4A5E"/>
                </a:solidFill>
                <a:latin typeface="Arial" pitchFamily="34" charset="0"/>
                <a:ea typeface="Arial" pitchFamily="34" charset="-122"/>
                <a:cs typeface="Arial" pitchFamily="34" charset="-120"/>
              </a:rPr>
              <a:t> for Alzheimer's. </a:t>
            </a:r>
            <a:r>
              <a:rPr lang="en-US" sz="2823" b="1" dirty="0">
                <a:solidFill>
                  <a:srgbClr val="3F4A5E"/>
                </a:solidFill>
                <a:latin typeface="Arial" pitchFamily="34" charset="0"/>
                <a:ea typeface="Arial" pitchFamily="34" charset="-122"/>
                <a:cs typeface="Arial" pitchFamily="34" charset="-120"/>
              </a:rPr>
              <a:t>She cannot get any of them.</a:t>
            </a:r>
            <a:endParaRPr lang="en-US" sz="2823" dirty="0"/>
          </a:p>
        </p:txBody>
      </p:sp>
      <p:sp>
        <p:nvSpPr>
          <p:cNvPr id="7" name="Shape 4"/>
          <p:cNvSpPr/>
          <p:nvPr/>
        </p:nvSpPr>
        <p:spPr>
          <a:xfrm>
            <a:off x="6485255" y="1293257"/>
            <a:ext cx="4890770" cy="2193369"/>
          </a:xfrm>
          <a:prstGeom prst="roundRect">
            <a:avLst>
              <a:gd name="adj" fmla="val 6803"/>
            </a:avLst>
          </a:prstGeom>
          <a:solidFill>
            <a:srgbClr val="FFFDF9"/>
          </a:solidFill>
          <a:ln w="6350">
            <a:solidFill>
              <a:srgbClr val="E8B98C"/>
            </a:solidFill>
            <a:prstDash val="solid"/>
          </a:ln>
        </p:spPr>
      </p:sp>
      <p:sp>
        <p:nvSpPr>
          <p:cNvPr id="8" name="Shape 5"/>
          <p:cNvSpPr/>
          <p:nvPr/>
        </p:nvSpPr>
        <p:spPr>
          <a:xfrm>
            <a:off x="6715760" y="1523762"/>
            <a:ext cx="508000" cy="508000"/>
          </a:xfrm>
          <a:prstGeom prst="roundRect">
            <a:avLst>
              <a:gd name="adj" fmla="val 50000"/>
            </a:avLst>
          </a:prstGeom>
          <a:solidFill>
            <a:srgbClr val="FCE9D6"/>
          </a:solidFill>
          <a:ln/>
        </p:spPr>
      </p:sp>
      <p:pic>
        <p:nvPicPr>
          <p:cNvPr id="9" name="Image 1" descr="Lock">    </p:cNvPr>
          <p:cNvPicPr>
            <a:picLocks noChangeAspect="1"/>
          </p:cNvPicPr>
          <p:nvPr/>
        </p:nvPicPr>
        <p:blipFill>
          <a:blip r:embed="rId2"/>
          <a:srcRect l="0" r="0" t="0" b="0"/>
          <a:stretch/>
        </p:blipFill>
        <p:spPr>
          <a:xfrm>
            <a:off x="6839585" y="1647587"/>
            <a:ext cx="260350" cy="260350"/>
          </a:xfrm>
          <a:prstGeom prst="rect">
            <a:avLst/>
          </a:prstGeom>
        </p:spPr>
      </p:pic>
      <p:sp>
        <p:nvSpPr>
          <p:cNvPr id="10" name="Text 6"/>
          <p:cNvSpPr/>
          <p:nvPr/>
        </p:nvSpPr>
        <p:spPr>
          <a:xfrm>
            <a:off x="7350760" y="1523762"/>
            <a:ext cx="3908603" cy="248285"/>
          </a:xfrm>
          <a:prstGeom prst="rect">
            <a:avLst/>
          </a:prstGeom>
          <a:noFill/>
          <a:ln/>
        </p:spPr>
        <p:txBody>
          <a:bodyPr wrap="square" lIns="0" tIns="0" rIns="0" bIns="0" rtlCol="0" anchor="t">
            <a:normAutofit/>
          </a:bodyPr>
          <a:lstStyle/>
          <a:p>
            <a:pPr algn="l" indent="0" marL="0">
              <a:lnSpc>
                <a:spcPts val="1755"/>
              </a:lnSpc>
              <a:buNone/>
            </a:pPr>
            <a:r>
              <a:rPr lang="en-US" sz="1300" b="1" spc="100" kern="0" dirty="0">
                <a:solidFill>
                  <a:srgbClr val="A64E16"/>
                </a:solidFill>
                <a:latin typeface="Arial" pitchFamily="34" charset="0"/>
                <a:ea typeface="Arial" pitchFamily="34" charset="-122"/>
                <a:cs typeface="Arial" pitchFamily="34" charset="-120"/>
              </a:rPr>
              <a:t>TODAY</a:t>
            </a:r>
            <a:endParaRPr lang="en-US" sz="1300" dirty="0"/>
          </a:p>
        </p:txBody>
      </p:sp>
      <p:sp>
        <p:nvSpPr>
          <p:cNvPr id="11" name="Text 7"/>
          <p:cNvSpPr/>
          <p:nvPr/>
        </p:nvSpPr>
        <p:spPr>
          <a:xfrm>
            <a:off x="7350760" y="1772047"/>
            <a:ext cx="3908603" cy="361315"/>
          </a:xfrm>
          <a:prstGeom prst="rect">
            <a:avLst/>
          </a:prstGeom>
          <a:noFill/>
          <a:ln/>
        </p:spPr>
        <p:txBody>
          <a:bodyPr wrap="square" lIns="0" tIns="0" rIns="0" bIns="0" rtlCol="0" anchor="t">
            <a:normAutofit/>
          </a:bodyPr>
          <a:lstStyle/>
          <a:p>
            <a:pPr algn="l" indent="0" marL="0">
              <a:lnSpc>
                <a:spcPts val="2645"/>
              </a:lnSpc>
              <a:buNone/>
            </a:pPr>
            <a:r>
              <a:rPr lang="en-US" sz="2300" b="1" dirty="0">
                <a:solidFill>
                  <a:srgbClr val="1F2A44"/>
                </a:solidFill>
                <a:latin typeface="Georgia" pitchFamily="18" charset="0"/>
                <a:ea typeface="Georgia" pitchFamily="18" charset="-122"/>
                <a:cs typeface="Georgia" pitchFamily="18" charset="-120"/>
              </a:rPr>
              <a:t>No options</a:t>
            </a:r>
            <a:endParaRPr lang="en-US" sz="2300" dirty="0"/>
          </a:p>
        </p:txBody>
      </p:sp>
      <p:sp>
        <p:nvSpPr>
          <p:cNvPr id="12" name="Text 8"/>
          <p:cNvSpPr/>
          <p:nvPr/>
        </p:nvSpPr>
        <p:spPr>
          <a:xfrm>
            <a:off x="6715760" y="2209562"/>
            <a:ext cx="4562653" cy="1002665"/>
          </a:xfrm>
          <a:prstGeom prst="rect">
            <a:avLst/>
          </a:prstGeom>
          <a:noFill/>
          <a:ln/>
        </p:spPr>
        <p:txBody>
          <a:bodyPr wrap="square" lIns="0" tIns="0" rIns="0" bIns="0" rtlCol="0" anchor="t">
            <a:normAutofit/>
          </a:bodyPr>
          <a:lstStyle/>
          <a:p>
            <a:pPr algn="l" indent="0" marL="0">
              <a:lnSpc>
                <a:spcPts val="2565"/>
              </a:lnSpc>
              <a:buNone/>
            </a:pPr>
            <a:r>
              <a:rPr lang="en-US" sz="1900" dirty="0">
                <a:solidFill>
                  <a:srgbClr val="3F4A5E"/>
                </a:solidFill>
                <a:latin typeface="Arial" pitchFamily="34" charset="0"/>
                <a:ea typeface="Arial" pitchFamily="34" charset="-122"/>
                <a:cs typeface="Arial" pitchFamily="34" charset="-120"/>
              </a:rPr>
              <a:t>No approved drug has helped her. No trial is open near her. Right-to-try covers only the dying.</a:t>
            </a:r>
            <a:endParaRPr lang="en-US" sz="1900" dirty="0"/>
          </a:p>
        </p:txBody>
      </p:sp>
      <p:sp>
        <p:nvSpPr>
          <p:cNvPr id="13" name="Shape 9"/>
          <p:cNvSpPr/>
          <p:nvPr/>
        </p:nvSpPr>
        <p:spPr>
          <a:xfrm>
            <a:off x="6485255" y="3645377"/>
            <a:ext cx="4890770" cy="2193449"/>
          </a:xfrm>
          <a:prstGeom prst="roundRect">
            <a:avLst>
              <a:gd name="adj" fmla="val 6803"/>
            </a:avLst>
          </a:prstGeom>
          <a:solidFill>
            <a:srgbClr val="ECE9FB"/>
          </a:solidFill>
          <a:ln w="6350">
            <a:solidFill>
              <a:srgbClr val="C9C0F2"/>
            </a:solidFill>
            <a:prstDash val="solid"/>
          </a:ln>
        </p:spPr>
      </p:sp>
      <p:sp>
        <p:nvSpPr>
          <p:cNvPr id="14" name="Shape 10"/>
          <p:cNvSpPr/>
          <p:nvPr/>
        </p:nvSpPr>
        <p:spPr>
          <a:xfrm>
            <a:off x="6715760" y="3875881"/>
            <a:ext cx="508000" cy="508000"/>
          </a:xfrm>
          <a:prstGeom prst="roundRect">
            <a:avLst>
              <a:gd name="adj" fmla="val 50000"/>
            </a:avLst>
          </a:prstGeom>
          <a:solidFill>
            <a:srgbClr val="FFFDF9"/>
          </a:solidFill>
          <a:ln/>
        </p:spPr>
      </p:sp>
      <p:pic>
        <p:nvPicPr>
          <p:cNvPr id="15" name="Image 2" descr="Key">    </p:cNvPr>
          <p:cNvPicPr>
            <a:picLocks noChangeAspect="1"/>
          </p:cNvPicPr>
          <p:nvPr/>
        </p:nvPicPr>
        <p:blipFill>
          <a:blip r:embed="rId3"/>
          <a:srcRect l="0" r="0" t="0" b="0"/>
          <a:stretch/>
        </p:blipFill>
        <p:spPr>
          <a:xfrm>
            <a:off x="6839585" y="3999706"/>
            <a:ext cx="260350" cy="260350"/>
          </a:xfrm>
          <a:prstGeom prst="rect">
            <a:avLst/>
          </a:prstGeom>
        </p:spPr>
      </p:pic>
      <p:sp>
        <p:nvSpPr>
          <p:cNvPr id="16" name="Text 11"/>
          <p:cNvSpPr/>
          <p:nvPr/>
        </p:nvSpPr>
        <p:spPr>
          <a:xfrm>
            <a:off x="7350760" y="3753327"/>
            <a:ext cx="3908603" cy="248285"/>
          </a:xfrm>
          <a:prstGeom prst="rect">
            <a:avLst/>
          </a:prstGeom>
          <a:noFill/>
          <a:ln/>
        </p:spPr>
        <p:txBody>
          <a:bodyPr wrap="square" lIns="0" tIns="0" rIns="0" bIns="0" rtlCol="0" anchor="t">
            <a:normAutofit/>
          </a:bodyPr>
          <a:lstStyle/>
          <a:p>
            <a:pPr algn="l" indent="0" marL="0">
              <a:lnSpc>
                <a:spcPts val="1755"/>
              </a:lnSpc>
              <a:buNone/>
            </a:pPr>
            <a:r>
              <a:rPr lang="en-US" sz="1300" b="1" spc="100" kern="0" dirty="0">
                <a:solidFill>
                  <a:srgbClr val="5B47D6"/>
                </a:solidFill>
                <a:latin typeface="Arial" pitchFamily="34" charset="0"/>
                <a:ea typeface="Arial" pitchFamily="34" charset="-122"/>
                <a:cs typeface="Arial" pitchFamily="34" charset="-120"/>
              </a:rPr>
              <a:t>WITH CARE-INTEGRATED TRIALS</a:t>
            </a:r>
            <a:endParaRPr lang="en-US" sz="1300" dirty="0"/>
          </a:p>
        </p:txBody>
      </p:sp>
      <p:sp>
        <p:nvSpPr>
          <p:cNvPr id="17" name="Text 12"/>
          <p:cNvSpPr/>
          <p:nvPr/>
        </p:nvSpPr>
        <p:spPr>
          <a:xfrm>
            <a:off x="7350760" y="4001612"/>
            <a:ext cx="3908603" cy="697230"/>
          </a:xfrm>
          <a:prstGeom prst="rect">
            <a:avLst/>
          </a:prstGeom>
          <a:noFill/>
          <a:ln/>
        </p:spPr>
        <p:txBody>
          <a:bodyPr wrap="square" lIns="0" tIns="0" rIns="0" bIns="0" rtlCol="0" anchor="t">
            <a:normAutofit/>
          </a:bodyPr>
          <a:lstStyle/>
          <a:p>
            <a:pPr algn="l" indent="0" marL="0">
              <a:lnSpc>
                <a:spcPts val="2645"/>
              </a:lnSpc>
              <a:buNone/>
            </a:pPr>
            <a:r>
              <a:rPr lang="en-US" sz="2300" b="1" dirty="0">
                <a:solidFill>
                  <a:srgbClr val="1F2A44"/>
                </a:solidFill>
                <a:latin typeface="Georgia" pitchFamily="18" charset="0"/>
                <a:ea typeface="Georgia" pitchFamily="18" charset="-122"/>
                <a:cs typeface="Georgia" pitchFamily="18" charset="-120"/>
              </a:rPr>
              <a:t>Treatment through her own doctor</a:t>
            </a:r>
            <a:endParaRPr lang="en-US" sz="2300" dirty="0"/>
          </a:p>
        </p:txBody>
      </p:sp>
      <p:sp>
        <p:nvSpPr>
          <p:cNvPr id="18" name="Text 13"/>
          <p:cNvSpPr/>
          <p:nvPr/>
        </p:nvSpPr>
        <p:spPr>
          <a:xfrm>
            <a:off x="6715760" y="4652487"/>
            <a:ext cx="4562653" cy="981234"/>
          </a:xfrm>
          <a:prstGeom prst="rect">
            <a:avLst/>
          </a:prstGeom>
          <a:noFill/>
          <a:ln/>
        </p:spPr>
        <p:txBody>
          <a:bodyPr wrap="square" lIns="0" tIns="0" rIns="0" bIns="0" rtlCol="0" anchor="t">
            <a:normAutofit/>
          </a:bodyPr>
          <a:lstStyle/>
          <a:p>
            <a:pPr algn="l" indent="0" marL="0">
              <a:lnSpc>
                <a:spcPts val="2501"/>
              </a:lnSpc>
              <a:buNone/>
            </a:pPr>
            <a:r>
              <a:rPr lang="en-US" sz="1852" dirty="0">
                <a:solidFill>
                  <a:srgbClr val="3F4A5E"/>
                </a:solidFill>
                <a:latin typeface="Arial" pitchFamily="34" charset="0"/>
                <a:ea typeface="Arial" pitchFamily="34" charset="-122"/>
                <a:cs typeface="Arial" pitchFamily="34" charset="-120"/>
              </a:rPr>
              <a:t>She can try the most promising treatments at a local clinic, after independent board review, with her consent.</a:t>
            </a:r>
            <a:endParaRPr lang="en-US" sz="1852" dirty="0"/>
          </a:p>
        </p:txBody>
      </p:sp>
      <p:sp>
        <p:nvSpPr>
          <p:cNvPr id="19" name="Text 14"/>
          <p:cNvSpPr/>
          <p:nvPr/>
        </p:nvSpPr>
        <p:spPr>
          <a:xfrm>
            <a:off x="812800" y="6238241"/>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26A7C"/>
                </a:solidFill>
                <a:latin typeface="Arial" pitchFamily="34" charset="0"/>
                <a:ea typeface="Arial" pitchFamily="34" charset="-122"/>
                <a:cs typeface="Arial" pitchFamily="34" charset="-120"/>
              </a:rPr>
              <a:t>Source: Frontiers in Pharmacology, 2023, ten-year review of drug repurposing for Alzheimer's. Margaret is a composite patient.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F2A44"/>
        </a:solidFill>
      </p:bgPr>
    </p:bg>
    <p:spTree>
      <p:nvGrpSpPr>
        <p:cNvPr id="1" name=""/>
        <p:cNvGrpSpPr/>
        <p:nvPr/>
      </p:nvGrpSpPr>
      <p:grpSpPr>
        <a:xfrm>
          <a:off x="0" y="0"/>
          <a:ext cx="0" cy="0"/>
          <a:chOff x="0" y="0"/>
          <a:chExt cx="0" cy="0"/>
        </a:xfrm>
      </p:grpSpPr>
      <p:sp>
        <p:nvSpPr>
          <p:cNvPr id="2" name="Text 0"/>
          <p:cNvSpPr/>
          <p:nvPr/>
        </p:nvSpPr>
        <p:spPr>
          <a:xfrm>
            <a:off x="812800" y="8128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FAF7F2"/>
                </a:solidFill>
                <a:latin typeface="Georgia" pitchFamily="18" charset="0"/>
                <a:ea typeface="Georgia" pitchFamily="18" charset="-122"/>
                <a:cs typeface="Georgia" pitchFamily="18" charset="-120"/>
              </a:rPr>
              <a:t>Millions of Patients Are Unnecessarily Suffering</a:t>
            </a:r>
            <a:endParaRPr lang="en-US" sz="3200" dirty="0"/>
          </a:p>
        </p:txBody>
      </p:sp>
      <p:pic>
        <p:nvPicPr>
          <p:cNvPr id="3" name="Image 0" descr="preencoded.png">    </p:cNvPr>
          <p:cNvPicPr>
            <a:picLocks noChangeAspect="1"/>
          </p:cNvPicPr>
          <p:nvPr/>
        </p:nvPicPr>
        <p:blipFill>
          <a:blip r:embed="rId1"/>
          <a:srcRect l="0" r="0" t="-65" b="-65"/>
          <a:stretch/>
        </p:blipFill>
        <p:spPr>
          <a:xfrm>
            <a:off x="812800" y="1534161"/>
            <a:ext cx="10566400" cy="609600"/>
          </a:xfrm>
          <a:prstGeom prst="rect">
            <a:avLst/>
          </a:prstGeom>
        </p:spPr>
      </p:pic>
      <p:sp>
        <p:nvSpPr>
          <p:cNvPr id="4" name="Shape 1"/>
          <p:cNvSpPr/>
          <p:nvPr/>
        </p:nvSpPr>
        <p:spPr>
          <a:xfrm>
            <a:off x="812800" y="2416811"/>
            <a:ext cx="2413000" cy="0"/>
          </a:xfrm>
          <a:prstGeom prst="line">
            <a:avLst/>
          </a:prstGeom>
          <a:noFill/>
          <a:ln w="38100">
            <a:solidFill>
              <a:srgbClr val="F2A65A"/>
            </a:solidFill>
            <a:prstDash val="solid"/>
          </a:ln>
        </p:spPr>
      </p:sp>
      <p:sp>
        <p:nvSpPr>
          <p:cNvPr id="5" name="Text 2"/>
          <p:cNvSpPr/>
          <p:nvPr/>
        </p:nvSpPr>
        <p:spPr>
          <a:xfrm>
            <a:off x="812800" y="2611120"/>
            <a:ext cx="2485390" cy="598805"/>
          </a:xfrm>
          <a:prstGeom prst="rect">
            <a:avLst/>
          </a:prstGeom>
          <a:noFill/>
          <a:ln/>
        </p:spPr>
        <p:txBody>
          <a:bodyPr wrap="square" lIns="0" tIns="0" rIns="0" bIns="0" rtlCol="0" anchor="t">
            <a:normAutofit/>
          </a:bodyPr>
          <a:lstStyle/>
          <a:p>
            <a:pPr algn="l" indent="0" marL="0">
              <a:lnSpc>
                <a:spcPts val="4515"/>
              </a:lnSpc>
              <a:buNone/>
            </a:pPr>
            <a:r>
              <a:rPr lang="en-US" sz="4300" b="1" dirty="0">
                <a:solidFill>
                  <a:srgbClr val="F2A65A"/>
                </a:solidFill>
                <a:latin typeface="Georgia" pitchFamily="18" charset="0"/>
                <a:ea typeface="Georgia" pitchFamily="18" charset="-122"/>
                <a:cs typeface="Georgia" pitchFamily="18" charset="-120"/>
              </a:rPr>
              <a:t>7.4M</a:t>
            </a:r>
            <a:endParaRPr lang="en-US" sz="4300" dirty="0"/>
          </a:p>
        </p:txBody>
      </p:sp>
      <p:sp>
        <p:nvSpPr>
          <p:cNvPr id="6" name="Text 3"/>
          <p:cNvSpPr/>
          <p:nvPr/>
        </p:nvSpPr>
        <p:spPr>
          <a:xfrm>
            <a:off x="812800" y="3260725"/>
            <a:ext cx="2485390" cy="1771650"/>
          </a:xfrm>
          <a:prstGeom prst="rect">
            <a:avLst/>
          </a:prstGeom>
          <a:noFill/>
          <a:ln/>
        </p:spPr>
        <p:txBody>
          <a:bodyPr wrap="square" lIns="0" tIns="0" rIns="0" bIns="0" rtlCol="0" anchor="t">
            <a:normAutofit/>
          </a:bodyPr>
          <a:lstStyle/>
          <a:p>
            <a:pPr algn="l" indent="0" marL="0">
              <a:lnSpc>
                <a:spcPts val="3438"/>
              </a:lnSpc>
              <a:buNone/>
            </a:pPr>
            <a:r>
              <a:rPr lang="en-US" sz="2750" dirty="0">
                <a:solidFill>
                  <a:srgbClr val="DCE2EE"/>
                </a:solidFill>
                <a:latin typeface="Arial" pitchFamily="34" charset="0"/>
                <a:ea typeface="Arial" pitchFamily="34" charset="-122"/>
                <a:cs typeface="Arial" pitchFamily="34" charset="-120"/>
              </a:rPr>
              <a:t>Americans Suffering from Alzheimer's Disease</a:t>
            </a:r>
            <a:endParaRPr lang="en-US" sz="2750" dirty="0"/>
          </a:p>
        </p:txBody>
      </p:sp>
      <p:sp>
        <p:nvSpPr>
          <p:cNvPr id="7" name="Shape 4"/>
          <p:cNvSpPr/>
          <p:nvPr/>
        </p:nvSpPr>
        <p:spPr>
          <a:xfrm>
            <a:off x="3530600" y="2416811"/>
            <a:ext cx="2413000" cy="0"/>
          </a:xfrm>
          <a:prstGeom prst="line">
            <a:avLst/>
          </a:prstGeom>
          <a:noFill/>
          <a:ln w="38100">
            <a:solidFill>
              <a:srgbClr val="F2A65A"/>
            </a:solidFill>
            <a:prstDash val="solid"/>
          </a:ln>
        </p:spPr>
      </p:sp>
      <p:sp>
        <p:nvSpPr>
          <p:cNvPr id="8" name="Text 5"/>
          <p:cNvSpPr/>
          <p:nvPr/>
        </p:nvSpPr>
        <p:spPr>
          <a:xfrm>
            <a:off x="3530600" y="2611120"/>
            <a:ext cx="2485390" cy="598805"/>
          </a:xfrm>
          <a:prstGeom prst="rect">
            <a:avLst/>
          </a:prstGeom>
          <a:noFill/>
          <a:ln/>
        </p:spPr>
        <p:txBody>
          <a:bodyPr wrap="square" lIns="0" tIns="0" rIns="0" bIns="0" rtlCol="0" anchor="t">
            <a:normAutofit/>
          </a:bodyPr>
          <a:lstStyle/>
          <a:p>
            <a:pPr algn="l" indent="0" marL="0">
              <a:lnSpc>
                <a:spcPts val="4515"/>
              </a:lnSpc>
              <a:buNone/>
            </a:pPr>
            <a:r>
              <a:rPr lang="en-US" sz="4300" b="1" dirty="0">
                <a:solidFill>
                  <a:srgbClr val="F2A65A"/>
                </a:solidFill>
                <a:latin typeface="Georgia" pitchFamily="18" charset="0"/>
                <a:ea typeface="Georgia" pitchFamily="18" charset="-122"/>
                <a:cs typeface="Georgia" pitchFamily="18" charset="-120"/>
              </a:rPr>
              <a:t>30M</a:t>
            </a:r>
            <a:endParaRPr lang="en-US" sz="4300" dirty="0"/>
          </a:p>
        </p:txBody>
      </p:sp>
      <p:sp>
        <p:nvSpPr>
          <p:cNvPr id="9" name="Text 6"/>
          <p:cNvSpPr/>
          <p:nvPr/>
        </p:nvSpPr>
        <p:spPr>
          <a:xfrm>
            <a:off x="3530600" y="3260725"/>
            <a:ext cx="2485390" cy="850900"/>
          </a:xfrm>
          <a:prstGeom prst="rect">
            <a:avLst/>
          </a:prstGeom>
          <a:noFill/>
          <a:ln/>
        </p:spPr>
        <p:txBody>
          <a:bodyPr wrap="square" lIns="0" tIns="0" rIns="0" bIns="0" rtlCol="0" anchor="t">
            <a:normAutofit/>
          </a:bodyPr>
          <a:lstStyle/>
          <a:p>
            <a:pPr algn="l" indent="0" marL="0">
              <a:lnSpc>
                <a:spcPts val="3250"/>
              </a:lnSpc>
              <a:buNone/>
            </a:pPr>
            <a:r>
              <a:rPr lang="en-US" sz="2600" dirty="0">
                <a:solidFill>
                  <a:srgbClr val="DCE2EE"/>
                </a:solidFill>
                <a:latin typeface="Arial" pitchFamily="34" charset="0"/>
                <a:ea typeface="Arial" pitchFamily="34" charset="-122"/>
                <a:cs typeface="Arial" pitchFamily="34" charset="-120"/>
              </a:rPr>
              <a:t>Americans with a rare disease</a:t>
            </a:r>
            <a:endParaRPr lang="en-US" sz="2600" dirty="0"/>
          </a:p>
        </p:txBody>
      </p:sp>
      <p:sp>
        <p:nvSpPr>
          <p:cNvPr id="10" name="Shape 7"/>
          <p:cNvSpPr/>
          <p:nvPr/>
        </p:nvSpPr>
        <p:spPr>
          <a:xfrm>
            <a:off x="6248400" y="2416811"/>
            <a:ext cx="2413000" cy="0"/>
          </a:xfrm>
          <a:prstGeom prst="line">
            <a:avLst/>
          </a:prstGeom>
          <a:noFill/>
          <a:ln w="38100">
            <a:solidFill>
              <a:srgbClr val="F2A65A"/>
            </a:solidFill>
            <a:prstDash val="solid"/>
          </a:ln>
        </p:spPr>
      </p:sp>
      <p:sp>
        <p:nvSpPr>
          <p:cNvPr id="11" name="Text 8"/>
          <p:cNvSpPr/>
          <p:nvPr/>
        </p:nvSpPr>
        <p:spPr>
          <a:xfrm>
            <a:off x="6248400" y="2611120"/>
            <a:ext cx="2485390" cy="598805"/>
          </a:xfrm>
          <a:prstGeom prst="rect">
            <a:avLst/>
          </a:prstGeom>
          <a:noFill/>
          <a:ln/>
        </p:spPr>
        <p:txBody>
          <a:bodyPr wrap="square" lIns="0" tIns="0" rIns="0" bIns="0" rtlCol="0" anchor="t">
            <a:normAutofit/>
          </a:bodyPr>
          <a:lstStyle/>
          <a:p>
            <a:pPr algn="l" indent="0" marL="0">
              <a:lnSpc>
                <a:spcPts val="4515"/>
              </a:lnSpc>
              <a:buNone/>
            </a:pPr>
            <a:r>
              <a:rPr lang="en-US" sz="4300" b="1" dirty="0">
                <a:solidFill>
                  <a:srgbClr val="F2A65A"/>
                </a:solidFill>
                <a:latin typeface="Georgia" pitchFamily="18" charset="0"/>
                <a:ea typeface="Georgia" pitchFamily="18" charset="-122"/>
                <a:cs typeface="Georgia" pitchFamily="18" charset="-120"/>
              </a:rPr>
              <a:t>2.1M</a:t>
            </a:r>
            <a:endParaRPr lang="en-US" sz="4300" dirty="0"/>
          </a:p>
        </p:txBody>
      </p:sp>
      <p:sp>
        <p:nvSpPr>
          <p:cNvPr id="12" name="Text 9"/>
          <p:cNvSpPr/>
          <p:nvPr/>
        </p:nvSpPr>
        <p:spPr>
          <a:xfrm>
            <a:off x="6248400" y="3260725"/>
            <a:ext cx="2485390" cy="1335088"/>
          </a:xfrm>
          <a:prstGeom prst="rect">
            <a:avLst/>
          </a:prstGeom>
          <a:noFill/>
          <a:ln/>
        </p:spPr>
        <p:txBody>
          <a:bodyPr wrap="square" lIns="0" tIns="0" rIns="0" bIns="0" rtlCol="0" anchor="t">
            <a:normAutofit/>
          </a:bodyPr>
          <a:lstStyle/>
          <a:p>
            <a:pPr algn="l" indent="0" marL="0">
              <a:lnSpc>
                <a:spcPts val="3438"/>
              </a:lnSpc>
              <a:buNone/>
            </a:pPr>
            <a:r>
              <a:rPr lang="en-US" sz="2750" dirty="0">
                <a:solidFill>
                  <a:srgbClr val="DCE2EE"/>
                </a:solidFill>
                <a:latin typeface="Arial" pitchFamily="34" charset="0"/>
                <a:ea typeface="Arial" pitchFamily="34" charset="-122"/>
                <a:cs typeface="Arial" pitchFamily="34" charset="-120"/>
              </a:rPr>
              <a:t>new cancer cases every year</a:t>
            </a:r>
            <a:endParaRPr lang="en-US" sz="2750" dirty="0"/>
          </a:p>
        </p:txBody>
      </p:sp>
      <p:sp>
        <p:nvSpPr>
          <p:cNvPr id="13" name="Shape 10"/>
          <p:cNvSpPr/>
          <p:nvPr/>
        </p:nvSpPr>
        <p:spPr>
          <a:xfrm>
            <a:off x="8966200" y="2416811"/>
            <a:ext cx="2413000" cy="0"/>
          </a:xfrm>
          <a:prstGeom prst="line">
            <a:avLst/>
          </a:prstGeom>
          <a:noFill/>
          <a:ln w="38100">
            <a:solidFill>
              <a:srgbClr val="F2A65A"/>
            </a:solidFill>
            <a:prstDash val="solid"/>
          </a:ln>
        </p:spPr>
      </p:sp>
      <p:sp>
        <p:nvSpPr>
          <p:cNvPr id="14" name="Text 11"/>
          <p:cNvSpPr/>
          <p:nvPr/>
        </p:nvSpPr>
        <p:spPr>
          <a:xfrm>
            <a:off x="8966200" y="2611120"/>
            <a:ext cx="2485390" cy="598805"/>
          </a:xfrm>
          <a:prstGeom prst="rect">
            <a:avLst/>
          </a:prstGeom>
          <a:noFill/>
          <a:ln/>
        </p:spPr>
        <p:txBody>
          <a:bodyPr wrap="square" lIns="0" tIns="0" rIns="0" bIns="0" rtlCol="0" anchor="t">
            <a:normAutofit/>
          </a:bodyPr>
          <a:lstStyle/>
          <a:p>
            <a:pPr algn="l" indent="0" marL="0">
              <a:lnSpc>
                <a:spcPts val="4515"/>
              </a:lnSpc>
              <a:buNone/>
            </a:pPr>
            <a:r>
              <a:rPr lang="en-US" sz="4300" b="1" dirty="0">
                <a:solidFill>
                  <a:srgbClr val="F2A65A"/>
                </a:solidFill>
                <a:latin typeface="Georgia" pitchFamily="18" charset="0"/>
                <a:ea typeface="Georgia" pitchFamily="18" charset="-122"/>
                <a:cs typeface="Georgia" pitchFamily="18" charset="-120"/>
              </a:rPr>
              <a:t>95%</a:t>
            </a:r>
            <a:endParaRPr lang="en-US" sz="4300" dirty="0"/>
          </a:p>
        </p:txBody>
      </p:sp>
      <p:sp>
        <p:nvSpPr>
          <p:cNvPr id="15" name="Text 12"/>
          <p:cNvSpPr/>
          <p:nvPr/>
        </p:nvSpPr>
        <p:spPr>
          <a:xfrm>
            <a:off x="8966200" y="3260725"/>
            <a:ext cx="2485390" cy="2208213"/>
          </a:xfrm>
          <a:prstGeom prst="rect">
            <a:avLst/>
          </a:prstGeom>
          <a:noFill/>
          <a:ln/>
        </p:spPr>
        <p:txBody>
          <a:bodyPr wrap="square" lIns="0" tIns="0" rIns="0" bIns="0" rtlCol="0" anchor="t">
            <a:normAutofit/>
          </a:bodyPr>
          <a:lstStyle/>
          <a:p>
            <a:pPr algn="l" indent="0" marL="0">
              <a:lnSpc>
                <a:spcPts val="3438"/>
              </a:lnSpc>
              <a:buNone/>
            </a:pPr>
            <a:r>
              <a:rPr lang="en-US" sz="2750" dirty="0">
                <a:solidFill>
                  <a:srgbClr val="DCE2EE"/>
                </a:solidFill>
                <a:latin typeface="Arial" pitchFamily="34" charset="0"/>
                <a:ea typeface="Arial" pitchFamily="34" charset="-122"/>
                <a:cs typeface="Arial" pitchFamily="34" charset="-120"/>
              </a:rPr>
              <a:t>of rare diseases have ZERO FDA-approved treatments</a:t>
            </a:r>
            <a:endParaRPr lang="en-US" sz="2750" dirty="0"/>
          </a:p>
        </p:txBody>
      </p:sp>
      <p:sp>
        <p:nvSpPr>
          <p:cNvPr id="16" name="Text 13"/>
          <p:cNvSpPr/>
          <p:nvPr/>
        </p:nvSpPr>
        <p:spPr>
          <a:xfrm>
            <a:off x="812800" y="6238241"/>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1C4"/>
                </a:solidFill>
                <a:latin typeface="Arial" pitchFamily="34" charset="0"/>
                <a:ea typeface="Arial" pitchFamily="34" charset="-122"/>
                <a:cs typeface="Arial" pitchFamily="34" charset="-120"/>
              </a:rPr>
              <a:t>Sources: Alzheimer's Association, 2026 Facts and Figures; NIH; American Cancer Society, Cancer Statistics 2026.</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800" y="8128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F2A44"/>
                </a:solidFill>
                <a:latin typeface="Georgia" pitchFamily="18" charset="0"/>
                <a:ea typeface="Georgia" pitchFamily="18" charset="-122"/>
                <a:cs typeface="Georgia" pitchFamily="18" charset="-120"/>
              </a:rPr>
              <a:t>Three problems block medical progress</a:t>
            </a:r>
            <a:endParaRPr lang="en-US" sz="3200" dirty="0"/>
          </a:p>
        </p:txBody>
      </p:sp>
      <p:sp>
        <p:nvSpPr>
          <p:cNvPr id="3" name="Shape 1"/>
          <p:cNvSpPr/>
          <p:nvPr/>
        </p:nvSpPr>
        <p:spPr>
          <a:xfrm>
            <a:off x="815975" y="1537336"/>
            <a:ext cx="3380264" cy="4086860"/>
          </a:xfrm>
          <a:prstGeom prst="roundRect">
            <a:avLst>
              <a:gd name="adj" fmla="val 4415"/>
            </a:avLst>
          </a:prstGeom>
          <a:solidFill>
            <a:srgbClr val="FFFDF9"/>
          </a:solidFill>
          <a:ln w="6350">
            <a:solidFill>
              <a:srgbClr val="E4DED3"/>
            </a:solidFill>
            <a:prstDash val="solid"/>
          </a:ln>
        </p:spPr>
      </p:sp>
      <p:sp>
        <p:nvSpPr>
          <p:cNvPr id="4" name="Text 2"/>
          <p:cNvSpPr/>
          <p:nvPr/>
        </p:nvSpPr>
        <p:spPr>
          <a:xfrm>
            <a:off x="1002691" y="2181861"/>
            <a:ext cx="3006831" cy="843280"/>
          </a:xfrm>
          <a:prstGeom prst="rect">
            <a:avLst/>
          </a:prstGeom>
          <a:noFill/>
          <a:ln/>
        </p:spPr>
        <p:txBody>
          <a:bodyPr wrap="square" lIns="0" tIns="0" rIns="0" bIns="0" rtlCol="0" anchor="t">
            <a:normAutofit/>
          </a:bodyPr>
          <a:lstStyle/>
          <a:p>
            <a:pPr algn="ctr" indent="0" marL="0">
              <a:lnSpc>
                <a:spcPts val="3220"/>
              </a:lnSpc>
              <a:buNone/>
            </a:pPr>
            <a:r>
              <a:rPr lang="en-US" sz="2800" b="1" dirty="0">
                <a:solidFill>
                  <a:srgbClr val="1F2A44"/>
                </a:solidFill>
                <a:latin typeface="Georgia" pitchFamily="18" charset="0"/>
                <a:ea typeface="Georgia" pitchFamily="18" charset="-122"/>
                <a:cs typeface="Georgia" pitchFamily="18" charset="-120"/>
              </a:rPr>
              <a:t>You have to be dying</a:t>
            </a:r>
            <a:endParaRPr lang="en-US" sz="2800" dirty="0"/>
          </a:p>
        </p:txBody>
      </p:sp>
      <p:sp>
        <p:nvSpPr>
          <p:cNvPr id="5" name="Text 3"/>
          <p:cNvSpPr/>
          <p:nvPr/>
        </p:nvSpPr>
        <p:spPr>
          <a:xfrm>
            <a:off x="2038247" y="3101341"/>
            <a:ext cx="935641" cy="758825"/>
          </a:xfrm>
          <a:prstGeom prst="rect">
            <a:avLst/>
          </a:prstGeom>
          <a:noFill/>
          <a:ln/>
        </p:spPr>
        <p:txBody>
          <a:bodyPr wrap="square" lIns="0" tIns="0" rIns="0" bIns="0" rtlCol="0" anchor="t">
            <a:normAutofit/>
          </a:bodyPr>
          <a:lstStyle/>
          <a:p>
            <a:pPr algn="ctr" indent="0" marL="0">
              <a:lnSpc>
                <a:spcPts val="5775"/>
              </a:lnSpc>
              <a:buNone/>
            </a:pPr>
            <a:r>
              <a:rPr lang="en-US" sz="5500" b="1" dirty="0">
                <a:solidFill>
                  <a:srgbClr val="5B47D6"/>
                </a:solidFill>
                <a:latin typeface="Georgia" pitchFamily="18" charset="0"/>
                <a:ea typeface="Georgia" pitchFamily="18" charset="-122"/>
                <a:cs typeface="Georgia" pitchFamily="18" charset="-120"/>
              </a:rPr>
              <a:t>21</a:t>
            </a:r>
            <a:endParaRPr lang="en-US" sz="5500" dirty="0"/>
          </a:p>
        </p:txBody>
      </p:sp>
      <p:sp>
        <p:nvSpPr>
          <p:cNvPr id="6" name="Text 4"/>
          <p:cNvSpPr/>
          <p:nvPr/>
        </p:nvSpPr>
        <p:spPr>
          <a:xfrm>
            <a:off x="1002691" y="3936366"/>
            <a:ext cx="3006831" cy="1191260"/>
          </a:xfrm>
          <a:prstGeom prst="rect">
            <a:avLst/>
          </a:prstGeom>
          <a:noFill/>
          <a:ln/>
        </p:spPr>
        <p:txBody>
          <a:bodyPr wrap="square" lIns="0" tIns="0" rIns="0" bIns="0" rtlCol="0" anchor="t">
            <a:normAutofit/>
          </a:bodyPr>
          <a:lstStyle/>
          <a:p>
            <a:pPr algn="ctr" indent="0" marL="0">
              <a:lnSpc>
                <a:spcPts val="2295"/>
              </a:lnSpc>
              <a:buNone/>
            </a:pPr>
            <a:r>
              <a:rPr lang="en-US" sz="1700" dirty="0">
                <a:solidFill>
                  <a:srgbClr val="3F4A5E"/>
                </a:solidFill>
                <a:latin typeface="Arial" pitchFamily="34" charset="0"/>
                <a:ea typeface="Arial" pitchFamily="34" charset="-122"/>
                <a:cs typeface="Arial" pitchFamily="34" charset="-120"/>
              </a:rPr>
              <a:t>drugs used under federal right-to-try from 2018 to 2024. Patients who are sick but not dying cannot use it.</a:t>
            </a:r>
            <a:endParaRPr lang="en-US" sz="1700" dirty="0"/>
          </a:p>
        </p:txBody>
      </p:sp>
      <p:sp>
        <p:nvSpPr>
          <p:cNvPr id="7" name="Shape 5"/>
          <p:cNvSpPr/>
          <p:nvPr/>
        </p:nvSpPr>
        <p:spPr>
          <a:xfrm>
            <a:off x="4405789" y="1537336"/>
            <a:ext cx="3380343" cy="4086860"/>
          </a:xfrm>
          <a:prstGeom prst="roundRect">
            <a:avLst>
              <a:gd name="adj" fmla="val 4414"/>
            </a:avLst>
          </a:prstGeom>
          <a:solidFill>
            <a:srgbClr val="FFFDF9"/>
          </a:solidFill>
          <a:ln w="6350">
            <a:solidFill>
              <a:srgbClr val="E4DED3"/>
            </a:solidFill>
            <a:prstDash val="solid"/>
          </a:ln>
        </p:spPr>
      </p:sp>
      <p:sp>
        <p:nvSpPr>
          <p:cNvPr id="8" name="Text 6"/>
          <p:cNvSpPr/>
          <p:nvPr/>
        </p:nvSpPr>
        <p:spPr>
          <a:xfrm>
            <a:off x="4592504" y="2181861"/>
            <a:ext cx="3006913" cy="843280"/>
          </a:xfrm>
          <a:prstGeom prst="rect">
            <a:avLst/>
          </a:prstGeom>
          <a:noFill/>
          <a:ln/>
        </p:spPr>
        <p:txBody>
          <a:bodyPr wrap="square" lIns="0" tIns="0" rIns="0" bIns="0" rtlCol="0" anchor="t">
            <a:normAutofit/>
          </a:bodyPr>
          <a:lstStyle/>
          <a:p>
            <a:pPr algn="ctr" indent="0" marL="0">
              <a:lnSpc>
                <a:spcPts val="3220"/>
              </a:lnSpc>
              <a:buNone/>
            </a:pPr>
            <a:r>
              <a:rPr lang="en-US" sz="2800" b="1" dirty="0">
                <a:solidFill>
                  <a:srgbClr val="1F2A44"/>
                </a:solidFill>
                <a:latin typeface="Georgia" pitchFamily="18" charset="0"/>
                <a:ea typeface="Georgia" pitchFamily="18" charset="-122"/>
                <a:cs typeface="Georgia" pitchFamily="18" charset="-120"/>
              </a:rPr>
              <a:t>No financial incentive</a:t>
            </a:r>
            <a:endParaRPr lang="en-US" sz="2800" dirty="0"/>
          </a:p>
        </p:txBody>
      </p:sp>
      <p:sp>
        <p:nvSpPr>
          <p:cNvPr id="9" name="Text 7"/>
          <p:cNvSpPr/>
          <p:nvPr/>
        </p:nvSpPr>
        <p:spPr>
          <a:xfrm>
            <a:off x="5350867" y="3101341"/>
            <a:ext cx="1490186" cy="758825"/>
          </a:xfrm>
          <a:prstGeom prst="rect">
            <a:avLst/>
          </a:prstGeom>
          <a:noFill/>
          <a:ln/>
        </p:spPr>
        <p:txBody>
          <a:bodyPr wrap="square" lIns="0" tIns="0" rIns="0" bIns="0" rtlCol="0" anchor="t">
            <a:normAutofit/>
          </a:bodyPr>
          <a:lstStyle/>
          <a:p>
            <a:pPr algn="ctr" indent="0" marL="0">
              <a:lnSpc>
                <a:spcPts val="5775"/>
              </a:lnSpc>
              <a:buNone/>
            </a:pPr>
            <a:r>
              <a:rPr lang="en-US" sz="5500" b="1" dirty="0">
                <a:solidFill>
                  <a:srgbClr val="5B47D6"/>
                </a:solidFill>
                <a:latin typeface="Georgia" pitchFamily="18" charset="0"/>
                <a:ea typeface="Georgia" pitchFamily="18" charset="-122"/>
                <a:cs typeface="Georgia" pitchFamily="18" charset="-120"/>
              </a:rPr>
              <a:t>573</a:t>
            </a:r>
            <a:endParaRPr lang="en-US" sz="5500" dirty="0"/>
          </a:p>
        </p:txBody>
      </p:sp>
      <p:sp>
        <p:nvSpPr>
          <p:cNvPr id="10" name="Text 8"/>
          <p:cNvSpPr/>
          <p:nvPr/>
        </p:nvSpPr>
        <p:spPr>
          <a:xfrm>
            <a:off x="4592504" y="3936366"/>
            <a:ext cx="3006913" cy="1482725"/>
          </a:xfrm>
          <a:prstGeom prst="rect">
            <a:avLst/>
          </a:prstGeom>
          <a:noFill/>
          <a:ln/>
        </p:spPr>
        <p:txBody>
          <a:bodyPr wrap="square" lIns="0" tIns="0" rIns="0" bIns="0" rtlCol="0" anchor="t">
            <a:normAutofit/>
          </a:bodyPr>
          <a:lstStyle/>
          <a:p>
            <a:pPr algn="ctr" indent="0" marL="0">
              <a:lnSpc>
                <a:spcPts val="2295"/>
              </a:lnSpc>
              <a:buNone/>
            </a:pPr>
            <a:r>
              <a:rPr lang="en-US" sz="1700" dirty="0">
                <a:solidFill>
                  <a:srgbClr val="3F4A5E"/>
                </a:solidFill>
                <a:latin typeface="Arial" pitchFamily="34" charset="0"/>
                <a:ea typeface="Arial" pitchFamily="34" charset="-122"/>
                <a:cs typeface="Arial" pitchFamily="34" charset="-120"/>
              </a:rPr>
              <a:t>drugs proposed for Alzheimer's are still untested. Nobody can patent an old drug, so nobody pays for a trial.</a:t>
            </a:r>
            <a:endParaRPr lang="en-US" sz="1700" dirty="0"/>
          </a:p>
        </p:txBody>
      </p:sp>
      <p:sp>
        <p:nvSpPr>
          <p:cNvPr id="11" name="Shape 9"/>
          <p:cNvSpPr/>
          <p:nvPr/>
        </p:nvSpPr>
        <p:spPr>
          <a:xfrm>
            <a:off x="7995682" y="1537336"/>
            <a:ext cx="3380343" cy="4086860"/>
          </a:xfrm>
          <a:prstGeom prst="roundRect">
            <a:avLst>
              <a:gd name="adj" fmla="val 4414"/>
            </a:avLst>
          </a:prstGeom>
          <a:solidFill>
            <a:srgbClr val="FFFDF9"/>
          </a:solidFill>
          <a:ln w="6350">
            <a:solidFill>
              <a:srgbClr val="E4DED3"/>
            </a:solidFill>
            <a:prstDash val="solid"/>
          </a:ln>
        </p:spPr>
      </p:sp>
      <p:sp>
        <p:nvSpPr>
          <p:cNvPr id="12" name="Text 10"/>
          <p:cNvSpPr/>
          <p:nvPr/>
        </p:nvSpPr>
        <p:spPr>
          <a:xfrm>
            <a:off x="8182397" y="1772920"/>
            <a:ext cx="3006913" cy="1252220"/>
          </a:xfrm>
          <a:prstGeom prst="rect">
            <a:avLst/>
          </a:prstGeom>
          <a:noFill/>
          <a:ln/>
        </p:spPr>
        <p:txBody>
          <a:bodyPr wrap="square" lIns="0" tIns="0" rIns="0" bIns="0" rtlCol="0" anchor="t">
            <a:normAutofit/>
          </a:bodyPr>
          <a:lstStyle/>
          <a:p>
            <a:pPr algn="ctr" indent="0" marL="0">
              <a:lnSpc>
                <a:spcPts val="3220"/>
              </a:lnSpc>
              <a:buNone/>
            </a:pPr>
            <a:r>
              <a:rPr lang="en-US" sz="2800" b="1" dirty="0">
                <a:solidFill>
                  <a:srgbClr val="1F2A44"/>
                </a:solidFill>
                <a:latin typeface="Georgia" pitchFamily="18" charset="0"/>
                <a:ea typeface="Georgia" pitchFamily="18" charset="-122"/>
                <a:cs typeface="Georgia" pitchFamily="18" charset="-120"/>
              </a:rPr>
              <a:t>No one publishes outcomes</a:t>
            </a:r>
            <a:endParaRPr lang="en-US" sz="2800" dirty="0"/>
          </a:p>
        </p:txBody>
      </p:sp>
      <p:sp>
        <p:nvSpPr>
          <p:cNvPr id="13" name="Text 11"/>
          <p:cNvSpPr/>
          <p:nvPr/>
        </p:nvSpPr>
        <p:spPr>
          <a:xfrm>
            <a:off x="8353171" y="3101341"/>
            <a:ext cx="2665285" cy="758825"/>
          </a:xfrm>
          <a:prstGeom prst="rect">
            <a:avLst/>
          </a:prstGeom>
          <a:noFill/>
          <a:ln/>
        </p:spPr>
        <p:txBody>
          <a:bodyPr wrap="square" lIns="0" tIns="0" rIns="0" bIns="0" rtlCol="0" anchor="t">
            <a:normAutofit/>
          </a:bodyPr>
          <a:lstStyle/>
          <a:p>
            <a:pPr algn="ctr" indent="0" marL="0">
              <a:lnSpc>
                <a:spcPts val="5775"/>
              </a:lnSpc>
              <a:buNone/>
            </a:pPr>
            <a:r>
              <a:rPr lang="en-US" sz="5500" b="1" dirty="0">
                <a:solidFill>
                  <a:srgbClr val="5B47D6"/>
                </a:solidFill>
                <a:latin typeface="Georgia" pitchFamily="18" charset="0"/>
                <a:ea typeface="Georgia" pitchFamily="18" charset="-122"/>
                <a:cs typeface="Georgia" pitchFamily="18" charset="-120"/>
              </a:rPr>
              <a:t>99.8%</a:t>
            </a:r>
            <a:endParaRPr lang="en-US" sz="5500" dirty="0"/>
          </a:p>
        </p:txBody>
      </p:sp>
      <p:sp>
        <p:nvSpPr>
          <p:cNvPr id="14" name="Text 12"/>
          <p:cNvSpPr/>
          <p:nvPr/>
        </p:nvSpPr>
        <p:spPr>
          <a:xfrm>
            <a:off x="8182397" y="3936366"/>
            <a:ext cx="3006913" cy="1191260"/>
          </a:xfrm>
          <a:prstGeom prst="rect">
            <a:avLst/>
          </a:prstGeom>
          <a:noFill/>
          <a:ln/>
        </p:spPr>
        <p:txBody>
          <a:bodyPr wrap="square" lIns="0" tIns="0" rIns="0" bIns="0" rtlCol="0" anchor="t">
            <a:normAutofit/>
          </a:bodyPr>
          <a:lstStyle/>
          <a:p>
            <a:pPr algn="ctr" indent="0" marL="0">
              <a:lnSpc>
                <a:spcPts val="2295"/>
              </a:lnSpc>
              <a:buNone/>
            </a:pPr>
            <a:r>
              <a:rPr lang="en-US" sz="1700" dirty="0">
                <a:solidFill>
                  <a:srgbClr val="3F4A5E"/>
                </a:solidFill>
                <a:latin typeface="Arial" pitchFamily="34" charset="0"/>
                <a:ea typeface="Arial" pitchFamily="34" charset="-122"/>
                <a:cs typeface="Arial" pitchFamily="34" charset="-120"/>
              </a:rPr>
              <a:t>of Alzheimer's patients are in no study. Nobody records, pools or publishes what happens to them.</a:t>
            </a:r>
            <a:endParaRPr lang="en-US" sz="1700" dirty="0"/>
          </a:p>
        </p:txBody>
      </p:sp>
      <p:sp>
        <p:nvSpPr>
          <p:cNvPr id="15" name="Text 13"/>
          <p:cNvSpPr/>
          <p:nvPr/>
        </p:nvSpPr>
        <p:spPr>
          <a:xfrm>
            <a:off x="812800" y="6024882"/>
            <a:ext cx="1088339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26A7C"/>
                </a:solidFill>
                <a:latin typeface="Arial" pitchFamily="34" charset="0"/>
                <a:ea typeface="Arial" pitchFamily="34" charset="-122"/>
                <a:cs typeface="Arial" pitchFamily="34" charset="-120"/>
              </a:rPr>
              <a:t>Sources: FDA right-to-try summary, via FactCheck.org, 2026; Frontiers in Pharmacology, 2023; USC Schaeffer Center; Alzheimer's Association, 2026 Facts and Figures.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800" y="8128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F2A44"/>
                </a:solidFill>
                <a:latin typeface="Georgia" pitchFamily="18" charset="0"/>
                <a:ea typeface="Georgia" pitchFamily="18" charset="-122"/>
                <a:cs typeface="Georgia" pitchFamily="18" charset="-120"/>
              </a:rPr>
              <a:t>We have tested 0.34% of what we already have</a:t>
            </a:r>
            <a:endParaRPr lang="en-US" sz="3200" dirty="0"/>
          </a:p>
        </p:txBody>
      </p:sp>
      <p:sp>
        <p:nvSpPr>
          <p:cNvPr id="3" name="Text 1"/>
          <p:cNvSpPr/>
          <p:nvPr/>
        </p:nvSpPr>
        <p:spPr>
          <a:xfrm>
            <a:off x="812800" y="1508761"/>
            <a:ext cx="3034792" cy="505460"/>
          </a:xfrm>
          <a:prstGeom prst="rect">
            <a:avLst/>
          </a:prstGeom>
          <a:noFill/>
          <a:ln/>
        </p:spPr>
        <p:txBody>
          <a:bodyPr wrap="square" lIns="0" tIns="0" rIns="0" bIns="0" rtlCol="0" anchor="t">
            <a:normAutofit/>
          </a:bodyPr>
          <a:lstStyle/>
          <a:p>
            <a:pPr algn="l" indent="0" marL="0">
              <a:lnSpc>
                <a:spcPts val="3780"/>
              </a:lnSpc>
              <a:buNone/>
            </a:pPr>
            <a:r>
              <a:rPr lang="en-US" sz="3600" b="1" dirty="0">
                <a:solidFill>
                  <a:srgbClr val="5B47D6"/>
                </a:solidFill>
                <a:latin typeface="Georgia" pitchFamily="18" charset="0"/>
                <a:ea typeface="Georgia" pitchFamily="18" charset="-122"/>
                <a:cs typeface="Georgia" pitchFamily="18" charset="-120"/>
              </a:rPr>
              <a:t>9,500</a:t>
            </a:r>
            <a:endParaRPr lang="en-US" sz="3600" dirty="0"/>
          </a:p>
        </p:txBody>
      </p:sp>
      <p:sp>
        <p:nvSpPr>
          <p:cNvPr id="4" name="Text 2"/>
          <p:cNvSpPr/>
          <p:nvPr/>
        </p:nvSpPr>
        <p:spPr>
          <a:xfrm>
            <a:off x="812800" y="2039621"/>
            <a:ext cx="3034792" cy="4876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3F4A5E"/>
                </a:solidFill>
                <a:latin typeface="Arial" pitchFamily="34" charset="0"/>
                <a:ea typeface="Arial" pitchFamily="34" charset="-122"/>
                <a:cs typeface="Arial" pitchFamily="34" charset="-120"/>
              </a:rPr>
              <a:t>compounds with a human safety record</a:t>
            </a:r>
            <a:endParaRPr lang="en-US" sz="1400" dirty="0"/>
          </a:p>
        </p:txBody>
      </p:sp>
      <p:sp>
        <p:nvSpPr>
          <p:cNvPr id="5" name="Text 3"/>
          <p:cNvSpPr/>
          <p:nvPr/>
        </p:nvSpPr>
        <p:spPr>
          <a:xfrm>
            <a:off x="3987800" y="1508761"/>
            <a:ext cx="406400" cy="505460"/>
          </a:xfrm>
          <a:prstGeom prst="rect">
            <a:avLst/>
          </a:prstGeom>
          <a:noFill/>
          <a:ln/>
        </p:spPr>
        <p:txBody>
          <a:bodyPr wrap="square" lIns="0" tIns="0" rIns="0" bIns="0" rtlCol="0" anchor="t">
            <a:normAutofit/>
          </a:bodyPr>
          <a:lstStyle/>
          <a:p>
            <a:pPr algn="ctr" indent="0" marL="0">
              <a:lnSpc>
                <a:spcPts val="3780"/>
              </a:lnSpc>
              <a:buNone/>
            </a:pPr>
            <a:r>
              <a:rPr lang="en-US" sz="3600" b="1" dirty="0">
                <a:solidFill>
                  <a:srgbClr val="C9C0F2"/>
                </a:solidFill>
                <a:latin typeface="Georgia" pitchFamily="18" charset="0"/>
                <a:ea typeface="Georgia" pitchFamily="18" charset="-122"/>
                <a:cs typeface="Georgia" pitchFamily="18" charset="-120"/>
              </a:rPr>
              <a:t>×</a:t>
            </a:r>
            <a:endParaRPr lang="en-US" sz="3600" dirty="0"/>
          </a:p>
        </p:txBody>
      </p:sp>
      <p:sp>
        <p:nvSpPr>
          <p:cNvPr id="6" name="Text 4"/>
          <p:cNvSpPr/>
          <p:nvPr/>
        </p:nvSpPr>
        <p:spPr>
          <a:xfrm>
            <a:off x="4622800" y="1508761"/>
            <a:ext cx="3034792" cy="505460"/>
          </a:xfrm>
          <a:prstGeom prst="rect">
            <a:avLst/>
          </a:prstGeom>
          <a:noFill/>
          <a:ln/>
        </p:spPr>
        <p:txBody>
          <a:bodyPr wrap="square" lIns="0" tIns="0" rIns="0" bIns="0" rtlCol="0" anchor="t">
            <a:normAutofit/>
          </a:bodyPr>
          <a:lstStyle/>
          <a:p>
            <a:pPr algn="l" indent="0" marL="0">
              <a:lnSpc>
                <a:spcPts val="3780"/>
              </a:lnSpc>
              <a:buNone/>
            </a:pPr>
            <a:r>
              <a:rPr lang="en-US" sz="3600" b="1" dirty="0">
                <a:solidFill>
                  <a:srgbClr val="5B47D6"/>
                </a:solidFill>
                <a:latin typeface="Georgia" pitchFamily="18" charset="0"/>
                <a:ea typeface="Georgia" pitchFamily="18" charset="-122"/>
                <a:cs typeface="Georgia" pitchFamily="18" charset="-120"/>
              </a:rPr>
              <a:t>1,000</a:t>
            </a:r>
            <a:endParaRPr lang="en-US" sz="3600" dirty="0"/>
          </a:p>
        </p:txBody>
      </p:sp>
      <p:sp>
        <p:nvSpPr>
          <p:cNvPr id="7" name="Text 5"/>
          <p:cNvSpPr/>
          <p:nvPr/>
        </p:nvSpPr>
        <p:spPr>
          <a:xfrm>
            <a:off x="4622800" y="2039621"/>
            <a:ext cx="3034792" cy="2565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3F4A5E"/>
                </a:solidFill>
                <a:latin typeface="Arial" pitchFamily="34" charset="0"/>
                <a:ea typeface="Arial" pitchFamily="34" charset="-122"/>
                <a:cs typeface="Arial" pitchFamily="34" charset="-120"/>
              </a:rPr>
              <a:t>diseases</a:t>
            </a:r>
            <a:endParaRPr lang="en-US" sz="1400" dirty="0"/>
          </a:p>
        </p:txBody>
      </p:sp>
      <p:sp>
        <p:nvSpPr>
          <p:cNvPr id="8" name="Text 6"/>
          <p:cNvSpPr/>
          <p:nvPr/>
        </p:nvSpPr>
        <p:spPr>
          <a:xfrm>
            <a:off x="7797800" y="1508761"/>
            <a:ext cx="406400" cy="505460"/>
          </a:xfrm>
          <a:prstGeom prst="rect">
            <a:avLst/>
          </a:prstGeom>
          <a:noFill/>
          <a:ln/>
        </p:spPr>
        <p:txBody>
          <a:bodyPr wrap="square" lIns="0" tIns="0" rIns="0" bIns="0" rtlCol="0" anchor="t">
            <a:normAutofit/>
          </a:bodyPr>
          <a:lstStyle/>
          <a:p>
            <a:pPr algn="ctr" indent="0" marL="0">
              <a:lnSpc>
                <a:spcPts val="3780"/>
              </a:lnSpc>
              <a:buNone/>
            </a:pPr>
            <a:r>
              <a:rPr lang="en-US" sz="3600" b="1" dirty="0">
                <a:solidFill>
                  <a:srgbClr val="C9C0F2"/>
                </a:solidFill>
                <a:latin typeface="Georgia" pitchFamily="18" charset="0"/>
                <a:ea typeface="Georgia" pitchFamily="18" charset="-122"/>
                <a:cs typeface="Georgia" pitchFamily="18" charset="-120"/>
              </a:rPr>
              <a:t>=</a:t>
            </a:r>
            <a:endParaRPr lang="en-US" sz="3600" dirty="0"/>
          </a:p>
        </p:txBody>
      </p:sp>
      <p:sp>
        <p:nvSpPr>
          <p:cNvPr id="9" name="Text 7"/>
          <p:cNvSpPr/>
          <p:nvPr/>
        </p:nvSpPr>
        <p:spPr>
          <a:xfrm>
            <a:off x="8432800" y="1508761"/>
            <a:ext cx="3034792" cy="505460"/>
          </a:xfrm>
          <a:prstGeom prst="rect">
            <a:avLst/>
          </a:prstGeom>
          <a:noFill/>
          <a:ln/>
        </p:spPr>
        <p:txBody>
          <a:bodyPr wrap="square" lIns="0" tIns="0" rIns="0" bIns="0" rtlCol="0" anchor="t">
            <a:normAutofit/>
          </a:bodyPr>
          <a:lstStyle/>
          <a:p>
            <a:pPr algn="l" indent="0" marL="0">
              <a:lnSpc>
                <a:spcPts val="3780"/>
              </a:lnSpc>
              <a:buNone/>
            </a:pPr>
            <a:r>
              <a:rPr lang="en-US" sz="3600" b="1" dirty="0">
                <a:solidFill>
                  <a:srgbClr val="5B47D6"/>
                </a:solidFill>
                <a:latin typeface="Georgia" pitchFamily="18" charset="0"/>
                <a:ea typeface="Georgia" pitchFamily="18" charset="-122"/>
                <a:cs typeface="Georgia" pitchFamily="18" charset="-120"/>
              </a:rPr>
              <a:t>9.5 million</a:t>
            </a:r>
            <a:endParaRPr lang="en-US" sz="3600" dirty="0"/>
          </a:p>
        </p:txBody>
      </p:sp>
      <p:sp>
        <p:nvSpPr>
          <p:cNvPr id="10" name="Text 8"/>
          <p:cNvSpPr/>
          <p:nvPr/>
        </p:nvSpPr>
        <p:spPr>
          <a:xfrm>
            <a:off x="8432800" y="2039621"/>
            <a:ext cx="3034792" cy="2565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3F4A5E"/>
                </a:solidFill>
                <a:latin typeface="Arial" pitchFamily="34" charset="0"/>
                <a:ea typeface="Arial" pitchFamily="34" charset="-122"/>
                <a:cs typeface="Arial" pitchFamily="34" charset="-120"/>
              </a:rPr>
              <a:t>possible drug-disease pairs</a:t>
            </a:r>
            <a:endParaRPr lang="en-US" sz="1400" dirty="0"/>
          </a:p>
        </p:txBody>
      </p:sp>
      <p:pic>
        <p:nvPicPr>
          <p:cNvPr id="11" name="Image 0" descr="Grid of 300 squares. One purple square shows the 0.34% of drug-disease pairs that have been tested.">    </p:cNvPr>
          <p:cNvPicPr>
            <a:picLocks noChangeAspect="1"/>
          </p:cNvPicPr>
          <p:nvPr/>
        </p:nvPicPr>
        <p:blipFill>
          <a:blip r:embed="rId1"/>
          <a:srcRect l="0" r="0" t="-22" b="-22"/>
          <a:stretch/>
        </p:blipFill>
        <p:spPr>
          <a:xfrm>
            <a:off x="812800" y="2730500"/>
            <a:ext cx="10566400" cy="882650"/>
          </a:xfrm>
          <a:prstGeom prst="rect">
            <a:avLst/>
          </a:prstGeom>
        </p:spPr>
      </p:pic>
      <p:sp>
        <p:nvSpPr>
          <p:cNvPr id="12" name="Shape 9"/>
          <p:cNvSpPr/>
          <p:nvPr/>
        </p:nvSpPr>
        <p:spPr>
          <a:xfrm>
            <a:off x="812800" y="3747771"/>
            <a:ext cx="165100" cy="165100"/>
          </a:xfrm>
          <a:prstGeom prst="roundRect">
            <a:avLst>
              <a:gd name="adj" fmla="val 23077"/>
            </a:avLst>
          </a:prstGeom>
          <a:solidFill>
            <a:srgbClr val="5B47D6"/>
          </a:solidFill>
          <a:ln/>
        </p:spPr>
      </p:sp>
      <p:sp>
        <p:nvSpPr>
          <p:cNvPr id="13" name="Text 10"/>
          <p:cNvSpPr/>
          <p:nvPr/>
        </p:nvSpPr>
        <p:spPr>
          <a:xfrm>
            <a:off x="1054100" y="3714750"/>
            <a:ext cx="2823925"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4A5E"/>
                </a:solidFill>
                <a:latin typeface="Arial" pitchFamily="34" charset="0"/>
                <a:ea typeface="Arial" pitchFamily="34" charset="-122"/>
                <a:cs typeface="Arial" pitchFamily="34" charset="-120"/>
              </a:rPr>
              <a:t>Tested: about 32,500 pairs (0.34%)</a:t>
            </a:r>
            <a:endParaRPr lang="en-US" sz="1300" dirty="0"/>
          </a:p>
        </p:txBody>
      </p:sp>
      <p:sp>
        <p:nvSpPr>
          <p:cNvPr id="14" name="Shape 11"/>
          <p:cNvSpPr/>
          <p:nvPr/>
        </p:nvSpPr>
        <p:spPr>
          <a:xfrm>
            <a:off x="3878025" y="3747771"/>
            <a:ext cx="165100" cy="165100"/>
          </a:xfrm>
          <a:prstGeom prst="roundRect">
            <a:avLst>
              <a:gd name="adj" fmla="val 23077"/>
            </a:avLst>
          </a:prstGeom>
          <a:solidFill>
            <a:srgbClr val="E4DED3"/>
          </a:solidFill>
          <a:ln/>
        </p:spPr>
      </p:sp>
      <p:sp>
        <p:nvSpPr>
          <p:cNvPr id="15" name="Text 12"/>
          <p:cNvSpPr/>
          <p:nvPr/>
        </p:nvSpPr>
        <p:spPr>
          <a:xfrm>
            <a:off x="4119325" y="3714750"/>
            <a:ext cx="2575957"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4A5E"/>
                </a:solidFill>
                <a:latin typeface="Arial" pitchFamily="34" charset="0"/>
                <a:ea typeface="Arial" pitchFamily="34" charset="-122"/>
                <a:cs typeface="Arial" pitchFamily="34" charset="-120"/>
              </a:rPr>
              <a:t>Never tested: about 9.47 million</a:t>
            </a:r>
            <a:endParaRPr lang="en-US" sz="1300" dirty="0"/>
          </a:p>
        </p:txBody>
      </p:sp>
      <p:pic>
        <p:nvPicPr>
          <p:cNvPr id="16" name="Image 1" descr="Clock">    </p:cNvPr>
          <p:cNvPicPr>
            <a:picLocks noChangeAspect="1"/>
          </p:cNvPicPr>
          <p:nvPr/>
        </p:nvPicPr>
        <p:blipFill>
          <a:blip r:embed="rId2"/>
          <a:srcRect l="0" r="0" t="0" b="0"/>
          <a:stretch/>
        </p:blipFill>
        <p:spPr>
          <a:xfrm>
            <a:off x="6695281" y="3728721"/>
            <a:ext cx="203200" cy="203200"/>
          </a:xfrm>
          <a:prstGeom prst="rect">
            <a:avLst/>
          </a:prstGeom>
        </p:spPr>
      </p:pic>
      <p:sp>
        <p:nvSpPr>
          <p:cNvPr id="17" name="Text 13"/>
          <p:cNvSpPr/>
          <p:nvPr/>
        </p:nvSpPr>
        <p:spPr>
          <a:xfrm>
            <a:off x="6974681" y="3714750"/>
            <a:ext cx="3548539"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F2A44"/>
                </a:solidFill>
                <a:latin typeface="Arial" pitchFamily="34" charset="0"/>
                <a:ea typeface="Arial" pitchFamily="34" charset="-122"/>
                <a:cs typeface="Arial" pitchFamily="34" charset="-120"/>
              </a:rPr>
              <a:t>Over 2,000 years at today's pace</a:t>
            </a:r>
            <a:endParaRPr lang="en-US" sz="1300" dirty="0"/>
          </a:p>
        </p:txBody>
      </p:sp>
      <p:sp>
        <p:nvSpPr>
          <p:cNvPr id="18" name="Shape 14"/>
          <p:cNvSpPr/>
          <p:nvPr/>
        </p:nvSpPr>
        <p:spPr>
          <a:xfrm>
            <a:off x="815975" y="4177664"/>
            <a:ext cx="5175250" cy="1311910"/>
          </a:xfrm>
          <a:prstGeom prst="roundRect">
            <a:avLst>
              <a:gd name="adj" fmla="val 9439"/>
            </a:avLst>
          </a:prstGeom>
          <a:solidFill>
            <a:srgbClr val="FFFDF9"/>
          </a:solidFill>
          <a:ln w="6350">
            <a:solidFill>
              <a:srgbClr val="E4DED3"/>
            </a:solidFill>
            <a:prstDash val="solid"/>
          </a:ln>
        </p:spPr>
      </p:sp>
      <p:sp>
        <p:nvSpPr>
          <p:cNvPr id="19" name="Text 15"/>
          <p:cNvSpPr/>
          <p:nvPr/>
        </p:nvSpPr>
        <p:spPr>
          <a:xfrm>
            <a:off x="995680" y="4331971"/>
            <a:ext cx="4960315"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F2A44"/>
                </a:solidFill>
                <a:latin typeface="Georgia" pitchFamily="18" charset="0"/>
                <a:ea typeface="Georgia" pitchFamily="18" charset="-122"/>
                <a:cs typeface="Georgia" pitchFamily="18" charset="-120"/>
              </a:rPr>
              <a:t>Most pairs will not work</a:t>
            </a:r>
            <a:endParaRPr lang="en-US" sz="1700" dirty="0"/>
          </a:p>
        </p:txBody>
      </p:sp>
      <p:sp>
        <p:nvSpPr>
          <p:cNvPr id="20" name="Text 16"/>
          <p:cNvSpPr/>
          <p:nvPr/>
        </p:nvSpPr>
        <p:spPr>
          <a:xfrm>
            <a:off x="995680" y="4641850"/>
            <a:ext cx="4960315" cy="4876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3F4A5E"/>
                </a:solidFill>
                <a:latin typeface="Arial" pitchFamily="34" charset="0"/>
                <a:ea typeface="Arial" pitchFamily="34" charset="-122"/>
                <a:cs typeface="Arial" pitchFamily="34" charset="-120"/>
              </a:rPr>
              <a:t>If only 1 in 1,000 works, that is about 9,500 treatments nobody is looking for.</a:t>
            </a:r>
            <a:endParaRPr lang="en-US" sz="1400" dirty="0"/>
          </a:p>
        </p:txBody>
      </p:sp>
      <p:sp>
        <p:nvSpPr>
          <p:cNvPr id="21" name="Shape 17"/>
          <p:cNvSpPr/>
          <p:nvPr/>
        </p:nvSpPr>
        <p:spPr>
          <a:xfrm>
            <a:off x="6200775" y="4177664"/>
            <a:ext cx="5175250" cy="1311910"/>
          </a:xfrm>
          <a:prstGeom prst="roundRect">
            <a:avLst>
              <a:gd name="adj" fmla="val 9439"/>
            </a:avLst>
          </a:prstGeom>
          <a:solidFill>
            <a:srgbClr val="FFFDF9"/>
          </a:solidFill>
          <a:ln w="6350">
            <a:solidFill>
              <a:srgbClr val="E4DED3"/>
            </a:solidFill>
            <a:prstDash val="solid"/>
          </a:ln>
        </p:spPr>
      </p:sp>
      <p:sp>
        <p:nvSpPr>
          <p:cNvPr id="22" name="Text 18"/>
          <p:cNvSpPr/>
          <p:nvPr/>
        </p:nvSpPr>
        <p:spPr>
          <a:xfrm>
            <a:off x="6380480" y="4331971"/>
            <a:ext cx="4960315"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F2A44"/>
                </a:solidFill>
                <a:latin typeface="Georgia" pitchFamily="18" charset="0"/>
                <a:ea typeface="Georgia" pitchFamily="18" charset="-122"/>
                <a:cs typeface="Georgia" pitchFamily="18" charset="-120"/>
              </a:rPr>
              <a:t>What Right to Trial changes</a:t>
            </a:r>
            <a:endParaRPr lang="en-US" sz="1700" dirty="0"/>
          </a:p>
        </p:txBody>
      </p:sp>
      <p:sp>
        <p:nvSpPr>
          <p:cNvPr id="23" name="Text 19"/>
          <p:cNvSpPr/>
          <p:nvPr/>
        </p:nvSpPr>
        <p:spPr>
          <a:xfrm>
            <a:off x="6380480" y="4641850"/>
            <a:ext cx="4960315" cy="71882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3F4A5E"/>
                </a:solidFill>
                <a:latin typeface="Arial" pitchFamily="34" charset="0"/>
                <a:ea typeface="Arial" pitchFamily="34" charset="-122"/>
                <a:cs typeface="Arial" pitchFamily="34" charset="-120"/>
              </a:rPr>
              <a:t>Doctors can already use approved drugs off-label, but nobody tracks the results. Right to Trial adds drugs still in testing and tracks every outcome.</a:t>
            </a:r>
            <a:endParaRPr lang="en-US" sz="1400" dirty="0"/>
          </a:p>
        </p:txBody>
      </p:sp>
      <p:sp>
        <p:nvSpPr>
          <p:cNvPr id="24" name="Text 20"/>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26A7C"/>
                </a:solidFill>
                <a:latin typeface="Arial" pitchFamily="34" charset="0"/>
                <a:ea typeface="Arial" pitchFamily="34" charset="-122"/>
                <a:cs typeface="Arial" pitchFamily="34" charset="-120"/>
              </a:rPr>
              <a:t>Source: War on Disease manual, The Untapped Therapeutic Frontier (FDA, GRAS, ICD-10 and ClinicalTrials.gov data).</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5B47D6"/>
                </a:solidFill>
                <a:latin typeface="Arial" pitchFamily="34" charset="0"/>
                <a:ea typeface="Arial" pitchFamily="34" charset="-122"/>
                <a:cs typeface="Arial" pitchFamily="34" charset="-120"/>
              </a:rPr>
              <a:t>A CONTINUOUSLY LEARNING SYSTEM FOR DISEASE ERADICATION</a:t>
            </a:r>
            <a:endParaRPr lang="en-US" sz="1400" dirty="0"/>
          </a:p>
        </p:txBody>
      </p:sp>
      <p:sp>
        <p:nvSpPr>
          <p:cNvPr id="3" name="Text 1"/>
          <p:cNvSpPr/>
          <p:nvPr/>
        </p:nvSpPr>
        <p:spPr>
          <a:xfrm>
            <a:off x="812800" y="1137921"/>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F2A44"/>
                </a:solidFill>
                <a:latin typeface="Georgia" pitchFamily="18" charset="0"/>
                <a:ea typeface="Georgia" pitchFamily="18" charset="-122"/>
                <a:cs typeface="Georgia" pitchFamily="18" charset="-120"/>
              </a:rPr>
              <a:t>Seven steps that help the next patient</a:t>
            </a:r>
            <a:endParaRPr lang="en-US" sz="3200" dirty="0"/>
          </a:p>
        </p:txBody>
      </p:sp>
      <p:sp>
        <p:nvSpPr>
          <p:cNvPr id="4" name="Shape 2"/>
          <p:cNvSpPr/>
          <p:nvPr/>
        </p:nvSpPr>
        <p:spPr>
          <a:xfrm>
            <a:off x="815975" y="1781175"/>
            <a:ext cx="2343150" cy="2184400"/>
          </a:xfrm>
          <a:prstGeom prst="roundRect">
            <a:avLst>
              <a:gd name="adj" fmla="val 6831"/>
            </a:avLst>
          </a:prstGeom>
          <a:solidFill>
            <a:srgbClr val="FFFDF9"/>
          </a:solidFill>
          <a:ln w="6350">
            <a:solidFill>
              <a:srgbClr val="E4DED3"/>
            </a:solidFill>
            <a:prstDash val="solid"/>
          </a:ln>
          <a:effectLst>
            <a:outerShdw sx="100000" sy="100000" kx="0" ky="0" algn="bl" rotWithShape="0" blurRad="190500" dist="63500" dir="5400000">
              <a:srgbClr val="1F2A44">
                <a:alpha val="10000"/>
              </a:srgbClr>
            </a:outerShdw>
          </a:effectLst>
        </p:spPr>
      </p:sp>
      <p:sp>
        <p:nvSpPr>
          <p:cNvPr id="5" name="Shape 3"/>
          <p:cNvSpPr/>
          <p:nvPr/>
        </p:nvSpPr>
        <p:spPr>
          <a:xfrm>
            <a:off x="970280" y="1935482"/>
            <a:ext cx="355600" cy="355600"/>
          </a:xfrm>
          <a:prstGeom prst="roundRect">
            <a:avLst>
              <a:gd name="adj" fmla="val 50000"/>
            </a:avLst>
          </a:prstGeom>
          <a:solidFill>
            <a:srgbClr val="ECE9FB"/>
          </a:solidFill>
          <a:ln/>
        </p:spPr>
      </p:sp>
      <p:pic>
        <p:nvPicPr>
          <p:cNvPr id="6" name="Image 0" descr="Search">    </p:cNvPr>
          <p:cNvPicPr>
            <a:picLocks noChangeAspect="1"/>
          </p:cNvPicPr>
          <p:nvPr/>
        </p:nvPicPr>
        <p:blipFill>
          <a:blip r:embed="rId1"/>
          <a:srcRect l="0" r="0" t="0" b="0"/>
          <a:stretch/>
        </p:blipFill>
        <p:spPr>
          <a:xfrm>
            <a:off x="1052830" y="2018032"/>
            <a:ext cx="190500" cy="190500"/>
          </a:xfrm>
          <a:prstGeom prst="rect">
            <a:avLst/>
          </a:prstGeom>
        </p:spPr>
      </p:pic>
      <p:sp>
        <p:nvSpPr>
          <p:cNvPr id="7" name="Text 4"/>
          <p:cNvSpPr/>
          <p:nvPr/>
        </p:nvSpPr>
        <p:spPr>
          <a:xfrm>
            <a:off x="2817177" y="1973582"/>
            <a:ext cx="187643" cy="304800"/>
          </a:xfrm>
          <a:prstGeom prst="rect">
            <a:avLst/>
          </a:prstGeom>
          <a:noFill/>
          <a:ln/>
        </p:spPr>
        <p:txBody>
          <a:bodyPr wrap="square" lIns="0" tIns="0" rIns="0" bIns="0" rtlCol="0" anchor="t">
            <a:normAutofit/>
          </a:bodyPr>
          <a:lstStyle/>
          <a:p>
            <a:pPr algn="r" indent="0" marL="0">
              <a:lnSpc>
                <a:spcPts val="2200"/>
              </a:lnSpc>
              <a:buNone/>
            </a:pPr>
            <a:r>
              <a:rPr lang="en-US" sz="2200" b="1" dirty="0">
                <a:solidFill>
                  <a:srgbClr val="C9C0F2"/>
                </a:solidFill>
                <a:latin typeface="Georgia" pitchFamily="18" charset="0"/>
                <a:ea typeface="Georgia" pitchFamily="18" charset="-122"/>
                <a:cs typeface="Georgia" pitchFamily="18" charset="-120"/>
              </a:rPr>
              <a:t>1</a:t>
            </a:r>
            <a:endParaRPr lang="en-US" sz="2200" dirty="0"/>
          </a:p>
        </p:txBody>
      </p:sp>
      <p:sp>
        <p:nvSpPr>
          <p:cNvPr id="8" name="Text 5"/>
          <p:cNvSpPr/>
          <p:nvPr/>
        </p:nvSpPr>
        <p:spPr>
          <a:xfrm>
            <a:off x="970280" y="2354582"/>
            <a:ext cx="2095576" cy="273685"/>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1F2A44"/>
                </a:solidFill>
                <a:latin typeface="Georgia" pitchFamily="18" charset="0"/>
                <a:ea typeface="Georgia" pitchFamily="18" charset="-122"/>
                <a:cs typeface="Georgia" pitchFamily="18" charset="-120"/>
              </a:rPr>
              <a:t>Explore options</a:t>
            </a:r>
            <a:endParaRPr lang="en-US" sz="1700" dirty="0"/>
          </a:p>
        </p:txBody>
      </p:sp>
      <p:sp>
        <p:nvSpPr>
          <p:cNvPr id="9" name="Text 6"/>
          <p:cNvSpPr/>
          <p:nvPr/>
        </p:nvSpPr>
        <p:spPr>
          <a:xfrm>
            <a:off x="970280" y="2666364"/>
            <a:ext cx="2095576" cy="692150"/>
          </a:xfrm>
          <a:prstGeom prst="rect">
            <a:avLst/>
          </a:prstGeom>
          <a:noFill/>
          <a:ln/>
        </p:spPr>
        <p:txBody>
          <a:bodyPr wrap="square" lIns="0" tIns="0" rIns="0" bIns="0" rtlCol="0" anchor="t">
            <a:normAutofit/>
          </a:bodyPr>
          <a:lstStyle/>
          <a:p>
            <a:pPr algn="l" indent="0" marL="0">
              <a:lnSpc>
                <a:spcPts val="1750"/>
              </a:lnSpc>
              <a:buNone/>
            </a:pPr>
            <a:r>
              <a:rPr lang="en-US" sz="1400" dirty="0">
                <a:solidFill>
                  <a:srgbClr val="3F4A5E"/>
                </a:solidFill>
                <a:latin typeface="Arial" pitchFamily="34" charset="0"/>
                <a:ea typeface="Arial" pitchFamily="34" charset="-122"/>
                <a:cs typeface="Arial" pitchFamily="34" charset="-120"/>
              </a:rPr>
              <a:t>View treatment rankings and outcome labels to compare your options</a:t>
            </a:r>
            <a:endParaRPr lang="en-US" sz="1400" dirty="0"/>
          </a:p>
        </p:txBody>
      </p:sp>
      <p:sp>
        <p:nvSpPr>
          <p:cNvPr id="10" name="Shape 7"/>
          <p:cNvSpPr/>
          <p:nvPr/>
        </p:nvSpPr>
        <p:spPr>
          <a:xfrm>
            <a:off x="3552825" y="1781175"/>
            <a:ext cx="2343150" cy="2184400"/>
          </a:xfrm>
          <a:prstGeom prst="roundRect">
            <a:avLst>
              <a:gd name="adj" fmla="val 6831"/>
            </a:avLst>
          </a:prstGeom>
          <a:solidFill>
            <a:srgbClr val="FFFDF9"/>
          </a:solidFill>
          <a:ln w="6350">
            <a:solidFill>
              <a:srgbClr val="E4DED3"/>
            </a:solidFill>
            <a:prstDash val="solid"/>
          </a:ln>
          <a:effectLst>
            <a:outerShdw sx="100000" sy="100000" kx="0" ky="0" algn="bl" rotWithShape="0" blurRad="190500" dist="63500" dir="5400000">
              <a:srgbClr val="1F2A44">
                <a:alpha val="10000"/>
              </a:srgbClr>
            </a:outerShdw>
          </a:effectLst>
        </p:spPr>
      </p:sp>
      <p:sp>
        <p:nvSpPr>
          <p:cNvPr id="11" name="Shape 8"/>
          <p:cNvSpPr/>
          <p:nvPr/>
        </p:nvSpPr>
        <p:spPr>
          <a:xfrm>
            <a:off x="3707130" y="1935482"/>
            <a:ext cx="355600" cy="355600"/>
          </a:xfrm>
          <a:prstGeom prst="roundRect">
            <a:avLst>
              <a:gd name="adj" fmla="val 50000"/>
            </a:avLst>
          </a:prstGeom>
          <a:solidFill>
            <a:srgbClr val="ECE9FB"/>
          </a:solidFill>
          <a:ln/>
        </p:spPr>
      </p:sp>
      <p:pic>
        <p:nvPicPr>
          <p:cNvPr id="12" name="Image 1" descr="Chat">    </p:cNvPr>
          <p:cNvPicPr>
            <a:picLocks noChangeAspect="1"/>
          </p:cNvPicPr>
          <p:nvPr/>
        </p:nvPicPr>
        <p:blipFill>
          <a:blip r:embed="rId2"/>
          <a:srcRect l="0" r="0" t="0" b="0"/>
          <a:stretch/>
        </p:blipFill>
        <p:spPr>
          <a:xfrm>
            <a:off x="3789680" y="2018032"/>
            <a:ext cx="190500" cy="190500"/>
          </a:xfrm>
          <a:prstGeom prst="rect">
            <a:avLst/>
          </a:prstGeom>
        </p:spPr>
      </p:pic>
      <p:sp>
        <p:nvSpPr>
          <p:cNvPr id="13" name="Text 9"/>
          <p:cNvSpPr/>
          <p:nvPr/>
        </p:nvSpPr>
        <p:spPr>
          <a:xfrm>
            <a:off x="5515769" y="1973582"/>
            <a:ext cx="225901" cy="304800"/>
          </a:xfrm>
          <a:prstGeom prst="rect">
            <a:avLst/>
          </a:prstGeom>
          <a:noFill/>
          <a:ln/>
        </p:spPr>
        <p:txBody>
          <a:bodyPr wrap="square" lIns="0" tIns="0" rIns="0" bIns="0" rtlCol="0" anchor="t">
            <a:normAutofit/>
          </a:bodyPr>
          <a:lstStyle/>
          <a:p>
            <a:pPr algn="r" indent="0" marL="0">
              <a:lnSpc>
                <a:spcPts val="2200"/>
              </a:lnSpc>
              <a:buNone/>
            </a:pPr>
            <a:r>
              <a:rPr lang="en-US" sz="2200" b="1" dirty="0">
                <a:solidFill>
                  <a:srgbClr val="C9C0F2"/>
                </a:solidFill>
                <a:latin typeface="Georgia" pitchFamily="18" charset="0"/>
                <a:ea typeface="Georgia" pitchFamily="18" charset="-122"/>
                <a:cs typeface="Georgia" pitchFamily="18" charset="-120"/>
              </a:rPr>
              <a:t>2</a:t>
            </a:r>
            <a:endParaRPr lang="en-US" sz="2200" dirty="0"/>
          </a:p>
        </p:txBody>
      </p:sp>
      <p:sp>
        <p:nvSpPr>
          <p:cNvPr id="14" name="Text 10"/>
          <p:cNvSpPr/>
          <p:nvPr/>
        </p:nvSpPr>
        <p:spPr>
          <a:xfrm>
            <a:off x="3707130" y="2354582"/>
            <a:ext cx="2095576" cy="521970"/>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1F2A44"/>
                </a:solidFill>
                <a:latin typeface="Georgia" pitchFamily="18" charset="0"/>
                <a:ea typeface="Georgia" pitchFamily="18" charset="-122"/>
                <a:cs typeface="Georgia" pitchFamily="18" charset="-120"/>
              </a:rPr>
              <a:t>Talk with your doctor</a:t>
            </a:r>
            <a:endParaRPr lang="en-US" sz="1700" dirty="0"/>
          </a:p>
        </p:txBody>
      </p:sp>
      <p:sp>
        <p:nvSpPr>
          <p:cNvPr id="15" name="Text 11"/>
          <p:cNvSpPr/>
          <p:nvPr/>
        </p:nvSpPr>
        <p:spPr>
          <a:xfrm>
            <a:off x="3707130" y="2914650"/>
            <a:ext cx="2095576" cy="692150"/>
          </a:xfrm>
          <a:prstGeom prst="rect">
            <a:avLst/>
          </a:prstGeom>
          <a:noFill/>
          <a:ln/>
        </p:spPr>
        <p:txBody>
          <a:bodyPr wrap="square" lIns="0" tIns="0" rIns="0" bIns="0" rtlCol="0" anchor="t">
            <a:normAutofit/>
          </a:bodyPr>
          <a:lstStyle/>
          <a:p>
            <a:pPr algn="l" indent="0" marL="0">
              <a:lnSpc>
                <a:spcPts val="1750"/>
              </a:lnSpc>
              <a:buNone/>
            </a:pPr>
            <a:r>
              <a:rPr lang="en-US" sz="1400" dirty="0">
                <a:solidFill>
                  <a:srgbClr val="3F4A5E"/>
                </a:solidFill>
                <a:latin typeface="Arial" pitchFamily="34" charset="0"/>
                <a:ea typeface="Arial" pitchFamily="34" charset="-122"/>
                <a:cs typeface="Arial" pitchFamily="34" charset="-120"/>
              </a:rPr>
              <a:t>Get a recommendation and decide on a treatment plan</a:t>
            </a:r>
            <a:endParaRPr lang="en-US" sz="1400" dirty="0"/>
          </a:p>
        </p:txBody>
      </p:sp>
      <p:sp>
        <p:nvSpPr>
          <p:cNvPr id="16" name="Shape 12"/>
          <p:cNvSpPr/>
          <p:nvPr/>
        </p:nvSpPr>
        <p:spPr>
          <a:xfrm>
            <a:off x="6289675" y="1781175"/>
            <a:ext cx="2343150" cy="2184400"/>
          </a:xfrm>
          <a:prstGeom prst="roundRect">
            <a:avLst>
              <a:gd name="adj" fmla="val 6831"/>
            </a:avLst>
          </a:prstGeom>
          <a:solidFill>
            <a:srgbClr val="FFFDF9"/>
          </a:solidFill>
          <a:ln w="6350">
            <a:solidFill>
              <a:srgbClr val="E4DED3"/>
            </a:solidFill>
            <a:prstDash val="solid"/>
          </a:ln>
          <a:effectLst>
            <a:outerShdw sx="100000" sy="100000" kx="0" ky="0" algn="bl" rotWithShape="0" blurRad="190500" dist="63500" dir="5400000">
              <a:srgbClr val="1F2A44">
                <a:alpha val="10000"/>
              </a:srgbClr>
            </a:outerShdw>
          </a:effectLst>
        </p:spPr>
      </p:sp>
      <p:sp>
        <p:nvSpPr>
          <p:cNvPr id="17" name="Shape 13"/>
          <p:cNvSpPr/>
          <p:nvPr/>
        </p:nvSpPr>
        <p:spPr>
          <a:xfrm>
            <a:off x="6443980" y="1935482"/>
            <a:ext cx="355600" cy="355600"/>
          </a:xfrm>
          <a:prstGeom prst="roundRect">
            <a:avLst>
              <a:gd name="adj" fmla="val 50000"/>
            </a:avLst>
          </a:prstGeom>
          <a:solidFill>
            <a:srgbClr val="ECE9FB"/>
          </a:solidFill>
          <a:ln/>
        </p:spPr>
      </p:sp>
      <p:pic>
        <p:nvPicPr>
          <p:cNvPr id="18" name="Image 2" descr="Book">    </p:cNvPr>
          <p:cNvPicPr>
            <a:picLocks noChangeAspect="1"/>
          </p:cNvPicPr>
          <p:nvPr/>
        </p:nvPicPr>
        <p:blipFill>
          <a:blip r:embed="rId3"/>
          <a:srcRect l="0" r="0" t="0" b="0"/>
          <a:stretch/>
        </p:blipFill>
        <p:spPr>
          <a:xfrm>
            <a:off x="6526530" y="2018032"/>
            <a:ext cx="190500" cy="190500"/>
          </a:xfrm>
          <a:prstGeom prst="rect">
            <a:avLst/>
          </a:prstGeom>
        </p:spPr>
      </p:pic>
      <p:sp>
        <p:nvSpPr>
          <p:cNvPr id="19" name="Text 14"/>
          <p:cNvSpPr/>
          <p:nvPr/>
        </p:nvSpPr>
        <p:spPr>
          <a:xfrm>
            <a:off x="8253175" y="1973582"/>
            <a:ext cx="225346" cy="304800"/>
          </a:xfrm>
          <a:prstGeom prst="rect">
            <a:avLst/>
          </a:prstGeom>
          <a:noFill/>
          <a:ln/>
        </p:spPr>
        <p:txBody>
          <a:bodyPr wrap="square" lIns="0" tIns="0" rIns="0" bIns="0" rtlCol="0" anchor="t">
            <a:normAutofit/>
          </a:bodyPr>
          <a:lstStyle/>
          <a:p>
            <a:pPr algn="r" indent="0" marL="0">
              <a:lnSpc>
                <a:spcPts val="2200"/>
              </a:lnSpc>
              <a:buNone/>
            </a:pPr>
            <a:r>
              <a:rPr lang="en-US" sz="2200" b="1" dirty="0">
                <a:solidFill>
                  <a:srgbClr val="C9C0F2"/>
                </a:solidFill>
                <a:latin typeface="Georgia" pitchFamily="18" charset="0"/>
                <a:ea typeface="Georgia" pitchFamily="18" charset="-122"/>
                <a:cs typeface="Georgia" pitchFamily="18" charset="-120"/>
              </a:rPr>
              <a:t>3</a:t>
            </a:r>
            <a:endParaRPr lang="en-US" sz="2200" dirty="0"/>
          </a:p>
        </p:txBody>
      </p:sp>
      <p:sp>
        <p:nvSpPr>
          <p:cNvPr id="20" name="Text 15"/>
          <p:cNvSpPr/>
          <p:nvPr/>
        </p:nvSpPr>
        <p:spPr>
          <a:xfrm>
            <a:off x="6443980" y="2354582"/>
            <a:ext cx="2185670" cy="273685"/>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1F2A44"/>
                </a:solidFill>
                <a:latin typeface="Georgia" pitchFamily="18" charset="0"/>
                <a:ea typeface="Georgia" pitchFamily="18" charset="-122"/>
                <a:cs typeface="Georgia" pitchFamily="18" charset="-120"/>
              </a:rPr>
              <a:t>Informed consent</a:t>
            </a:r>
            <a:endParaRPr lang="en-US" sz="1700" dirty="0"/>
          </a:p>
        </p:txBody>
      </p:sp>
      <p:sp>
        <p:nvSpPr>
          <p:cNvPr id="21" name="Text 16"/>
          <p:cNvSpPr/>
          <p:nvPr/>
        </p:nvSpPr>
        <p:spPr>
          <a:xfrm>
            <a:off x="6443980" y="2666364"/>
            <a:ext cx="2095576" cy="247650"/>
          </a:xfrm>
          <a:prstGeom prst="rect">
            <a:avLst/>
          </a:prstGeom>
          <a:noFill/>
          <a:ln/>
        </p:spPr>
        <p:txBody>
          <a:bodyPr wrap="square" lIns="0" tIns="0" rIns="0" bIns="0" rtlCol="0" anchor="t">
            <a:normAutofit/>
          </a:bodyPr>
          <a:lstStyle/>
          <a:p>
            <a:pPr algn="l" indent="0" marL="0">
              <a:lnSpc>
                <a:spcPts val="1750"/>
              </a:lnSpc>
              <a:buNone/>
            </a:pPr>
            <a:r>
              <a:rPr lang="en-US" sz="1400" dirty="0">
                <a:solidFill>
                  <a:srgbClr val="3F4A5E"/>
                </a:solidFill>
                <a:latin typeface="Arial" pitchFamily="34" charset="0"/>
                <a:ea typeface="Arial" pitchFamily="34" charset="-122"/>
                <a:cs typeface="Arial" pitchFamily="34" charset="-120"/>
              </a:rPr>
              <a:t>Decide in writing</a:t>
            </a:r>
            <a:endParaRPr lang="en-US" sz="1400" dirty="0"/>
          </a:p>
        </p:txBody>
      </p:sp>
      <p:sp>
        <p:nvSpPr>
          <p:cNvPr id="22" name="Shape 17"/>
          <p:cNvSpPr/>
          <p:nvPr/>
        </p:nvSpPr>
        <p:spPr>
          <a:xfrm>
            <a:off x="9026525" y="1781175"/>
            <a:ext cx="2343150" cy="2184400"/>
          </a:xfrm>
          <a:prstGeom prst="roundRect">
            <a:avLst>
              <a:gd name="adj" fmla="val 6831"/>
            </a:avLst>
          </a:prstGeom>
          <a:solidFill>
            <a:srgbClr val="FFFDF9"/>
          </a:solidFill>
          <a:ln w="6350">
            <a:solidFill>
              <a:srgbClr val="E4DED3"/>
            </a:solidFill>
            <a:prstDash val="solid"/>
          </a:ln>
          <a:effectLst>
            <a:outerShdw sx="100000" sy="100000" kx="0" ky="0" algn="bl" rotWithShape="0" blurRad="190500" dist="63500" dir="5400000">
              <a:srgbClr val="1F2A44">
                <a:alpha val="10000"/>
              </a:srgbClr>
            </a:outerShdw>
          </a:effectLst>
        </p:spPr>
      </p:sp>
      <p:sp>
        <p:nvSpPr>
          <p:cNvPr id="23" name="Shape 18"/>
          <p:cNvSpPr/>
          <p:nvPr/>
        </p:nvSpPr>
        <p:spPr>
          <a:xfrm>
            <a:off x="9180830" y="1935482"/>
            <a:ext cx="355600" cy="355600"/>
          </a:xfrm>
          <a:prstGeom prst="roundRect">
            <a:avLst>
              <a:gd name="adj" fmla="val 50000"/>
            </a:avLst>
          </a:prstGeom>
          <a:solidFill>
            <a:srgbClr val="ECE9FB"/>
          </a:solidFill>
          <a:ln/>
        </p:spPr>
      </p:sp>
      <p:pic>
        <p:nvPicPr>
          <p:cNvPr id="24" name="Image 3" descr="Trust">    </p:cNvPr>
          <p:cNvPicPr>
            <a:picLocks noChangeAspect="1"/>
          </p:cNvPicPr>
          <p:nvPr/>
        </p:nvPicPr>
        <p:blipFill>
          <a:blip r:embed="rId4"/>
          <a:srcRect l="0" r="0" t="0" b="0"/>
          <a:stretch/>
        </p:blipFill>
        <p:spPr>
          <a:xfrm>
            <a:off x="9263380" y="2018032"/>
            <a:ext cx="190500" cy="190500"/>
          </a:xfrm>
          <a:prstGeom prst="rect">
            <a:avLst/>
          </a:prstGeom>
        </p:spPr>
      </p:pic>
      <p:sp>
        <p:nvSpPr>
          <p:cNvPr id="25" name="Text 19"/>
          <p:cNvSpPr/>
          <p:nvPr/>
        </p:nvSpPr>
        <p:spPr>
          <a:xfrm>
            <a:off x="10983119" y="1973582"/>
            <a:ext cx="232251" cy="304800"/>
          </a:xfrm>
          <a:prstGeom prst="rect">
            <a:avLst/>
          </a:prstGeom>
          <a:noFill/>
          <a:ln/>
        </p:spPr>
        <p:txBody>
          <a:bodyPr wrap="square" lIns="0" tIns="0" rIns="0" bIns="0" rtlCol="0" anchor="t">
            <a:normAutofit/>
          </a:bodyPr>
          <a:lstStyle/>
          <a:p>
            <a:pPr algn="r" indent="0" marL="0">
              <a:lnSpc>
                <a:spcPts val="2200"/>
              </a:lnSpc>
              <a:buNone/>
            </a:pPr>
            <a:r>
              <a:rPr lang="en-US" sz="2200" b="1" dirty="0">
                <a:solidFill>
                  <a:srgbClr val="C9C0F2"/>
                </a:solidFill>
                <a:latin typeface="Georgia" pitchFamily="18" charset="0"/>
                <a:ea typeface="Georgia" pitchFamily="18" charset="-122"/>
                <a:cs typeface="Georgia" pitchFamily="18" charset="-120"/>
              </a:rPr>
              <a:t>4</a:t>
            </a:r>
            <a:endParaRPr lang="en-US" sz="2200" dirty="0"/>
          </a:p>
        </p:txBody>
      </p:sp>
      <p:sp>
        <p:nvSpPr>
          <p:cNvPr id="26" name="Text 20"/>
          <p:cNvSpPr/>
          <p:nvPr/>
        </p:nvSpPr>
        <p:spPr>
          <a:xfrm>
            <a:off x="9180830" y="2354582"/>
            <a:ext cx="2095576" cy="273685"/>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1F2A44"/>
                </a:solidFill>
                <a:latin typeface="Georgia" pitchFamily="18" charset="0"/>
                <a:ea typeface="Georgia" pitchFamily="18" charset="-122"/>
                <a:cs typeface="Georgia" pitchFamily="18" charset="-120"/>
              </a:rPr>
              <a:t>Arrange payment</a:t>
            </a:r>
            <a:endParaRPr lang="en-US" sz="1700" dirty="0"/>
          </a:p>
        </p:txBody>
      </p:sp>
      <p:sp>
        <p:nvSpPr>
          <p:cNvPr id="27" name="Text 21"/>
          <p:cNvSpPr/>
          <p:nvPr/>
        </p:nvSpPr>
        <p:spPr>
          <a:xfrm>
            <a:off x="9180830" y="2666364"/>
            <a:ext cx="2095576" cy="692150"/>
          </a:xfrm>
          <a:prstGeom prst="rect">
            <a:avLst/>
          </a:prstGeom>
          <a:noFill/>
          <a:ln/>
        </p:spPr>
        <p:txBody>
          <a:bodyPr wrap="square" lIns="0" tIns="0" rIns="0" bIns="0" rtlCol="0" anchor="t">
            <a:normAutofit/>
          </a:bodyPr>
          <a:lstStyle/>
          <a:p>
            <a:pPr algn="l" indent="0" marL="0">
              <a:lnSpc>
                <a:spcPts val="1750"/>
              </a:lnSpc>
              <a:buNone/>
            </a:pPr>
            <a:r>
              <a:rPr lang="en-US" sz="1400" dirty="0">
                <a:solidFill>
                  <a:srgbClr val="3F4A5E"/>
                </a:solidFill>
                <a:latin typeface="Arial" pitchFamily="34" charset="0"/>
                <a:ea typeface="Arial" pitchFamily="34" charset="-122"/>
                <a:cs typeface="Arial" pitchFamily="34" charset="-120"/>
              </a:rPr>
              <a:t>Many ways to pay incentivizing more treatment providers</a:t>
            </a:r>
            <a:endParaRPr lang="en-US" sz="1400" dirty="0"/>
          </a:p>
        </p:txBody>
      </p:sp>
      <p:sp>
        <p:nvSpPr>
          <p:cNvPr id="28" name="Shape 22"/>
          <p:cNvSpPr/>
          <p:nvPr/>
        </p:nvSpPr>
        <p:spPr>
          <a:xfrm>
            <a:off x="9026525" y="4327525"/>
            <a:ext cx="2343150" cy="1714500"/>
          </a:xfrm>
          <a:prstGeom prst="roundRect">
            <a:avLst>
              <a:gd name="adj" fmla="val 8704"/>
            </a:avLst>
          </a:prstGeom>
          <a:solidFill>
            <a:srgbClr val="FFFDF9"/>
          </a:solidFill>
          <a:ln w="6350">
            <a:solidFill>
              <a:srgbClr val="E4DED3"/>
            </a:solidFill>
            <a:prstDash val="solid"/>
          </a:ln>
          <a:effectLst>
            <a:outerShdw sx="100000" sy="100000" kx="0" ky="0" algn="bl" rotWithShape="0" blurRad="190500" dist="63500" dir="5400000">
              <a:srgbClr val="1F2A44">
                <a:alpha val="10000"/>
              </a:srgbClr>
            </a:outerShdw>
          </a:effectLst>
        </p:spPr>
      </p:sp>
      <p:sp>
        <p:nvSpPr>
          <p:cNvPr id="29" name="Shape 23"/>
          <p:cNvSpPr/>
          <p:nvPr/>
        </p:nvSpPr>
        <p:spPr>
          <a:xfrm>
            <a:off x="9180830" y="4479451"/>
            <a:ext cx="355600" cy="355600"/>
          </a:xfrm>
          <a:prstGeom prst="roundRect">
            <a:avLst>
              <a:gd name="adj" fmla="val 50000"/>
            </a:avLst>
          </a:prstGeom>
          <a:solidFill>
            <a:srgbClr val="ECE9FB"/>
          </a:solidFill>
          <a:ln/>
        </p:spPr>
      </p:sp>
      <p:pic>
        <p:nvPicPr>
          <p:cNvPr id="30" name="Image 4" descr="Activity">    </p:cNvPr>
          <p:cNvPicPr>
            <a:picLocks noChangeAspect="1"/>
          </p:cNvPicPr>
          <p:nvPr/>
        </p:nvPicPr>
        <p:blipFill>
          <a:blip r:embed="rId5"/>
          <a:srcRect l="0" r="0" t="0" b="0"/>
          <a:stretch/>
        </p:blipFill>
        <p:spPr>
          <a:xfrm>
            <a:off x="9263380" y="4562001"/>
            <a:ext cx="190500" cy="190500"/>
          </a:xfrm>
          <a:prstGeom prst="rect">
            <a:avLst/>
          </a:prstGeom>
        </p:spPr>
      </p:pic>
      <p:sp>
        <p:nvSpPr>
          <p:cNvPr id="31" name="Text 24"/>
          <p:cNvSpPr/>
          <p:nvPr/>
        </p:nvSpPr>
        <p:spPr>
          <a:xfrm>
            <a:off x="10997168" y="4517470"/>
            <a:ext cx="218202" cy="304800"/>
          </a:xfrm>
          <a:prstGeom prst="rect">
            <a:avLst/>
          </a:prstGeom>
          <a:noFill/>
          <a:ln/>
        </p:spPr>
        <p:txBody>
          <a:bodyPr wrap="square" lIns="0" tIns="0" rIns="0" bIns="0" rtlCol="0" anchor="t">
            <a:normAutofit/>
          </a:bodyPr>
          <a:lstStyle/>
          <a:p>
            <a:pPr algn="r" indent="0" marL="0">
              <a:lnSpc>
                <a:spcPts val="2200"/>
              </a:lnSpc>
              <a:buNone/>
            </a:pPr>
            <a:r>
              <a:rPr lang="en-US" sz="2200" b="1" dirty="0">
                <a:solidFill>
                  <a:srgbClr val="C9C0F2"/>
                </a:solidFill>
                <a:latin typeface="Georgia" pitchFamily="18" charset="0"/>
                <a:ea typeface="Georgia" pitchFamily="18" charset="-122"/>
                <a:cs typeface="Georgia" pitchFamily="18" charset="-120"/>
              </a:rPr>
              <a:t>5</a:t>
            </a:r>
            <a:endParaRPr lang="en-US" sz="2200" dirty="0"/>
          </a:p>
        </p:txBody>
      </p:sp>
      <p:sp>
        <p:nvSpPr>
          <p:cNvPr id="32" name="Text 25"/>
          <p:cNvSpPr/>
          <p:nvPr/>
        </p:nvSpPr>
        <p:spPr>
          <a:xfrm>
            <a:off x="9180830" y="4896089"/>
            <a:ext cx="2095576" cy="515144"/>
          </a:xfrm>
          <a:prstGeom prst="rect">
            <a:avLst/>
          </a:prstGeom>
          <a:noFill/>
          <a:ln/>
        </p:spPr>
        <p:txBody>
          <a:bodyPr wrap="square" lIns="0" tIns="0" rIns="0" bIns="0" rtlCol="0" anchor="t">
            <a:normAutofit/>
          </a:bodyPr>
          <a:lstStyle/>
          <a:p>
            <a:pPr algn="l" indent="0" marL="0">
              <a:lnSpc>
                <a:spcPts val="1937"/>
              </a:lnSpc>
              <a:buNone/>
            </a:pPr>
            <a:r>
              <a:rPr lang="en-US" sz="1684" b="1" dirty="0">
                <a:solidFill>
                  <a:srgbClr val="1F2A44"/>
                </a:solidFill>
                <a:latin typeface="Georgia" pitchFamily="18" charset="0"/>
                <a:ea typeface="Georgia" pitchFamily="18" charset="-122"/>
                <a:cs typeface="Georgia" pitchFamily="18" charset="-120"/>
              </a:rPr>
              <a:t>Treatment and tracking</a:t>
            </a:r>
            <a:endParaRPr lang="en-US" sz="1684" dirty="0"/>
          </a:p>
        </p:txBody>
      </p:sp>
      <p:sp>
        <p:nvSpPr>
          <p:cNvPr id="33" name="Text 26"/>
          <p:cNvSpPr/>
          <p:nvPr/>
        </p:nvSpPr>
        <p:spPr>
          <a:xfrm>
            <a:off x="9180830" y="5449332"/>
            <a:ext cx="2095576" cy="463788"/>
          </a:xfrm>
          <a:prstGeom prst="rect">
            <a:avLst/>
          </a:prstGeom>
          <a:noFill/>
          <a:ln/>
        </p:spPr>
        <p:txBody>
          <a:bodyPr wrap="square" lIns="0" tIns="0" rIns="0" bIns="0" rtlCol="0" anchor="t">
            <a:normAutofit/>
          </a:bodyPr>
          <a:lstStyle/>
          <a:p>
            <a:pPr algn="l" indent="0" marL="0">
              <a:lnSpc>
                <a:spcPts val="1734"/>
              </a:lnSpc>
              <a:buNone/>
            </a:pPr>
            <a:r>
              <a:rPr lang="en-US" sz="1387" dirty="0">
                <a:solidFill>
                  <a:srgbClr val="3F4A5E"/>
                </a:solidFill>
                <a:latin typeface="Arial" pitchFamily="34" charset="0"/>
                <a:ea typeface="Arial" pitchFamily="34" charset="-122"/>
                <a:cs typeface="Arial" pitchFamily="34" charset="-120"/>
              </a:rPr>
              <a:t>Share positive and negative outcome data</a:t>
            </a:r>
            <a:endParaRPr lang="en-US" sz="1387" dirty="0"/>
          </a:p>
        </p:txBody>
      </p:sp>
      <p:sp>
        <p:nvSpPr>
          <p:cNvPr id="34" name="Shape 27"/>
          <p:cNvSpPr/>
          <p:nvPr/>
        </p:nvSpPr>
        <p:spPr>
          <a:xfrm>
            <a:off x="6289675" y="4327525"/>
            <a:ext cx="2343150" cy="1714500"/>
          </a:xfrm>
          <a:prstGeom prst="roundRect">
            <a:avLst>
              <a:gd name="adj" fmla="val 8704"/>
            </a:avLst>
          </a:prstGeom>
          <a:solidFill>
            <a:srgbClr val="ECE9FB"/>
          </a:solidFill>
          <a:ln w="6350">
            <a:solidFill>
              <a:srgbClr val="C9C0F2"/>
            </a:solidFill>
            <a:prstDash val="solid"/>
          </a:ln>
          <a:effectLst>
            <a:outerShdw sx="100000" sy="100000" kx="0" ky="0" algn="bl" rotWithShape="0" blurRad="190500" dist="63500" dir="5400000">
              <a:srgbClr val="1F2A44">
                <a:alpha val="10000"/>
              </a:srgbClr>
            </a:outerShdw>
          </a:effectLst>
        </p:spPr>
      </p:sp>
      <p:sp>
        <p:nvSpPr>
          <p:cNvPr id="35" name="Shape 28"/>
          <p:cNvSpPr/>
          <p:nvPr/>
        </p:nvSpPr>
        <p:spPr>
          <a:xfrm>
            <a:off x="6443980" y="4481832"/>
            <a:ext cx="355600" cy="355600"/>
          </a:xfrm>
          <a:prstGeom prst="roundRect">
            <a:avLst>
              <a:gd name="adj" fmla="val 50000"/>
            </a:avLst>
          </a:prstGeom>
          <a:solidFill>
            <a:srgbClr val="FFFDF9"/>
          </a:solidFill>
          <a:ln/>
        </p:spPr>
      </p:sp>
      <p:pic>
        <p:nvPicPr>
          <p:cNvPr id="36" name="Image 5" descr="Chart">    </p:cNvPr>
          <p:cNvPicPr>
            <a:picLocks noChangeAspect="1"/>
          </p:cNvPicPr>
          <p:nvPr/>
        </p:nvPicPr>
        <p:blipFill>
          <a:blip r:embed="rId6"/>
          <a:srcRect l="0" r="0" t="0" b="0"/>
          <a:stretch/>
        </p:blipFill>
        <p:spPr>
          <a:xfrm>
            <a:off x="6526530" y="4564382"/>
            <a:ext cx="190500" cy="190500"/>
          </a:xfrm>
          <a:prstGeom prst="rect">
            <a:avLst/>
          </a:prstGeom>
        </p:spPr>
      </p:pic>
      <p:sp>
        <p:nvSpPr>
          <p:cNvPr id="37" name="Text 29"/>
          <p:cNvSpPr/>
          <p:nvPr/>
        </p:nvSpPr>
        <p:spPr>
          <a:xfrm>
            <a:off x="8246666" y="4519932"/>
            <a:ext cx="231854" cy="304800"/>
          </a:xfrm>
          <a:prstGeom prst="rect">
            <a:avLst/>
          </a:prstGeom>
          <a:noFill/>
          <a:ln/>
        </p:spPr>
        <p:txBody>
          <a:bodyPr wrap="square" lIns="0" tIns="0" rIns="0" bIns="0" rtlCol="0" anchor="t">
            <a:normAutofit/>
          </a:bodyPr>
          <a:lstStyle/>
          <a:p>
            <a:pPr algn="r" indent="0" marL="0">
              <a:lnSpc>
                <a:spcPts val="2200"/>
              </a:lnSpc>
              <a:buNone/>
            </a:pPr>
            <a:r>
              <a:rPr lang="en-US" sz="2200" b="1" dirty="0">
                <a:solidFill>
                  <a:srgbClr val="A99BEA"/>
                </a:solidFill>
                <a:latin typeface="Georgia" pitchFamily="18" charset="0"/>
                <a:ea typeface="Georgia" pitchFamily="18" charset="-122"/>
                <a:cs typeface="Georgia" pitchFamily="18" charset="-120"/>
              </a:rPr>
              <a:t>6</a:t>
            </a:r>
            <a:endParaRPr lang="en-US" sz="2200" dirty="0"/>
          </a:p>
        </p:txBody>
      </p:sp>
      <p:sp>
        <p:nvSpPr>
          <p:cNvPr id="38" name="Text 30"/>
          <p:cNvSpPr/>
          <p:nvPr/>
        </p:nvSpPr>
        <p:spPr>
          <a:xfrm>
            <a:off x="6443980" y="4900932"/>
            <a:ext cx="2095576" cy="273685"/>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1F2A44"/>
                </a:solidFill>
                <a:latin typeface="Georgia" pitchFamily="18" charset="0"/>
                <a:ea typeface="Georgia" pitchFamily="18" charset="-122"/>
                <a:cs typeface="Georgia" pitchFamily="18" charset="-120"/>
              </a:rPr>
              <a:t>Results reported</a:t>
            </a:r>
            <a:endParaRPr lang="en-US" sz="1700" dirty="0"/>
          </a:p>
        </p:txBody>
      </p:sp>
      <p:sp>
        <p:nvSpPr>
          <p:cNvPr id="39" name="Text 31"/>
          <p:cNvSpPr/>
          <p:nvPr/>
        </p:nvSpPr>
        <p:spPr>
          <a:xfrm>
            <a:off x="6443980" y="5212714"/>
            <a:ext cx="2095576" cy="469900"/>
          </a:xfrm>
          <a:prstGeom prst="rect">
            <a:avLst/>
          </a:prstGeom>
          <a:noFill/>
          <a:ln/>
        </p:spPr>
        <p:txBody>
          <a:bodyPr wrap="square" lIns="0" tIns="0" rIns="0" bIns="0" rtlCol="0" anchor="t">
            <a:normAutofit/>
          </a:bodyPr>
          <a:lstStyle/>
          <a:p>
            <a:pPr algn="l" indent="0" marL="0">
              <a:lnSpc>
                <a:spcPts val="1750"/>
              </a:lnSpc>
              <a:buNone/>
            </a:pPr>
            <a:r>
              <a:rPr lang="en-US" sz="1400" dirty="0">
                <a:solidFill>
                  <a:srgbClr val="3F4A5E"/>
                </a:solidFill>
                <a:latin typeface="Arial" pitchFamily="34" charset="0"/>
                <a:ea typeface="Arial" pitchFamily="34" charset="-122"/>
                <a:cs typeface="Arial" pitchFamily="34" charset="-120"/>
              </a:rPr>
              <a:t>De-identified, in a public registry</a:t>
            </a:r>
            <a:endParaRPr lang="en-US" sz="1400" dirty="0"/>
          </a:p>
        </p:txBody>
      </p:sp>
      <p:sp>
        <p:nvSpPr>
          <p:cNvPr id="40" name="Shape 32"/>
          <p:cNvSpPr/>
          <p:nvPr/>
        </p:nvSpPr>
        <p:spPr>
          <a:xfrm>
            <a:off x="3552825" y="4327525"/>
            <a:ext cx="2343150" cy="1714500"/>
          </a:xfrm>
          <a:prstGeom prst="roundRect">
            <a:avLst>
              <a:gd name="adj" fmla="val 8704"/>
            </a:avLst>
          </a:prstGeom>
          <a:solidFill>
            <a:srgbClr val="5B47D6"/>
          </a:solidFill>
          <a:ln w="6350">
            <a:solidFill>
              <a:srgbClr val="5B47D6"/>
            </a:solidFill>
            <a:prstDash val="solid"/>
          </a:ln>
          <a:effectLst>
            <a:outerShdw sx="100000" sy="100000" kx="0" ky="0" algn="bl" rotWithShape="0" blurRad="190500" dist="63500" dir="5400000">
              <a:srgbClr val="1F2A44">
                <a:alpha val="10000"/>
              </a:srgbClr>
            </a:outerShdw>
          </a:effectLst>
        </p:spPr>
      </p:sp>
      <p:sp>
        <p:nvSpPr>
          <p:cNvPr id="41" name="Shape 33"/>
          <p:cNvSpPr/>
          <p:nvPr/>
        </p:nvSpPr>
        <p:spPr>
          <a:xfrm>
            <a:off x="3707130" y="4479451"/>
            <a:ext cx="355600" cy="355600"/>
          </a:xfrm>
          <a:prstGeom prst="roundRect">
            <a:avLst>
              <a:gd name="adj" fmla="val 50000"/>
            </a:avLst>
          </a:prstGeom>
          <a:solidFill>
            <a:srgbClr val="F2A65A"/>
          </a:solidFill>
          <a:ln/>
        </p:spPr>
      </p:sp>
      <p:pic>
        <p:nvPicPr>
          <p:cNvPr id="42" name="Image 6" descr="Star">    </p:cNvPr>
          <p:cNvPicPr>
            <a:picLocks noChangeAspect="1"/>
          </p:cNvPicPr>
          <p:nvPr/>
        </p:nvPicPr>
        <p:blipFill>
          <a:blip r:embed="rId7"/>
          <a:srcRect l="0" r="0" t="0" b="0"/>
          <a:stretch/>
        </p:blipFill>
        <p:spPr>
          <a:xfrm>
            <a:off x="3789680" y="4562001"/>
            <a:ext cx="190500" cy="190500"/>
          </a:xfrm>
          <a:prstGeom prst="rect">
            <a:avLst/>
          </a:prstGeom>
        </p:spPr>
      </p:pic>
      <p:sp>
        <p:nvSpPr>
          <p:cNvPr id="43" name="Text 34"/>
          <p:cNvSpPr/>
          <p:nvPr/>
        </p:nvSpPr>
        <p:spPr>
          <a:xfrm>
            <a:off x="5536009" y="4517470"/>
            <a:ext cx="205661" cy="304800"/>
          </a:xfrm>
          <a:prstGeom prst="rect">
            <a:avLst/>
          </a:prstGeom>
          <a:noFill/>
          <a:ln/>
        </p:spPr>
        <p:txBody>
          <a:bodyPr wrap="square" lIns="0" tIns="0" rIns="0" bIns="0" rtlCol="0" anchor="t">
            <a:normAutofit/>
          </a:bodyPr>
          <a:lstStyle/>
          <a:p>
            <a:pPr algn="r" indent="0" marL="0">
              <a:lnSpc>
                <a:spcPts val="2200"/>
              </a:lnSpc>
              <a:buNone/>
            </a:pPr>
            <a:r>
              <a:rPr lang="en-US" sz="2200" b="1" dirty="0">
                <a:solidFill>
                  <a:srgbClr val="F2A65A"/>
                </a:solidFill>
                <a:latin typeface="Georgia" pitchFamily="18" charset="0"/>
                <a:ea typeface="Georgia" pitchFamily="18" charset="-122"/>
                <a:cs typeface="Georgia" pitchFamily="18" charset="-120"/>
              </a:rPr>
              <a:t>7</a:t>
            </a:r>
            <a:endParaRPr lang="en-US" sz="2200" dirty="0"/>
          </a:p>
        </p:txBody>
      </p:sp>
      <p:sp>
        <p:nvSpPr>
          <p:cNvPr id="44" name="Text 35"/>
          <p:cNvSpPr/>
          <p:nvPr/>
        </p:nvSpPr>
        <p:spPr>
          <a:xfrm>
            <a:off x="3707130" y="4896089"/>
            <a:ext cx="2095576" cy="515144"/>
          </a:xfrm>
          <a:prstGeom prst="rect">
            <a:avLst/>
          </a:prstGeom>
          <a:noFill/>
          <a:ln/>
        </p:spPr>
        <p:txBody>
          <a:bodyPr wrap="square" lIns="0" tIns="0" rIns="0" bIns="0" rtlCol="0" anchor="t">
            <a:normAutofit/>
          </a:bodyPr>
          <a:lstStyle/>
          <a:p>
            <a:pPr algn="l" indent="0" marL="0">
              <a:lnSpc>
                <a:spcPts val="1937"/>
              </a:lnSpc>
              <a:buNone/>
            </a:pPr>
            <a:r>
              <a:rPr lang="en-US" sz="1684" b="1" dirty="0">
                <a:solidFill>
                  <a:srgbClr val="FAF7F2"/>
                </a:solidFill>
                <a:latin typeface="Georgia" pitchFamily="18" charset="0"/>
                <a:ea typeface="Georgia" pitchFamily="18" charset="-122"/>
                <a:cs typeface="Georgia" pitchFamily="18" charset="-120"/>
              </a:rPr>
              <a:t>Rankings and labels improve</a:t>
            </a:r>
            <a:endParaRPr lang="en-US" sz="1684" dirty="0"/>
          </a:p>
        </p:txBody>
      </p:sp>
      <p:sp>
        <p:nvSpPr>
          <p:cNvPr id="45" name="Text 36"/>
          <p:cNvSpPr/>
          <p:nvPr/>
        </p:nvSpPr>
        <p:spPr>
          <a:xfrm>
            <a:off x="3707130" y="5449332"/>
            <a:ext cx="2095576" cy="463788"/>
          </a:xfrm>
          <a:prstGeom prst="rect">
            <a:avLst/>
          </a:prstGeom>
          <a:noFill/>
          <a:ln/>
        </p:spPr>
        <p:txBody>
          <a:bodyPr wrap="square" lIns="0" tIns="0" rIns="0" bIns="0" rtlCol="0" anchor="t">
            <a:normAutofit/>
          </a:bodyPr>
          <a:lstStyle/>
          <a:p>
            <a:pPr algn="l" indent="0" marL="0">
              <a:lnSpc>
                <a:spcPts val="1734"/>
              </a:lnSpc>
              <a:buNone/>
            </a:pPr>
            <a:r>
              <a:rPr lang="en-US" sz="1387" dirty="0">
                <a:solidFill>
                  <a:srgbClr val="E4E0FA"/>
                </a:solidFill>
                <a:latin typeface="Arial" pitchFamily="34" charset="0"/>
                <a:ea typeface="Arial" pitchFamily="34" charset="-122"/>
                <a:cs typeface="Arial" pitchFamily="34" charset="-120"/>
              </a:rPr>
              <a:t>Next patient chooses better</a:t>
            </a:r>
            <a:endParaRPr lang="en-US" sz="1387" dirty="0"/>
          </a:p>
        </p:txBody>
      </p:sp>
      <p:pic>
        <p:nvPicPr>
          <p:cNvPr id="46" name="Image 7" descr="connector">    </p:cNvPr>
          <p:cNvPicPr>
            <a:picLocks noChangeAspect="1"/>
          </p:cNvPicPr>
          <p:nvPr/>
        </p:nvPicPr>
        <p:blipFill>
          <a:blip r:embed="rId8"/>
          <a:srcRect l="0" r="0" t="0" b="0"/>
          <a:stretch/>
        </p:blipFill>
        <p:spPr>
          <a:xfrm>
            <a:off x="3124200" y="2794000"/>
            <a:ext cx="463550" cy="152400"/>
          </a:xfrm>
          <a:prstGeom prst="rect">
            <a:avLst/>
          </a:prstGeom>
        </p:spPr>
      </p:pic>
      <p:pic>
        <p:nvPicPr>
          <p:cNvPr id="47" name="Image 8" descr="connector">    </p:cNvPr>
          <p:cNvPicPr>
            <a:picLocks noChangeAspect="1"/>
          </p:cNvPicPr>
          <p:nvPr/>
        </p:nvPicPr>
        <p:blipFill>
          <a:blip r:embed="rId9"/>
          <a:srcRect l="0" r="0" t="0" b="0"/>
          <a:stretch/>
        </p:blipFill>
        <p:spPr>
          <a:xfrm>
            <a:off x="5861050" y="2794000"/>
            <a:ext cx="463550" cy="152400"/>
          </a:xfrm>
          <a:prstGeom prst="rect">
            <a:avLst/>
          </a:prstGeom>
        </p:spPr>
      </p:pic>
      <p:pic>
        <p:nvPicPr>
          <p:cNvPr id="48" name="Image 9" descr="connector">    </p:cNvPr>
          <p:cNvPicPr>
            <a:picLocks noChangeAspect="1"/>
          </p:cNvPicPr>
          <p:nvPr/>
        </p:nvPicPr>
        <p:blipFill>
          <a:blip r:embed="rId10"/>
          <a:srcRect l="0" r="0" t="0" b="0"/>
          <a:stretch/>
        </p:blipFill>
        <p:spPr>
          <a:xfrm>
            <a:off x="8597900" y="2794000"/>
            <a:ext cx="463550" cy="152400"/>
          </a:xfrm>
          <a:prstGeom prst="rect">
            <a:avLst/>
          </a:prstGeom>
        </p:spPr>
      </p:pic>
      <p:pic>
        <p:nvPicPr>
          <p:cNvPr id="49" name="Image 10" descr="connector">    </p:cNvPr>
          <p:cNvPicPr>
            <a:picLocks noChangeAspect="1"/>
          </p:cNvPicPr>
          <p:nvPr/>
        </p:nvPicPr>
        <p:blipFill>
          <a:blip r:embed="rId11"/>
          <a:srcRect l="0" r="0" t="0" b="0"/>
          <a:stretch/>
        </p:blipFill>
        <p:spPr>
          <a:xfrm>
            <a:off x="10121900" y="3917950"/>
            <a:ext cx="152400" cy="457200"/>
          </a:xfrm>
          <a:prstGeom prst="rect">
            <a:avLst/>
          </a:prstGeom>
        </p:spPr>
      </p:pic>
      <p:pic>
        <p:nvPicPr>
          <p:cNvPr id="50" name="Image 11" descr="connector">    </p:cNvPr>
          <p:cNvPicPr>
            <a:picLocks noChangeAspect="1"/>
          </p:cNvPicPr>
          <p:nvPr/>
        </p:nvPicPr>
        <p:blipFill>
          <a:blip r:embed="rId12"/>
          <a:srcRect l="0" r="0" t="0" b="0"/>
          <a:stretch/>
        </p:blipFill>
        <p:spPr>
          <a:xfrm>
            <a:off x="8597900" y="5105400"/>
            <a:ext cx="463550" cy="152400"/>
          </a:xfrm>
          <a:prstGeom prst="rect">
            <a:avLst/>
          </a:prstGeom>
        </p:spPr>
      </p:pic>
      <p:pic>
        <p:nvPicPr>
          <p:cNvPr id="51" name="Image 12" descr="connector">    </p:cNvPr>
          <p:cNvPicPr>
            <a:picLocks noChangeAspect="1"/>
          </p:cNvPicPr>
          <p:nvPr/>
        </p:nvPicPr>
        <p:blipFill>
          <a:blip r:embed="rId13"/>
          <a:srcRect l="0" r="0" t="0" b="0"/>
          <a:stretch/>
        </p:blipFill>
        <p:spPr>
          <a:xfrm>
            <a:off x="5861050" y="5105400"/>
            <a:ext cx="463550" cy="152400"/>
          </a:xfrm>
          <a:prstGeom prst="rect">
            <a:avLst/>
          </a:prstGeom>
        </p:spPr>
      </p:pic>
      <p:pic>
        <p:nvPicPr>
          <p:cNvPr id="52" name="Image 13" descr="connector">    </p:cNvPr>
          <p:cNvPicPr>
            <a:picLocks noChangeAspect="1"/>
          </p:cNvPicPr>
          <p:nvPr/>
        </p:nvPicPr>
        <p:blipFill>
          <a:blip r:embed="rId14"/>
          <a:srcRect l="0" r="0" t="0" b="0"/>
          <a:stretch/>
        </p:blipFill>
        <p:spPr>
          <a:xfrm>
            <a:off x="1911350" y="3930650"/>
            <a:ext cx="1676400" cy="1327150"/>
          </a:xfrm>
          <a:prstGeom prst="rect">
            <a:avLst/>
          </a:prstGeom>
        </p:spPr>
      </p:pic>
      <p:sp>
        <p:nvSpPr>
          <p:cNvPr id="53" name="Text 37"/>
          <p:cNvSpPr/>
          <p:nvPr/>
        </p:nvSpPr>
        <p:spPr>
          <a:xfrm>
            <a:off x="812800" y="5372100"/>
            <a:ext cx="2681605" cy="501650"/>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A64E16"/>
                </a:solidFill>
                <a:latin typeface="Arial" pitchFamily="34" charset="0"/>
                <a:ea typeface="Arial" pitchFamily="34" charset="-122"/>
                <a:cs typeface="Arial" pitchFamily="34" charset="-120"/>
              </a:rPr>
              <a:t>Then it starts again, with better data</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5B47D6"/>
                </a:solidFill>
                <a:latin typeface="Arial" pitchFamily="34" charset="0"/>
                <a:ea typeface="Arial" pitchFamily="34" charset="-122"/>
                <a:cs typeface="Arial" pitchFamily="34" charset="-120"/>
              </a:rPr>
              <a:t>STEP 1 · EXPLORE OPTIONS</a:t>
            </a:r>
            <a:endParaRPr lang="en-US" sz="1400" dirty="0"/>
          </a:p>
        </p:txBody>
      </p:sp>
      <p:sp>
        <p:nvSpPr>
          <p:cNvPr id="3" name="Text 1"/>
          <p:cNvSpPr/>
          <p:nvPr/>
        </p:nvSpPr>
        <p:spPr>
          <a:xfrm>
            <a:off x="812800" y="1137921"/>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F2A44"/>
                </a:solidFill>
                <a:latin typeface="Georgia" pitchFamily="18" charset="0"/>
                <a:ea typeface="Georgia" pitchFamily="18" charset="-122"/>
                <a:cs typeface="Georgia" pitchFamily="18" charset="-120"/>
              </a:rPr>
              <a:t>Margaret starts by comparing her options</a:t>
            </a:r>
            <a:endParaRPr lang="en-US" sz="3200" dirty="0"/>
          </a:p>
        </p:txBody>
      </p:sp>
      <p:sp>
        <p:nvSpPr>
          <p:cNvPr id="4" name="Shape 2"/>
          <p:cNvSpPr/>
          <p:nvPr/>
        </p:nvSpPr>
        <p:spPr>
          <a:xfrm>
            <a:off x="812800" y="1960882"/>
            <a:ext cx="711200" cy="711200"/>
          </a:xfrm>
          <a:prstGeom prst="roundRect">
            <a:avLst>
              <a:gd name="adj" fmla="val 50000"/>
            </a:avLst>
          </a:prstGeom>
          <a:solidFill>
            <a:srgbClr val="ECE9FB"/>
          </a:solidFill>
          <a:ln/>
        </p:spPr>
      </p:sp>
      <p:pic>
        <p:nvPicPr>
          <p:cNvPr id="5" name="Image 0" descr="Chart">    </p:cNvPr>
          <p:cNvPicPr>
            <a:picLocks noChangeAspect="1"/>
          </p:cNvPicPr>
          <p:nvPr/>
        </p:nvPicPr>
        <p:blipFill>
          <a:blip r:embed="rId1"/>
          <a:srcRect l="0" r="0" t="0" b="0"/>
          <a:stretch/>
        </p:blipFill>
        <p:spPr>
          <a:xfrm>
            <a:off x="990600" y="2138682"/>
            <a:ext cx="355600" cy="355600"/>
          </a:xfrm>
          <a:prstGeom prst="rect">
            <a:avLst/>
          </a:prstGeom>
        </p:spPr>
      </p:pic>
      <p:sp>
        <p:nvSpPr>
          <p:cNvPr id="6" name="Text 3"/>
          <p:cNvSpPr/>
          <p:nvPr/>
        </p:nvSpPr>
        <p:spPr>
          <a:xfrm>
            <a:off x="1752600" y="1960882"/>
            <a:ext cx="9915398" cy="434340"/>
          </a:xfrm>
          <a:prstGeom prst="rect">
            <a:avLst/>
          </a:prstGeom>
          <a:noFill/>
          <a:ln/>
        </p:spPr>
        <p:txBody>
          <a:bodyPr wrap="square" lIns="0" tIns="0" rIns="0" bIns="0" rtlCol="0" anchor="t">
            <a:normAutofit/>
          </a:bodyPr>
          <a:lstStyle/>
          <a:p>
            <a:pPr algn="l" indent="0" marL="0">
              <a:lnSpc>
                <a:spcPts val="3220"/>
              </a:lnSpc>
              <a:buNone/>
            </a:pPr>
            <a:r>
              <a:rPr lang="en-US" sz="2800" b="1" dirty="0">
                <a:solidFill>
                  <a:srgbClr val="1F2A44"/>
                </a:solidFill>
                <a:latin typeface="Georgia" pitchFamily="18" charset="0"/>
                <a:ea typeface="Georgia" pitchFamily="18" charset="-122"/>
                <a:cs typeface="Georgia" pitchFamily="18" charset="-120"/>
              </a:rPr>
              <a:t>Outcome labels and rankings</a:t>
            </a:r>
            <a:endParaRPr lang="en-US" sz="2800" dirty="0"/>
          </a:p>
        </p:txBody>
      </p:sp>
      <p:sp>
        <p:nvSpPr>
          <p:cNvPr id="7" name="Text 4"/>
          <p:cNvSpPr/>
          <p:nvPr/>
        </p:nvSpPr>
        <p:spPr>
          <a:xfrm>
            <a:off x="1752600" y="2420621"/>
            <a:ext cx="9915398" cy="779780"/>
          </a:xfrm>
          <a:prstGeom prst="rect">
            <a:avLst/>
          </a:prstGeom>
          <a:noFill/>
          <a:ln/>
        </p:spPr>
        <p:txBody>
          <a:bodyPr wrap="square" lIns="0" tIns="0" rIns="0" bIns="0" rtlCol="0" anchor="t">
            <a:normAutofit/>
          </a:bodyPr>
          <a:lstStyle/>
          <a:p>
            <a:pPr algn="l" indent="0" marL="0">
              <a:lnSpc>
                <a:spcPts val="2970"/>
              </a:lnSpc>
              <a:buNone/>
            </a:pPr>
            <a:r>
              <a:rPr lang="en-US" sz="2200" dirty="0">
                <a:solidFill>
                  <a:srgbClr val="3F4A5E"/>
                </a:solidFill>
                <a:latin typeface="Arial" pitchFamily="34" charset="0"/>
                <a:ea typeface="Arial" pitchFamily="34" charset="-122"/>
                <a:cs typeface="Arial" pitchFamily="34" charset="-120"/>
              </a:rPr>
              <a:t>Compare quantitative benefits, side effects and costs from the universe of clinical and real-world data.</a:t>
            </a:r>
            <a:endParaRPr lang="en-US" sz="2200" dirty="0"/>
          </a:p>
        </p:txBody>
      </p:sp>
      <p:sp>
        <p:nvSpPr>
          <p:cNvPr id="8" name="Shape 5"/>
          <p:cNvSpPr/>
          <p:nvPr/>
        </p:nvSpPr>
        <p:spPr>
          <a:xfrm>
            <a:off x="812800" y="3479800"/>
            <a:ext cx="711200" cy="711200"/>
          </a:xfrm>
          <a:prstGeom prst="roundRect">
            <a:avLst>
              <a:gd name="adj" fmla="val 50000"/>
            </a:avLst>
          </a:prstGeom>
          <a:solidFill>
            <a:srgbClr val="ECE9FB"/>
          </a:solidFill>
          <a:ln/>
        </p:spPr>
      </p:sp>
      <p:pic>
        <p:nvPicPr>
          <p:cNvPr id="9" name="Image 1" descr="Search">    </p:cNvPr>
          <p:cNvPicPr>
            <a:picLocks noChangeAspect="1"/>
          </p:cNvPicPr>
          <p:nvPr/>
        </p:nvPicPr>
        <p:blipFill>
          <a:blip r:embed="rId2"/>
          <a:srcRect l="0" r="0" t="0" b="0"/>
          <a:stretch/>
        </p:blipFill>
        <p:spPr>
          <a:xfrm>
            <a:off x="990600" y="3657600"/>
            <a:ext cx="355600" cy="355600"/>
          </a:xfrm>
          <a:prstGeom prst="rect">
            <a:avLst/>
          </a:prstGeom>
        </p:spPr>
      </p:pic>
      <p:sp>
        <p:nvSpPr>
          <p:cNvPr id="10" name="Text 6"/>
          <p:cNvSpPr/>
          <p:nvPr/>
        </p:nvSpPr>
        <p:spPr>
          <a:xfrm>
            <a:off x="1752600" y="3479800"/>
            <a:ext cx="9915398" cy="434340"/>
          </a:xfrm>
          <a:prstGeom prst="rect">
            <a:avLst/>
          </a:prstGeom>
          <a:noFill/>
          <a:ln/>
        </p:spPr>
        <p:txBody>
          <a:bodyPr wrap="square" lIns="0" tIns="0" rIns="0" bIns="0" rtlCol="0" anchor="t">
            <a:normAutofit/>
          </a:bodyPr>
          <a:lstStyle/>
          <a:p>
            <a:pPr algn="l" indent="0" marL="0">
              <a:lnSpc>
                <a:spcPts val="3220"/>
              </a:lnSpc>
              <a:buNone/>
            </a:pPr>
            <a:r>
              <a:rPr lang="en-US" sz="2800" b="1" dirty="0">
                <a:solidFill>
                  <a:srgbClr val="1F2A44"/>
                </a:solidFill>
                <a:latin typeface="Georgia" pitchFamily="18" charset="0"/>
                <a:ea typeface="Georgia" pitchFamily="18" charset="-122"/>
                <a:cs typeface="Georgia" pitchFamily="18" charset="-120"/>
              </a:rPr>
              <a:t>Public directory of providers</a:t>
            </a:r>
            <a:endParaRPr lang="en-US" sz="2800" dirty="0"/>
          </a:p>
        </p:txBody>
      </p:sp>
      <p:sp>
        <p:nvSpPr>
          <p:cNvPr id="11" name="Text 7"/>
          <p:cNvSpPr/>
          <p:nvPr/>
        </p:nvSpPr>
        <p:spPr>
          <a:xfrm>
            <a:off x="1752600" y="3939539"/>
            <a:ext cx="9915398" cy="402590"/>
          </a:xfrm>
          <a:prstGeom prst="rect">
            <a:avLst/>
          </a:prstGeom>
          <a:noFill/>
          <a:ln/>
        </p:spPr>
        <p:txBody>
          <a:bodyPr wrap="square" lIns="0" tIns="0" rIns="0" bIns="0" rtlCol="0" anchor="t">
            <a:normAutofit/>
          </a:bodyPr>
          <a:lstStyle/>
          <a:p>
            <a:pPr algn="l" indent="0" marL="0">
              <a:lnSpc>
                <a:spcPts val="2970"/>
              </a:lnSpc>
              <a:buNone/>
            </a:pPr>
            <a:r>
              <a:rPr lang="en-US" sz="2200" dirty="0">
                <a:solidFill>
                  <a:srgbClr val="3F4A5E"/>
                </a:solidFill>
                <a:latin typeface="Arial" pitchFamily="34" charset="0"/>
                <a:ea typeface="Arial" pitchFamily="34" charset="-122"/>
                <a:cs typeface="Arial" pitchFamily="34" charset="-120"/>
              </a:rPr>
              <a:t>Every participating provider, with location and status.</a:t>
            </a:r>
            <a:endParaRPr lang="en-US" sz="2200" dirty="0"/>
          </a:p>
        </p:txBody>
      </p:sp>
      <p:sp>
        <p:nvSpPr>
          <p:cNvPr id="12" name="Shape 8"/>
          <p:cNvSpPr/>
          <p:nvPr/>
        </p:nvSpPr>
        <p:spPr>
          <a:xfrm>
            <a:off x="812800" y="4621532"/>
            <a:ext cx="711200" cy="711200"/>
          </a:xfrm>
          <a:prstGeom prst="roundRect">
            <a:avLst>
              <a:gd name="adj" fmla="val 50000"/>
            </a:avLst>
          </a:prstGeom>
          <a:solidFill>
            <a:srgbClr val="ECE9FB"/>
          </a:solidFill>
          <a:ln/>
        </p:spPr>
      </p:sp>
      <p:pic>
        <p:nvPicPr>
          <p:cNvPr id="13" name="Image 2" descr="Verified">    </p:cNvPr>
          <p:cNvPicPr>
            <a:picLocks noChangeAspect="1"/>
          </p:cNvPicPr>
          <p:nvPr/>
        </p:nvPicPr>
        <p:blipFill>
          <a:blip r:embed="rId3"/>
          <a:srcRect l="0" r="0" t="0" b="0"/>
          <a:stretch/>
        </p:blipFill>
        <p:spPr>
          <a:xfrm>
            <a:off x="990600" y="4799332"/>
            <a:ext cx="355600" cy="355600"/>
          </a:xfrm>
          <a:prstGeom prst="rect">
            <a:avLst/>
          </a:prstGeom>
        </p:spPr>
      </p:pic>
      <p:sp>
        <p:nvSpPr>
          <p:cNvPr id="14" name="Text 9"/>
          <p:cNvSpPr/>
          <p:nvPr/>
        </p:nvSpPr>
        <p:spPr>
          <a:xfrm>
            <a:off x="1752600" y="4621532"/>
            <a:ext cx="9915398" cy="434340"/>
          </a:xfrm>
          <a:prstGeom prst="rect">
            <a:avLst/>
          </a:prstGeom>
          <a:noFill/>
          <a:ln/>
        </p:spPr>
        <p:txBody>
          <a:bodyPr wrap="square" lIns="0" tIns="0" rIns="0" bIns="0" rtlCol="0" anchor="t">
            <a:normAutofit/>
          </a:bodyPr>
          <a:lstStyle/>
          <a:p>
            <a:pPr algn="l" indent="0" marL="0">
              <a:lnSpc>
                <a:spcPts val="3220"/>
              </a:lnSpc>
              <a:buNone/>
            </a:pPr>
            <a:r>
              <a:rPr lang="en-US" sz="2800" b="1" dirty="0">
                <a:solidFill>
                  <a:srgbClr val="1F2A44"/>
                </a:solidFill>
                <a:latin typeface="Georgia" pitchFamily="18" charset="0"/>
                <a:ea typeface="Georgia" pitchFamily="18" charset="-122"/>
                <a:cs typeface="Georgia" pitchFamily="18" charset="-120"/>
              </a:rPr>
              <a:t>Pre-screened by an independent board</a:t>
            </a:r>
            <a:endParaRPr lang="en-US" sz="2800" dirty="0"/>
          </a:p>
        </p:txBody>
      </p:sp>
      <p:sp>
        <p:nvSpPr>
          <p:cNvPr id="15" name="Text 10"/>
          <p:cNvSpPr/>
          <p:nvPr/>
        </p:nvSpPr>
        <p:spPr>
          <a:xfrm>
            <a:off x="1752600" y="5081271"/>
            <a:ext cx="9915398" cy="779780"/>
          </a:xfrm>
          <a:prstGeom prst="rect">
            <a:avLst/>
          </a:prstGeom>
          <a:noFill/>
          <a:ln/>
        </p:spPr>
        <p:txBody>
          <a:bodyPr wrap="square" lIns="0" tIns="0" rIns="0" bIns="0" rtlCol="0" anchor="t">
            <a:normAutofit/>
          </a:bodyPr>
          <a:lstStyle/>
          <a:p>
            <a:pPr algn="l" indent="0" marL="0">
              <a:lnSpc>
                <a:spcPts val="2970"/>
              </a:lnSpc>
              <a:buNone/>
            </a:pPr>
            <a:r>
              <a:rPr lang="en-US" sz="2200" dirty="0">
                <a:solidFill>
                  <a:srgbClr val="3F4A5E"/>
                </a:solidFill>
                <a:latin typeface="Arial" pitchFamily="34" charset="0"/>
                <a:ea typeface="Arial" pitchFamily="34" charset="-122"/>
                <a:cs typeface="Arial" pitchFamily="34" charset="-120"/>
              </a:rPr>
              <a:t>A doctor, a researcher and an ethicist approve every treatment before any patient can choose it.</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800" y="812800"/>
            <a:ext cx="10883392" cy="270431"/>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5B47D6"/>
                </a:solidFill>
                <a:latin typeface="Arial" pitchFamily="34" charset="0"/>
                <a:ea typeface="Arial" pitchFamily="34" charset="-122"/>
                <a:cs typeface="Arial" pitchFamily="34" charset="-120"/>
              </a:rPr>
              <a:t>INDEPENDENT TREATMENT REVIEW</a:t>
            </a:r>
            <a:endParaRPr lang="en-US" sz="1400" dirty="0"/>
          </a:p>
        </p:txBody>
      </p:sp>
      <p:sp>
        <p:nvSpPr>
          <p:cNvPr id="3" name="Text 1"/>
          <p:cNvSpPr/>
          <p:nvPr/>
        </p:nvSpPr>
        <p:spPr>
          <a:xfrm>
            <a:off x="812800" y="1134030"/>
            <a:ext cx="10883392" cy="945356"/>
          </a:xfrm>
          <a:prstGeom prst="rect">
            <a:avLst/>
          </a:prstGeom>
          <a:noFill/>
          <a:ln/>
        </p:spPr>
        <p:txBody>
          <a:bodyPr wrap="square" lIns="0" tIns="0" rIns="0" bIns="0" rtlCol="0" anchor="t">
            <a:normAutofit/>
          </a:bodyPr>
          <a:lstStyle/>
          <a:p>
            <a:pPr algn="l" indent="0" marL="0">
              <a:lnSpc>
                <a:spcPts val="3634"/>
              </a:lnSpc>
              <a:buNone/>
            </a:pPr>
            <a:r>
              <a:rPr lang="en-US" sz="3160" b="1" dirty="0">
                <a:solidFill>
                  <a:srgbClr val="1F2A44"/>
                </a:solidFill>
                <a:latin typeface="Georgia" pitchFamily="18" charset="0"/>
                <a:ea typeface="Georgia" pitchFamily="18" charset="-122"/>
                <a:cs typeface="Georgia" pitchFamily="18" charset="-120"/>
              </a:rPr>
              <a:t>An Experimental Treatment Review Board (ETRB) reviews and approves safe treatments </a:t>
            </a:r>
            <a:endParaRPr lang="en-US" sz="3160" dirty="0"/>
          </a:p>
        </p:txBody>
      </p:sp>
      <p:sp>
        <p:nvSpPr>
          <p:cNvPr id="4" name="Shape 2"/>
          <p:cNvSpPr/>
          <p:nvPr/>
        </p:nvSpPr>
        <p:spPr>
          <a:xfrm>
            <a:off x="815975" y="2311161"/>
            <a:ext cx="3380264" cy="3730863"/>
          </a:xfrm>
          <a:prstGeom prst="roundRect">
            <a:avLst>
              <a:gd name="adj" fmla="val 4415"/>
            </a:avLst>
          </a:prstGeom>
          <a:solidFill>
            <a:srgbClr val="FFFDF9"/>
          </a:solidFill>
          <a:ln w="6350">
            <a:solidFill>
              <a:srgbClr val="E4DED3"/>
            </a:solidFill>
            <a:prstDash val="solid"/>
          </a:ln>
        </p:spPr>
      </p:sp>
      <p:sp>
        <p:nvSpPr>
          <p:cNvPr id="5" name="Shape 3"/>
          <p:cNvSpPr/>
          <p:nvPr/>
        </p:nvSpPr>
        <p:spPr>
          <a:xfrm>
            <a:off x="1046480" y="2541668"/>
            <a:ext cx="533400" cy="533400"/>
          </a:xfrm>
          <a:prstGeom prst="roundRect">
            <a:avLst>
              <a:gd name="adj" fmla="val 50000"/>
            </a:avLst>
          </a:prstGeom>
          <a:solidFill>
            <a:srgbClr val="ECE9FB"/>
          </a:solidFill>
          <a:ln/>
        </p:spPr>
      </p:sp>
      <p:pic>
        <p:nvPicPr>
          <p:cNvPr id="6" name="Image 0" descr="Users">    </p:cNvPr>
          <p:cNvPicPr>
            <a:picLocks noChangeAspect="1"/>
          </p:cNvPicPr>
          <p:nvPr/>
        </p:nvPicPr>
        <p:blipFill>
          <a:blip r:embed="rId1"/>
          <a:srcRect l="0" r="0" t="0" b="0"/>
          <a:stretch/>
        </p:blipFill>
        <p:spPr>
          <a:xfrm>
            <a:off x="1176655" y="2671843"/>
            <a:ext cx="273050" cy="273050"/>
          </a:xfrm>
          <a:prstGeom prst="rect">
            <a:avLst/>
          </a:prstGeom>
        </p:spPr>
      </p:pic>
      <p:sp>
        <p:nvSpPr>
          <p:cNvPr id="7" name="Text 4"/>
          <p:cNvSpPr/>
          <p:nvPr/>
        </p:nvSpPr>
        <p:spPr>
          <a:xfrm>
            <a:off x="1706880" y="2650254"/>
            <a:ext cx="2130171" cy="332105"/>
          </a:xfrm>
          <a:prstGeom prst="rect">
            <a:avLst/>
          </a:prstGeom>
          <a:noFill/>
          <a:ln/>
        </p:spPr>
        <p:txBody>
          <a:bodyPr wrap="square" lIns="0" tIns="0" rIns="0" bIns="0" rtlCol="0" anchor="t">
            <a:normAutofit/>
          </a:bodyPr>
          <a:lstStyle/>
          <a:p>
            <a:pPr algn="l" indent="0" marL="0">
              <a:lnSpc>
                <a:spcPts val="2415"/>
              </a:lnSpc>
              <a:buNone/>
            </a:pPr>
            <a:r>
              <a:rPr lang="en-US" sz="2100" b="1" dirty="0">
                <a:solidFill>
                  <a:srgbClr val="1F2A44"/>
                </a:solidFill>
                <a:latin typeface="Georgia" pitchFamily="18" charset="0"/>
                <a:ea typeface="Georgia" pitchFamily="18" charset="-122"/>
                <a:cs typeface="Georgia" pitchFamily="18" charset="-120"/>
              </a:rPr>
              <a:t>Who reviews</a:t>
            </a:r>
            <a:endParaRPr lang="en-US" sz="2100" dirty="0"/>
          </a:p>
        </p:txBody>
      </p:sp>
      <p:sp>
        <p:nvSpPr>
          <p:cNvPr id="8" name="Text 5"/>
          <p:cNvSpPr/>
          <p:nvPr/>
        </p:nvSpPr>
        <p:spPr>
          <a:xfrm>
            <a:off x="1074480" y="3218021"/>
            <a:ext cx="2971211" cy="2618899"/>
          </a:xfrm>
          <a:prstGeom prst="rect">
            <a:avLst/>
          </a:prstGeom>
          <a:noFill/>
          <a:ln/>
        </p:spPr>
        <p:txBody>
          <a:bodyPr wrap="square" lIns="0" tIns="0" rIns="0" bIns="0" rtlCol="0" anchor="t">
            <a:normAutofit/>
          </a:bodyPr>
          <a:lstStyle/>
          <a:p>
            <a:pPr algn="l" marL="226000" indent="-226000">
              <a:lnSpc>
                <a:spcPts val="2914"/>
              </a:lnSpc>
              <a:buSzPct val="100000"/>
              <a:buChar char="•"/>
            </a:pPr>
            <a:r>
              <a:rPr lang="en-US" sz="2159" dirty="0">
                <a:solidFill>
                  <a:srgbClr val="3F4A5E"/>
                </a:solidFill>
                <a:latin typeface="Arial" pitchFamily="34" charset="0"/>
                <a:ea typeface="Arial" pitchFamily="34" charset="-122"/>
                <a:cs typeface="Arial" pitchFamily="34" charset="-120"/>
              </a:rPr>
              <a:t>A physician, an outcomes researcher and an ethicist</a:t>
            </a:r>
            <a:endParaRPr lang="en-US" sz="2159" dirty="0"/>
          </a:p>
          <a:p>
            <a:pPr algn="l" marL="226000" indent="-226000">
              <a:lnSpc>
                <a:spcPts val="2914"/>
              </a:lnSpc>
              <a:buSzPct val="100000"/>
              <a:buChar char="•"/>
            </a:pPr>
            <a:r>
              <a:rPr lang="en-US" sz="2159" dirty="0">
                <a:solidFill>
                  <a:srgbClr val="3F4A5E"/>
                </a:solidFill>
                <a:latin typeface="Arial" pitchFamily="34" charset="0"/>
                <a:ea typeface="Arial" pitchFamily="34" charset="-122"/>
                <a:cs typeface="Arial" pitchFamily="34" charset="-120"/>
              </a:rPr>
              <a:t>No financial ties to the clinic or maker</a:t>
            </a:r>
            <a:endParaRPr lang="en-US" sz="2159" dirty="0"/>
          </a:p>
          <a:p>
            <a:pPr algn="l" marL="226000" indent="-226000">
              <a:lnSpc>
                <a:spcPts val="2914"/>
              </a:lnSpc>
              <a:buSzPct val="100000"/>
              <a:buChar char="•"/>
            </a:pPr>
            <a:r>
              <a:rPr lang="en-US" sz="2159" dirty="0">
                <a:solidFill>
                  <a:srgbClr val="3F4A5E"/>
                </a:solidFill>
                <a:latin typeface="Arial" pitchFamily="34" charset="0"/>
                <a:ea typeface="Arial" pitchFamily="34" charset="-122"/>
                <a:cs typeface="Arial" pitchFamily="34" charset="-120"/>
              </a:rPr>
              <a:t>Flat fees, never paid per approval</a:t>
            </a:r>
            <a:endParaRPr lang="en-US" sz="2159" dirty="0"/>
          </a:p>
        </p:txBody>
      </p:sp>
      <p:sp>
        <p:nvSpPr>
          <p:cNvPr id="9" name="Shape 6"/>
          <p:cNvSpPr/>
          <p:nvPr/>
        </p:nvSpPr>
        <p:spPr>
          <a:xfrm>
            <a:off x="4405789" y="2311161"/>
            <a:ext cx="3380343" cy="3730863"/>
          </a:xfrm>
          <a:prstGeom prst="roundRect">
            <a:avLst>
              <a:gd name="adj" fmla="val 4414"/>
            </a:avLst>
          </a:prstGeom>
          <a:solidFill>
            <a:srgbClr val="FFFDF9"/>
          </a:solidFill>
          <a:ln w="6350">
            <a:solidFill>
              <a:srgbClr val="E4DED3"/>
            </a:solidFill>
            <a:prstDash val="solid"/>
          </a:ln>
        </p:spPr>
      </p:sp>
      <p:sp>
        <p:nvSpPr>
          <p:cNvPr id="10" name="Shape 7"/>
          <p:cNvSpPr/>
          <p:nvPr/>
        </p:nvSpPr>
        <p:spPr>
          <a:xfrm>
            <a:off x="4636294" y="2541668"/>
            <a:ext cx="533400" cy="533400"/>
          </a:xfrm>
          <a:prstGeom prst="roundRect">
            <a:avLst>
              <a:gd name="adj" fmla="val 50000"/>
            </a:avLst>
          </a:prstGeom>
          <a:solidFill>
            <a:srgbClr val="ECE9FB"/>
          </a:solidFill>
          <a:ln/>
        </p:spPr>
      </p:sp>
      <p:pic>
        <p:nvPicPr>
          <p:cNvPr id="11" name="Image 1" descr="Search">    </p:cNvPr>
          <p:cNvPicPr>
            <a:picLocks noChangeAspect="1"/>
          </p:cNvPicPr>
          <p:nvPr/>
        </p:nvPicPr>
        <p:blipFill>
          <a:blip r:embed="rId2"/>
          <a:srcRect l="0" r="0" t="0" b="0"/>
          <a:stretch/>
        </p:blipFill>
        <p:spPr>
          <a:xfrm>
            <a:off x="4766469" y="2671843"/>
            <a:ext cx="273050" cy="273050"/>
          </a:xfrm>
          <a:prstGeom prst="rect">
            <a:avLst/>
          </a:prstGeom>
        </p:spPr>
      </p:pic>
      <p:sp>
        <p:nvSpPr>
          <p:cNvPr id="12" name="Text 8"/>
          <p:cNvSpPr/>
          <p:nvPr/>
        </p:nvSpPr>
        <p:spPr>
          <a:xfrm>
            <a:off x="5296694" y="2655016"/>
            <a:ext cx="2486263" cy="332105"/>
          </a:xfrm>
          <a:prstGeom prst="rect">
            <a:avLst/>
          </a:prstGeom>
          <a:noFill/>
          <a:ln/>
        </p:spPr>
        <p:txBody>
          <a:bodyPr wrap="square" lIns="0" tIns="0" rIns="0" bIns="0" rtlCol="0" anchor="t">
            <a:normAutofit/>
          </a:bodyPr>
          <a:lstStyle/>
          <a:p>
            <a:pPr algn="l" indent="0" marL="0">
              <a:lnSpc>
                <a:spcPts val="2415"/>
              </a:lnSpc>
              <a:buNone/>
            </a:pPr>
            <a:r>
              <a:rPr lang="en-US" sz="2100" b="1" dirty="0">
                <a:solidFill>
                  <a:srgbClr val="1F2A44"/>
                </a:solidFill>
                <a:latin typeface="Georgia" pitchFamily="18" charset="0"/>
                <a:ea typeface="Georgia" pitchFamily="18" charset="-122"/>
                <a:cs typeface="Georgia" pitchFamily="18" charset="-120"/>
              </a:rPr>
              <a:t>What they check</a:t>
            </a:r>
            <a:endParaRPr lang="en-US" sz="2100" dirty="0"/>
          </a:p>
        </p:txBody>
      </p:sp>
      <p:sp>
        <p:nvSpPr>
          <p:cNvPr id="13" name="Text 9"/>
          <p:cNvSpPr/>
          <p:nvPr/>
        </p:nvSpPr>
        <p:spPr>
          <a:xfrm>
            <a:off x="4663980" y="3227468"/>
            <a:ext cx="2971607" cy="2288540"/>
          </a:xfrm>
          <a:prstGeom prst="rect">
            <a:avLst/>
          </a:prstGeom>
          <a:noFill/>
          <a:ln/>
        </p:spPr>
        <p:txBody>
          <a:bodyPr wrap="square" lIns="0" tIns="0" rIns="0" bIns="0" rtlCol="0" anchor="t">
            <a:normAutofit/>
          </a:bodyPr>
          <a:lstStyle/>
          <a:p>
            <a:pPr algn="l" marL="226314" indent="-226314">
              <a:lnSpc>
                <a:spcPts val="2970"/>
              </a:lnSpc>
              <a:buSzPct val="100000"/>
              <a:buChar char="•"/>
            </a:pPr>
            <a:r>
              <a:rPr lang="en-US" sz="2200" dirty="0">
                <a:solidFill>
                  <a:srgbClr val="3F4A5E"/>
                </a:solidFill>
                <a:latin typeface="Arial" pitchFamily="34" charset="0"/>
                <a:ea typeface="Arial" pitchFamily="34" charset="-122"/>
                <a:cs typeface="Arial" pitchFamily="34" charset="-120"/>
              </a:rPr>
              <a:t>The evidence</a:t>
            </a:r>
            <a:endParaRPr lang="en-US" sz="2200" dirty="0"/>
          </a:p>
          <a:p>
            <a:pPr algn="l" marL="226314" indent="-226314">
              <a:lnSpc>
                <a:spcPts val="2970"/>
              </a:lnSpc>
              <a:buSzPct val="100000"/>
              <a:buChar char="•"/>
            </a:pPr>
            <a:r>
              <a:rPr lang="en-US" sz="2200" dirty="0">
                <a:solidFill>
                  <a:srgbClr val="3F4A5E"/>
                </a:solidFill>
                <a:latin typeface="Arial" pitchFamily="34" charset="0"/>
                <a:ea typeface="Arial" pitchFamily="34" charset="-122"/>
                <a:cs typeface="Arial" pitchFamily="34" charset="-120"/>
              </a:rPr>
              <a:t>The treatment plan</a:t>
            </a:r>
            <a:endParaRPr lang="en-US" sz="2200" dirty="0"/>
          </a:p>
          <a:p>
            <a:pPr algn="l" marL="226314" indent="-226314">
              <a:lnSpc>
                <a:spcPts val="2970"/>
              </a:lnSpc>
              <a:buSzPct val="100000"/>
              <a:buChar char="•"/>
            </a:pPr>
            <a:r>
              <a:rPr lang="en-US" sz="2200" dirty="0">
                <a:solidFill>
                  <a:srgbClr val="3F4A5E"/>
                </a:solidFill>
                <a:latin typeface="Arial" pitchFamily="34" charset="0"/>
                <a:ea typeface="Arial" pitchFamily="34" charset="-122"/>
                <a:cs typeface="Arial" pitchFamily="34" charset="-120"/>
              </a:rPr>
              <a:t>Each provider's competence</a:t>
            </a:r>
            <a:endParaRPr lang="en-US" sz="2200" dirty="0"/>
          </a:p>
          <a:p>
            <a:pPr algn="l" marL="226314" indent="-226314">
              <a:lnSpc>
                <a:spcPts val="2970"/>
              </a:lnSpc>
              <a:buSzPct val="100000"/>
              <a:buChar char="•"/>
            </a:pPr>
            <a:r>
              <a:rPr lang="en-US" sz="2200" dirty="0">
                <a:solidFill>
                  <a:srgbClr val="3F4A5E"/>
                </a:solidFill>
                <a:latin typeface="Arial" pitchFamily="34" charset="0"/>
                <a:ea typeface="Arial" pitchFamily="34" charset="-122"/>
                <a:cs typeface="Arial" pitchFamily="34" charset="-120"/>
              </a:rPr>
              <a:t>Conflicts of interest</a:t>
            </a:r>
            <a:endParaRPr lang="en-US" sz="2200" dirty="0"/>
          </a:p>
          <a:p>
            <a:pPr algn="l" marL="226314" indent="-226314">
              <a:lnSpc>
                <a:spcPts val="2970"/>
              </a:lnSpc>
              <a:buSzPct val="100000"/>
              <a:buChar char="•"/>
            </a:pPr>
            <a:r>
              <a:rPr lang="en-US" sz="2200" dirty="0">
                <a:solidFill>
                  <a:srgbClr val="3F4A5E"/>
                </a:solidFill>
                <a:latin typeface="Arial" pitchFamily="34" charset="0"/>
                <a:ea typeface="Arial" pitchFamily="34" charset="-122"/>
                <a:cs typeface="Arial" pitchFamily="34" charset="-120"/>
              </a:rPr>
              <a:t>The consent form</a:t>
            </a:r>
            <a:endParaRPr lang="en-US" sz="2200" dirty="0"/>
          </a:p>
        </p:txBody>
      </p:sp>
      <p:sp>
        <p:nvSpPr>
          <p:cNvPr id="14" name="Shape 10"/>
          <p:cNvSpPr/>
          <p:nvPr/>
        </p:nvSpPr>
        <p:spPr>
          <a:xfrm>
            <a:off x="7995682" y="2311161"/>
            <a:ext cx="3380343" cy="3730863"/>
          </a:xfrm>
          <a:prstGeom prst="roundRect">
            <a:avLst>
              <a:gd name="adj" fmla="val 4414"/>
            </a:avLst>
          </a:prstGeom>
          <a:solidFill>
            <a:srgbClr val="FFFDF9"/>
          </a:solidFill>
          <a:ln w="6350">
            <a:solidFill>
              <a:srgbClr val="E4DED3"/>
            </a:solidFill>
            <a:prstDash val="solid"/>
          </a:ln>
        </p:spPr>
      </p:sp>
      <p:sp>
        <p:nvSpPr>
          <p:cNvPr id="15" name="Shape 11"/>
          <p:cNvSpPr/>
          <p:nvPr/>
        </p:nvSpPr>
        <p:spPr>
          <a:xfrm>
            <a:off x="8226187" y="2541668"/>
            <a:ext cx="533400" cy="533400"/>
          </a:xfrm>
          <a:prstGeom prst="roundRect">
            <a:avLst>
              <a:gd name="adj" fmla="val 50000"/>
            </a:avLst>
          </a:prstGeom>
          <a:solidFill>
            <a:srgbClr val="ECE9FB"/>
          </a:solidFill>
          <a:ln/>
        </p:spPr>
      </p:sp>
      <p:pic>
        <p:nvPicPr>
          <p:cNvPr id="16" name="Image 2" descr="Verified">    </p:cNvPr>
          <p:cNvPicPr>
            <a:picLocks noChangeAspect="1"/>
          </p:cNvPicPr>
          <p:nvPr/>
        </p:nvPicPr>
        <p:blipFill>
          <a:blip r:embed="rId3"/>
          <a:srcRect l="0" r="0" t="0" b="0"/>
          <a:stretch/>
        </p:blipFill>
        <p:spPr>
          <a:xfrm>
            <a:off x="8356362" y="2671843"/>
            <a:ext cx="273050" cy="273050"/>
          </a:xfrm>
          <a:prstGeom prst="rect">
            <a:avLst/>
          </a:prstGeom>
        </p:spPr>
      </p:pic>
      <p:sp>
        <p:nvSpPr>
          <p:cNvPr id="17" name="Text 12"/>
          <p:cNvSpPr/>
          <p:nvPr/>
        </p:nvSpPr>
        <p:spPr>
          <a:xfrm>
            <a:off x="8886587" y="2655016"/>
            <a:ext cx="2401253" cy="332105"/>
          </a:xfrm>
          <a:prstGeom prst="rect">
            <a:avLst/>
          </a:prstGeom>
          <a:noFill/>
          <a:ln/>
        </p:spPr>
        <p:txBody>
          <a:bodyPr wrap="square" lIns="0" tIns="0" rIns="0" bIns="0" rtlCol="0" anchor="t">
            <a:normAutofit/>
          </a:bodyPr>
          <a:lstStyle/>
          <a:p>
            <a:pPr algn="l" indent="0" marL="0">
              <a:lnSpc>
                <a:spcPts val="2415"/>
              </a:lnSpc>
              <a:buNone/>
            </a:pPr>
            <a:r>
              <a:rPr lang="en-US" sz="2100" b="1" dirty="0">
                <a:solidFill>
                  <a:srgbClr val="1F2A44"/>
                </a:solidFill>
                <a:latin typeface="Georgia" pitchFamily="18" charset="0"/>
                <a:ea typeface="Georgia" pitchFamily="18" charset="-122"/>
                <a:cs typeface="Georgia" pitchFamily="18" charset="-120"/>
              </a:rPr>
              <a:t>What qualifies</a:t>
            </a:r>
            <a:endParaRPr lang="en-US" sz="2100" dirty="0"/>
          </a:p>
        </p:txBody>
      </p:sp>
      <p:sp>
        <p:nvSpPr>
          <p:cNvPr id="18" name="Text 13"/>
          <p:cNvSpPr/>
          <p:nvPr/>
        </p:nvSpPr>
        <p:spPr>
          <a:xfrm>
            <a:off x="8274828" y="3227468"/>
            <a:ext cx="2950652" cy="2365693"/>
          </a:xfrm>
          <a:prstGeom prst="rect">
            <a:avLst/>
          </a:prstGeom>
          <a:noFill/>
          <a:ln/>
        </p:spPr>
        <p:txBody>
          <a:bodyPr wrap="square" lIns="0" tIns="0" rIns="0" bIns="0" rtlCol="0" anchor="t">
            <a:normAutofit/>
          </a:bodyPr>
          <a:lstStyle/>
          <a:p>
            <a:pPr algn="l" marL="205359" indent="-205359">
              <a:lnSpc>
                <a:spcPts val="2633"/>
              </a:lnSpc>
              <a:buSzPct val="100000"/>
              <a:buChar char="•"/>
            </a:pPr>
            <a:r>
              <a:rPr lang="en-US" sz="1950" dirty="0">
                <a:solidFill>
                  <a:srgbClr val="3F4A5E"/>
                </a:solidFill>
                <a:latin typeface="Arial" pitchFamily="34" charset="0"/>
                <a:ea typeface="Arial" pitchFamily="34" charset="-122"/>
                <a:cs typeface="Arial" pitchFamily="34" charset="-120"/>
              </a:rPr>
              <a:t>Passed Phase I or similar</a:t>
            </a:r>
            <a:endParaRPr lang="en-US" sz="1950" dirty="0"/>
          </a:p>
          <a:p>
            <a:pPr algn="l" marL="205359" indent="-205359">
              <a:lnSpc>
                <a:spcPts val="2633"/>
              </a:lnSpc>
              <a:buSzPct val="100000"/>
              <a:buChar char="•"/>
            </a:pPr>
            <a:r>
              <a:rPr lang="en-US" sz="1950" dirty="0">
                <a:solidFill>
                  <a:srgbClr val="3F4A5E"/>
                </a:solidFill>
                <a:latin typeface="Arial" pitchFamily="34" charset="0"/>
                <a:ea typeface="Arial" pitchFamily="34" charset="-122"/>
                <a:cs typeface="Arial" pitchFamily="34" charset="-120"/>
              </a:rPr>
              <a:t>A documented human safety record</a:t>
            </a:r>
            <a:endParaRPr lang="en-US" sz="1950" dirty="0"/>
          </a:p>
          <a:p>
            <a:pPr algn="l" marL="205359" indent="-205359">
              <a:lnSpc>
                <a:spcPts val="2633"/>
              </a:lnSpc>
              <a:buSzPct val="100000"/>
              <a:buChar char="•"/>
            </a:pPr>
            <a:r>
              <a:rPr lang="en-US" sz="1950" dirty="0">
                <a:solidFill>
                  <a:srgbClr val="3F4A5E"/>
                </a:solidFill>
                <a:latin typeface="Arial" pitchFamily="34" charset="0"/>
                <a:ea typeface="Arial" pitchFamily="34" charset="-122"/>
                <a:cs typeface="Arial" pitchFamily="34" charset="-120"/>
              </a:rPr>
              <a:t>A well-studied platform therapy</a:t>
            </a:r>
            <a:endParaRPr lang="en-US" sz="1950" dirty="0"/>
          </a:p>
          <a:p>
            <a:pPr algn="l" marL="205359" indent="-205359">
              <a:lnSpc>
                <a:spcPts val="2633"/>
              </a:lnSpc>
              <a:buSzPct val="100000"/>
              <a:buChar char="•"/>
            </a:pPr>
            <a:r>
              <a:rPr lang="en-US" sz="1950" dirty="0">
                <a:solidFill>
                  <a:srgbClr val="3F4A5E"/>
                </a:solidFill>
                <a:latin typeface="Arial" pitchFamily="34" charset="0"/>
                <a:ea typeface="Arial" pitchFamily="34" charset="-122"/>
                <a:cs typeface="Arial" pitchFamily="34" charset="-120"/>
              </a:rPr>
              <a:t>Device evidence</a:t>
            </a:r>
            <a:endParaRPr lang="en-US" sz="1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5B47D6"/>
                </a:solidFill>
                <a:latin typeface="Arial" pitchFamily="34" charset="0"/>
                <a:ea typeface="Arial" pitchFamily="34" charset="-122"/>
                <a:cs typeface="Arial" pitchFamily="34" charset="-120"/>
              </a:rPr>
              <a:t>PROTOTYPE TREATMENT RANKING FOR DEPRESSION</a:t>
            </a:r>
            <a:endParaRPr lang="en-US" sz="1400" dirty="0"/>
          </a:p>
        </p:txBody>
      </p:sp>
      <p:sp>
        <p:nvSpPr>
          <p:cNvPr id="3" name="Text 1"/>
          <p:cNvSpPr/>
          <p:nvPr/>
        </p:nvSpPr>
        <p:spPr>
          <a:xfrm>
            <a:off x="812800" y="1137921"/>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F2A44"/>
                </a:solidFill>
                <a:latin typeface="Georgia" pitchFamily="18" charset="0"/>
                <a:ea typeface="Georgia" pitchFamily="18" charset="-122"/>
                <a:cs typeface="Georgia" pitchFamily="18" charset="-120"/>
              </a:rPr>
              <a:t>Comparative Effectiveness Treatment Rankings </a:t>
            </a:r>
            <a:endParaRPr lang="en-US" sz="3200" dirty="0"/>
          </a:p>
        </p:txBody>
      </p:sp>
      <p:sp>
        <p:nvSpPr>
          <p:cNvPr id="4" name="Shape 2"/>
          <p:cNvSpPr/>
          <p:nvPr/>
        </p:nvSpPr>
        <p:spPr>
          <a:xfrm>
            <a:off x="812800" y="1859279"/>
            <a:ext cx="10566400" cy="469900"/>
          </a:xfrm>
          <a:custGeom>
            <a:avLst/>
            <a:gdLst/>
            <a:ahLst/>
            <a:cxnLst/>
            <a:rect l="l" t="t" r="r" b="b"/>
            <a:pathLst>
              <a:path w="10566400" h="469900">
                <a:moveTo>
                  <a:pt x="101600" y="0"/>
                </a:moveTo>
                <a:lnTo>
                  <a:pt x="10464800" y="0"/>
                </a:lnTo>
                <a:arcTo hR="101600" wR="101600" stAng="16200000" swAng="5400000"/>
                <a:lnTo>
                  <a:pt x="10566400" y="469900"/>
                </a:lnTo>
                <a:lnTo>
                  <a:pt x="0" y="469900"/>
                </a:lnTo>
                <a:lnTo>
                  <a:pt x="0" y="101600"/>
                </a:lnTo>
                <a:arcTo hR="101600" wR="101600" stAng="10800000" swAng="5400000"/>
                <a:close/>
              </a:path>
            </a:pathLst>
          </a:custGeom>
          <a:solidFill>
            <a:srgbClr val="1F2A44"/>
          </a:solidFill>
          <a:ln/>
        </p:spPr>
      </p:sp>
      <p:sp>
        <p:nvSpPr>
          <p:cNvPr id="5" name="Text 3"/>
          <p:cNvSpPr/>
          <p:nvPr/>
        </p:nvSpPr>
        <p:spPr>
          <a:xfrm>
            <a:off x="965200" y="1960879"/>
            <a:ext cx="3302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AF7F2"/>
                </a:solidFill>
                <a:latin typeface="Arial" pitchFamily="34" charset="0"/>
                <a:ea typeface="Arial" pitchFamily="34" charset="-122"/>
                <a:cs typeface="Arial" pitchFamily="34" charset="-120"/>
              </a:rPr>
              <a:t>#</a:t>
            </a:r>
            <a:endParaRPr lang="en-US" sz="1500" dirty="0"/>
          </a:p>
        </p:txBody>
      </p:sp>
      <p:sp>
        <p:nvSpPr>
          <p:cNvPr id="6" name="Text 4"/>
          <p:cNvSpPr/>
          <p:nvPr/>
        </p:nvSpPr>
        <p:spPr>
          <a:xfrm>
            <a:off x="1397000" y="1960879"/>
            <a:ext cx="3675761"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AF7F2"/>
                </a:solidFill>
                <a:latin typeface="Arial" pitchFamily="34" charset="0"/>
                <a:ea typeface="Arial" pitchFamily="34" charset="-122"/>
                <a:cs typeface="Arial" pitchFamily="34" charset="-120"/>
              </a:rPr>
              <a:t>Treatment</a:t>
            </a:r>
            <a:endParaRPr lang="en-US" sz="1500" dirty="0"/>
          </a:p>
        </p:txBody>
      </p:sp>
      <p:sp>
        <p:nvSpPr>
          <p:cNvPr id="7" name="Text 5"/>
          <p:cNvSpPr/>
          <p:nvPr/>
        </p:nvSpPr>
        <p:spPr>
          <a:xfrm>
            <a:off x="5118100" y="1960879"/>
            <a:ext cx="16383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AF7F2"/>
                </a:solidFill>
                <a:latin typeface="Arial" pitchFamily="34" charset="0"/>
                <a:ea typeface="Arial" pitchFamily="34" charset="-122"/>
                <a:cs typeface="Arial" pitchFamily="34" charset="-120"/>
              </a:rPr>
              <a:t>Effectiveness</a:t>
            </a:r>
            <a:endParaRPr lang="en-US" sz="1500" dirty="0"/>
          </a:p>
        </p:txBody>
      </p:sp>
      <p:sp>
        <p:nvSpPr>
          <p:cNvPr id="8" name="Text 6"/>
          <p:cNvSpPr/>
          <p:nvPr/>
        </p:nvSpPr>
        <p:spPr>
          <a:xfrm>
            <a:off x="6858000" y="1960879"/>
            <a:ext cx="16383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AF7F2"/>
                </a:solidFill>
                <a:latin typeface="Arial" pitchFamily="34" charset="0"/>
                <a:ea typeface="Arial" pitchFamily="34" charset="-122"/>
                <a:cs typeface="Arial" pitchFamily="34" charset="-120"/>
              </a:rPr>
              <a:t>Safety</a:t>
            </a:r>
            <a:endParaRPr lang="en-US" sz="1500" dirty="0"/>
          </a:p>
        </p:txBody>
      </p:sp>
      <p:sp>
        <p:nvSpPr>
          <p:cNvPr id="9" name="Text 7"/>
          <p:cNvSpPr/>
          <p:nvPr/>
        </p:nvSpPr>
        <p:spPr>
          <a:xfrm>
            <a:off x="8547100" y="1960879"/>
            <a:ext cx="939800" cy="292100"/>
          </a:xfrm>
          <a:prstGeom prst="rect">
            <a:avLst/>
          </a:prstGeom>
          <a:noFill/>
          <a:ln/>
        </p:spPr>
        <p:txBody>
          <a:bodyPr wrap="square" lIns="0" tIns="0" rIns="0" bIns="0" rtlCol="0" anchor="t">
            <a:normAutofit/>
          </a:bodyPr>
          <a:lstStyle/>
          <a:p>
            <a:pPr algn="r" indent="0" marL="0">
              <a:lnSpc>
                <a:spcPts val="2100"/>
              </a:lnSpc>
              <a:buNone/>
            </a:pPr>
            <a:r>
              <a:rPr lang="en-US" sz="1500" b="1" dirty="0">
                <a:solidFill>
                  <a:srgbClr val="FAF7F2"/>
                </a:solidFill>
                <a:latin typeface="Arial" pitchFamily="34" charset="0"/>
                <a:ea typeface="Arial" pitchFamily="34" charset="-122"/>
                <a:cs typeface="Arial" pitchFamily="34" charset="-120"/>
              </a:rPr>
              <a:t>Cost/yr</a:t>
            </a:r>
            <a:endParaRPr lang="en-US" sz="1500" dirty="0"/>
          </a:p>
        </p:txBody>
      </p:sp>
      <p:sp>
        <p:nvSpPr>
          <p:cNvPr id="10" name="Text 8"/>
          <p:cNvSpPr/>
          <p:nvPr/>
        </p:nvSpPr>
        <p:spPr>
          <a:xfrm>
            <a:off x="9639300" y="1960879"/>
            <a:ext cx="16383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AF7F2"/>
                </a:solidFill>
                <a:latin typeface="Arial" pitchFamily="34" charset="0"/>
                <a:ea typeface="Arial" pitchFamily="34" charset="-122"/>
                <a:cs typeface="Arial" pitchFamily="34" charset="-120"/>
              </a:rPr>
              <a:t>Takes effect</a:t>
            </a:r>
            <a:endParaRPr lang="en-US" sz="1500" dirty="0"/>
          </a:p>
        </p:txBody>
      </p:sp>
      <p:sp>
        <p:nvSpPr>
          <p:cNvPr id="11" name="Shape 9"/>
          <p:cNvSpPr/>
          <p:nvPr/>
        </p:nvSpPr>
        <p:spPr>
          <a:xfrm>
            <a:off x="812800" y="2329179"/>
            <a:ext cx="10566400" cy="497840"/>
          </a:xfrm>
          <a:prstGeom prst="rect">
            <a:avLst/>
          </a:prstGeom>
          <a:solidFill>
            <a:srgbClr val="FFFDF9"/>
          </a:solidFill>
          <a:ln/>
        </p:spPr>
      </p:sp>
      <p:sp>
        <p:nvSpPr>
          <p:cNvPr id="12" name="Text 10"/>
          <p:cNvSpPr/>
          <p:nvPr/>
        </p:nvSpPr>
        <p:spPr>
          <a:xfrm>
            <a:off x="965200" y="2418079"/>
            <a:ext cx="330200"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5B47D6"/>
                </a:solidFill>
                <a:latin typeface="Georgia" pitchFamily="18" charset="0"/>
                <a:ea typeface="Georgia" pitchFamily="18" charset="-122"/>
                <a:cs typeface="Georgia" pitchFamily="18" charset="-120"/>
              </a:rPr>
              <a:t>1</a:t>
            </a:r>
            <a:endParaRPr lang="en-US" sz="1800" dirty="0"/>
          </a:p>
        </p:txBody>
      </p:sp>
      <p:sp>
        <p:nvSpPr>
          <p:cNvPr id="13" name="Text 11"/>
          <p:cNvSpPr/>
          <p:nvPr/>
        </p:nvSpPr>
        <p:spPr>
          <a:xfrm>
            <a:off x="1397000" y="2426971"/>
            <a:ext cx="3675761" cy="32766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F2A44"/>
                </a:solidFill>
                <a:latin typeface="Arial" pitchFamily="34" charset="0"/>
                <a:ea typeface="Arial" pitchFamily="34" charset="-122"/>
                <a:cs typeface="Arial" pitchFamily="34" charset="-120"/>
              </a:rPr>
              <a:t>Electroconvulsive therapy</a:t>
            </a:r>
            <a:endParaRPr lang="en-US" sz="1700" dirty="0"/>
          </a:p>
        </p:txBody>
      </p:sp>
      <p:sp>
        <p:nvSpPr>
          <p:cNvPr id="14" name="Shape 12"/>
          <p:cNvSpPr/>
          <p:nvPr/>
        </p:nvSpPr>
        <p:spPr>
          <a:xfrm>
            <a:off x="5118100" y="2527300"/>
            <a:ext cx="952500" cy="101600"/>
          </a:xfrm>
          <a:prstGeom prst="roundRect">
            <a:avLst>
              <a:gd name="adj" fmla="val 50000"/>
            </a:avLst>
          </a:prstGeom>
          <a:solidFill>
            <a:srgbClr val="E4DED3"/>
          </a:solidFill>
          <a:ln/>
        </p:spPr>
      </p:sp>
      <p:sp>
        <p:nvSpPr>
          <p:cNvPr id="15" name="Shape 13"/>
          <p:cNvSpPr/>
          <p:nvPr/>
        </p:nvSpPr>
        <p:spPr>
          <a:xfrm>
            <a:off x="5118100" y="2527300"/>
            <a:ext cx="857250" cy="101600"/>
          </a:xfrm>
          <a:custGeom>
            <a:avLst/>
            <a:gdLst/>
            <a:ahLst/>
            <a:cxnLst/>
            <a:rect l="l" t="t" r="r" b="b"/>
            <a:pathLst>
              <a:path w="857250" h="101600">
                <a:moveTo>
                  <a:pt x="0" y="50800"/>
                </a:moveTo>
                <a:arcTo hR="50800" wR="50800" stAng="10800000" swAng="5400000"/>
                <a:lnTo>
                  <a:pt x="857250" y="0"/>
                </a:lnTo>
                <a:lnTo>
                  <a:pt x="857250" y="101600"/>
                </a:lnTo>
                <a:lnTo>
                  <a:pt x="50800" y="101600"/>
                </a:lnTo>
                <a:arcTo hR="50800" wR="50800" stAng="5400000" swAng="5400000"/>
                <a:close/>
              </a:path>
            </a:pathLst>
          </a:custGeom>
          <a:solidFill>
            <a:srgbClr val="5B47D6"/>
          </a:solidFill>
          <a:ln/>
        </p:spPr>
      </p:sp>
      <p:sp>
        <p:nvSpPr>
          <p:cNvPr id="16" name="Text 14"/>
          <p:cNvSpPr/>
          <p:nvPr/>
        </p:nvSpPr>
        <p:spPr>
          <a:xfrm>
            <a:off x="6172200" y="2426971"/>
            <a:ext cx="290989" cy="32766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3F4A5E"/>
                </a:solidFill>
                <a:latin typeface="Arial" pitchFamily="34" charset="0"/>
                <a:ea typeface="Arial" pitchFamily="34" charset="-122"/>
                <a:cs typeface="Arial" pitchFamily="34" charset="-120"/>
              </a:rPr>
              <a:t>90</a:t>
            </a:r>
            <a:endParaRPr lang="en-US" sz="1700" dirty="0"/>
          </a:p>
        </p:txBody>
      </p:sp>
      <p:sp>
        <p:nvSpPr>
          <p:cNvPr id="17" name="Shape 15"/>
          <p:cNvSpPr/>
          <p:nvPr/>
        </p:nvSpPr>
        <p:spPr>
          <a:xfrm>
            <a:off x="6858000" y="2527300"/>
            <a:ext cx="952500" cy="101600"/>
          </a:xfrm>
          <a:prstGeom prst="roundRect">
            <a:avLst>
              <a:gd name="adj" fmla="val 50000"/>
            </a:avLst>
          </a:prstGeom>
          <a:solidFill>
            <a:srgbClr val="E4DED3"/>
          </a:solidFill>
          <a:ln/>
        </p:spPr>
      </p:sp>
      <p:sp>
        <p:nvSpPr>
          <p:cNvPr id="18" name="Shape 16"/>
          <p:cNvSpPr/>
          <p:nvPr/>
        </p:nvSpPr>
        <p:spPr>
          <a:xfrm>
            <a:off x="6858000" y="2527300"/>
            <a:ext cx="381000" cy="101600"/>
          </a:xfrm>
          <a:custGeom>
            <a:avLst/>
            <a:gdLst/>
            <a:ahLst/>
            <a:cxnLst/>
            <a:rect l="l" t="t" r="r" b="b"/>
            <a:pathLst>
              <a:path w="381000" h="101600">
                <a:moveTo>
                  <a:pt x="0" y="50800"/>
                </a:moveTo>
                <a:arcTo hR="50800" wR="50800" stAng="10800000" swAng="5400000"/>
                <a:lnTo>
                  <a:pt x="381000" y="0"/>
                </a:lnTo>
                <a:lnTo>
                  <a:pt x="381000" y="101600"/>
                </a:lnTo>
                <a:lnTo>
                  <a:pt x="50800" y="101600"/>
                </a:lnTo>
                <a:arcTo hR="50800" wR="50800" stAng="5400000" swAng="5400000"/>
                <a:close/>
              </a:path>
            </a:pathLst>
          </a:custGeom>
          <a:solidFill>
            <a:srgbClr val="F2A65A"/>
          </a:solidFill>
          <a:ln/>
        </p:spPr>
      </p:sp>
      <p:sp>
        <p:nvSpPr>
          <p:cNvPr id="19" name="Text 17"/>
          <p:cNvSpPr/>
          <p:nvPr/>
        </p:nvSpPr>
        <p:spPr>
          <a:xfrm>
            <a:off x="7912100" y="2426971"/>
            <a:ext cx="290989" cy="32766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3F4A5E"/>
                </a:solidFill>
                <a:latin typeface="Arial" pitchFamily="34" charset="0"/>
                <a:ea typeface="Arial" pitchFamily="34" charset="-122"/>
                <a:cs typeface="Arial" pitchFamily="34" charset="-120"/>
              </a:rPr>
              <a:t>40</a:t>
            </a:r>
            <a:endParaRPr lang="en-US" sz="1700" dirty="0"/>
          </a:p>
        </p:txBody>
      </p:sp>
      <p:sp>
        <p:nvSpPr>
          <p:cNvPr id="20" name="Text 18"/>
          <p:cNvSpPr/>
          <p:nvPr/>
        </p:nvSpPr>
        <p:spPr>
          <a:xfrm>
            <a:off x="8547100" y="2426971"/>
            <a:ext cx="939800" cy="327660"/>
          </a:xfrm>
          <a:prstGeom prst="rect">
            <a:avLst/>
          </a:prstGeom>
          <a:noFill/>
          <a:ln/>
        </p:spPr>
        <p:txBody>
          <a:bodyPr wrap="square" lIns="0" tIns="0" rIns="0" bIns="0" rtlCol="0" anchor="t">
            <a:normAutofit/>
          </a:bodyPr>
          <a:lstStyle/>
          <a:p>
            <a:pPr algn="r" indent="0" marL="0">
              <a:lnSpc>
                <a:spcPts val="2380"/>
              </a:lnSpc>
              <a:buNone/>
            </a:pPr>
            <a:r>
              <a:rPr lang="en-US" sz="1700" dirty="0">
                <a:solidFill>
                  <a:srgbClr val="3F4A5E"/>
                </a:solidFill>
                <a:latin typeface="Arial" pitchFamily="34" charset="0"/>
                <a:ea typeface="Arial" pitchFamily="34" charset="-122"/>
                <a:cs typeface="Arial" pitchFamily="34" charset="-120"/>
              </a:rPr>
              <a:t>$25,500</a:t>
            </a:r>
            <a:endParaRPr lang="en-US" sz="1700" dirty="0"/>
          </a:p>
        </p:txBody>
      </p:sp>
      <p:sp>
        <p:nvSpPr>
          <p:cNvPr id="21" name="Text 19"/>
          <p:cNvSpPr/>
          <p:nvPr/>
        </p:nvSpPr>
        <p:spPr>
          <a:xfrm>
            <a:off x="9639300" y="2426971"/>
            <a:ext cx="1638300" cy="32766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3F4A5E"/>
                </a:solidFill>
                <a:latin typeface="Arial" pitchFamily="34" charset="0"/>
                <a:ea typeface="Arial" pitchFamily="34" charset="-122"/>
                <a:cs typeface="Arial" pitchFamily="34" charset="-120"/>
              </a:rPr>
              <a:t>1-2 weeks</a:t>
            </a:r>
            <a:endParaRPr lang="en-US" sz="1700" dirty="0"/>
          </a:p>
        </p:txBody>
      </p:sp>
      <p:sp>
        <p:nvSpPr>
          <p:cNvPr id="22" name="Shape 20"/>
          <p:cNvSpPr/>
          <p:nvPr/>
        </p:nvSpPr>
        <p:spPr>
          <a:xfrm>
            <a:off x="812800" y="2827021"/>
            <a:ext cx="10566400" cy="497840"/>
          </a:xfrm>
          <a:prstGeom prst="rect">
            <a:avLst/>
          </a:prstGeom>
          <a:solidFill>
            <a:srgbClr val="F1ECE3"/>
          </a:solidFill>
          <a:ln/>
        </p:spPr>
      </p:sp>
      <p:sp>
        <p:nvSpPr>
          <p:cNvPr id="23" name="Text 21"/>
          <p:cNvSpPr/>
          <p:nvPr/>
        </p:nvSpPr>
        <p:spPr>
          <a:xfrm>
            <a:off x="965200" y="2915921"/>
            <a:ext cx="330200"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5B47D6"/>
                </a:solidFill>
                <a:latin typeface="Georgia" pitchFamily="18" charset="0"/>
                <a:ea typeface="Georgia" pitchFamily="18" charset="-122"/>
                <a:cs typeface="Georgia" pitchFamily="18" charset="-120"/>
              </a:rPr>
              <a:t>2</a:t>
            </a:r>
            <a:endParaRPr lang="en-US" sz="1800" dirty="0"/>
          </a:p>
        </p:txBody>
      </p:sp>
      <p:sp>
        <p:nvSpPr>
          <p:cNvPr id="24" name="Text 22"/>
          <p:cNvSpPr/>
          <p:nvPr/>
        </p:nvSpPr>
        <p:spPr>
          <a:xfrm>
            <a:off x="1397000" y="2924814"/>
            <a:ext cx="3675761" cy="32766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F2A44"/>
                </a:solidFill>
                <a:latin typeface="Arial" pitchFamily="34" charset="0"/>
                <a:ea typeface="Arial" pitchFamily="34" charset="-122"/>
                <a:cs typeface="Arial" pitchFamily="34" charset="-120"/>
              </a:rPr>
              <a:t>Venlafaxine (SNRI)</a:t>
            </a:r>
            <a:endParaRPr lang="en-US" sz="1700" dirty="0"/>
          </a:p>
        </p:txBody>
      </p:sp>
      <p:sp>
        <p:nvSpPr>
          <p:cNvPr id="25" name="Shape 23"/>
          <p:cNvSpPr/>
          <p:nvPr/>
        </p:nvSpPr>
        <p:spPr>
          <a:xfrm>
            <a:off x="5118100" y="3025142"/>
            <a:ext cx="952500" cy="101600"/>
          </a:xfrm>
          <a:prstGeom prst="roundRect">
            <a:avLst>
              <a:gd name="adj" fmla="val 50000"/>
            </a:avLst>
          </a:prstGeom>
          <a:solidFill>
            <a:srgbClr val="E4DED3"/>
          </a:solidFill>
          <a:ln/>
        </p:spPr>
      </p:sp>
      <p:sp>
        <p:nvSpPr>
          <p:cNvPr id="26" name="Shape 24"/>
          <p:cNvSpPr/>
          <p:nvPr/>
        </p:nvSpPr>
        <p:spPr>
          <a:xfrm>
            <a:off x="5118100" y="3025142"/>
            <a:ext cx="762000" cy="101600"/>
          </a:xfrm>
          <a:custGeom>
            <a:avLst/>
            <a:gdLst/>
            <a:ahLst/>
            <a:cxnLst/>
            <a:rect l="l" t="t" r="r" b="b"/>
            <a:pathLst>
              <a:path w="762000" h="101600">
                <a:moveTo>
                  <a:pt x="0" y="50800"/>
                </a:moveTo>
                <a:arcTo hR="50800" wR="50800" stAng="10800000" swAng="5400000"/>
                <a:lnTo>
                  <a:pt x="762000" y="0"/>
                </a:lnTo>
                <a:lnTo>
                  <a:pt x="762000" y="101600"/>
                </a:lnTo>
                <a:lnTo>
                  <a:pt x="50800" y="101600"/>
                </a:lnTo>
                <a:arcTo hR="50800" wR="50800" stAng="5400000" swAng="5400000"/>
                <a:close/>
              </a:path>
            </a:pathLst>
          </a:custGeom>
          <a:solidFill>
            <a:srgbClr val="5B47D6"/>
          </a:solidFill>
          <a:ln/>
        </p:spPr>
      </p:sp>
      <p:sp>
        <p:nvSpPr>
          <p:cNvPr id="27" name="Text 25"/>
          <p:cNvSpPr/>
          <p:nvPr/>
        </p:nvSpPr>
        <p:spPr>
          <a:xfrm>
            <a:off x="6172200" y="2924814"/>
            <a:ext cx="290989" cy="32766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3F4A5E"/>
                </a:solidFill>
                <a:latin typeface="Arial" pitchFamily="34" charset="0"/>
                <a:ea typeface="Arial" pitchFamily="34" charset="-122"/>
                <a:cs typeface="Arial" pitchFamily="34" charset="-120"/>
              </a:rPr>
              <a:t>80</a:t>
            </a:r>
            <a:endParaRPr lang="en-US" sz="1700" dirty="0"/>
          </a:p>
        </p:txBody>
      </p:sp>
      <p:sp>
        <p:nvSpPr>
          <p:cNvPr id="28" name="Shape 26"/>
          <p:cNvSpPr/>
          <p:nvPr/>
        </p:nvSpPr>
        <p:spPr>
          <a:xfrm>
            <a:off x="6858000" y="3025142"/>
            <a:ext cx="952500" cy="101600"/>
          </a:xfrm>
          <a:prstGeom prst="roundRect">
            <a:avLst>
              <a:gd name="adj" fmla="val 50000"/>
            </a:avLst>
          </a:prstGeom>
          <a:solidFill>
            <a:srgbClr val="E4DED3"/>
          </a:solidFill>
          <a:ln/>
        </p:spPr>
      </p:sp>
      <p:sp>
        <p:nvSpPr>
          <p:cNvPr id="29" name="Shape 27"/>
          <p:cNvSpPr/>
          <p:nvPr/>
        </p:nvSpPr>
        <p:spPr>
          <a:xfrm>
            <a:off x="6858000" y="3025142"/>
            <a:ext cx="571500" cy="101600"/>
          </a:xfrm>
          <a:custGeom>
            <a:avLst/>
            <a:gdLst/>
            <a:ahLst/>
            <a:cxnLst/>
            <a:rect l="l" t="t" r="r" b="b"/>
            <a:pathLst>
              <a:path w="571500" h="101600">
                <a:moveTo>
                  <a:pt x="0" y="50800"/>
                </a:moveTo>
                <a:arcTo hR="50800" wR="50800" stAng="10800000" swAng="5400000"/>
                <a:lnTo>
                  <a:pt x="571500" y="0"/>
                </a:lnTo>
                <a:lnTo>
                  <a:pt x="571500" y="101600"/>
                </a:lnTo>
                <a:lnTo>
                  <a:pt x="50800" y="101600"/>
                </a:lnTo>
                <a:arcTo hR="50800" wR="50800" stAng="5400000" swAng="5400000"/>
                <a:close/>
              </a:path>
            </a:pathLst>
          </a:custGeom>
          <a:solidFill>
            <a:srgbClr val="F2A65A"/>
          </a:solidFill>
          <a:ln/>
        </p:spPr>
      </p:sp>
      <p:sp>
        <p:nvSpPr>
          <p:cNvPr id="30" name="Text 28"/>
          <p:cNvSpPr/>
          <p:nvPr/>
        </p:nvSpPr>
        <p:spPr>
          <a:xfrm>
            <a:off x="7912100" y="2924814"/>
            <a:ext cx="290989" cy="32766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3F4A5E"/>
                </a:solidFill>
                <a:latin typeface="Arial" pitchFamily="34" charset="0"/>
                <a:ea typeface="Arial" pitchFamily="34" charset="-122"/>
                <a:cs typeface="Arial" pitchFamily="34" charset="-120"/>
              </a:rPr>
              <a:t>60</a:t>
            </a:r>
            <a:endParaRPr lang="en-US" sz="1700" dirty="0"/>
          </a:p>
        </p:txBody>
      </p:sp>
      <p:sp>
        <p:nvSpPr>
          <p:cNvPr id="31" name="Text 29"/>
          <p:cNvSpPr/>
          <p:nvPr/>
        </p:nvSpPr>
        <p:spPr>
          <a:xfrm>
            <a:off x="8547100" y="2924814"/>
            <a:ext cx="939800" cy="327660"/>
          </a:xfrm>
          <a:prstGeom prst="rect">
            <a:avLst/>
          </a:prstGeom>
          <a:noFill/>
          <a:ln/>
        </p:spPr>
        <p:txBody>
          <a:bodyPr wrap="square" lIns="0" tIns="0" rIns="0" bIns="0" rtlCol="0" anchor="t">
            <a:normAutofit/>
          </a:bodyPr>
          <a:lstStyle/>
          <a:p>
            <a:pPr algn="r" indent="0" marL="0">
              <a:lnSpc>
                <a:spcPts val="2380"/>
              </a:lnSpc>
              <a:buNone/>
            </a:pPr>
            <a:r>
              <a:rPr lang="en-US" sz="1700" dirty="0">
                <a:solidFill>
                  <a:srgbClr val="3F4A5E"/>
                </a:solidFill>
                <a:latin typeface="Arial" pitchFamily="34" charset="0"/>
                <a:ea typeface="Arial" pitchFamily="34" charset="-122"/>
                <a:cs typeface="Arial" pitchFamily="34" charset="-120"/>
              </a:rPr>
              <a:t>$1,500</a:t>
            </a:r>
            <a:endParaRPr lang="en-US" sz="1700" dirty="0"/>
          </a:p>
        </p:txBody>
      </p:sp>
      <p:sp>
        <p:nvSpPr>
          <p:cNvPr id="32" name="Text 30"/>
          <p:cNvSpPr/>
          <p:nvPr/>
        </p:nvSpPr>
        <p:spPr>
          <a:xfrm>
            <a:off x="9639300" y="2924814"/>
            <a:ext cx="1638300" cy="32766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3F4A5E"/>
                </a:solidFill>
                <a:latin typeface="Arial" pitchFamily="34" charset="0"/>
                <a:ea typeface="Arial" pitchFamily="34" charset="-122"/>
                <a:cs typeface="Arial" pitchFamily="34" charset="-120"/>
              </a:rPr>
              <a:t>2-4 weeks</a:t>
            </a:r>
            <a:endParaRPr lang="en-US" sz="1700" dirty="0"/>
          </a:p>
        </p:txBody>
      </p:sp>
      <p:sp>
        <p:nvSpPr>
          <p:cNvPr id="33" name="Shape 31"/>
          <p:cNvSpPr/>
          <p:nvPr/>
        </p:nvSpPr>
        <p:spPr>
          <a:xfrm>
            <a:off x="812800" y="3324864"/>
            <a:ext cx="10566400" cy="497840"/>
          </a:xfrm>
          <a:prstGeom prst="rect">
            <a:avLst/>
          </a:prstGeom>
          <a:solidFill>
            <a:srgbClr val="FFFDF9"/>
          </a:solidFill>
          <a:ln/>
        </p:spPr>
      </p:sp>
      <p:sp>
        <p:nvSpPr>
          <p:cNvPr id="34" name="Text 32"/>
          <p:cNvSpPr/>
          <p:nvPr/>
        </p:nvSpPr>
        <p:spPr>
          <a:xfrm>
            <a:off x="965200" y="3413764"/>
            <a:ext cx="330200"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5B47D6"/>
                </a:solidFill>
                <a:latin typeface="Georgia" pitchFamily="18" charset="0"/>
                <a:ea typeface="Georgia" pitchFamily="18" charset="-122"/>
                <a:cs typeface="Georgia" pitchFamily="18" charset="-120"/>
              </a:rPr>
              <a:t>3</a:t>
            </a:r>
            <a:endParaRPr lang="en-US" sz="1800" dirty="0"/>
          </a:p>
        </p:txBody>
      </p:sp>
      <p:sp>
        <p:nvSpPr>
          <p:cNvPr id="35" name="Text 33"/>
          <p:cNvSpPr/>
          <p:nvPr/>
        </p:nvSpPr>
        <p:spPr>
          <a:xfrm>
            <a:off x="1397000" y="3422650"/>
            <a:ext cx="3675761" cy="32766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F2A44"/>
                </a:solidFill>
                <a:latin typeface="Arial" pitchFamily="34" charset="0"/>
                <a:ea typeface="Arial" pitchFamily="34" charset="-122"/>
                <a:cs typeface="Arial" pitchFamily="34" charset="-120"/>
              </a:rPr>
              <a:t>Cognitive behavioral therapy</a:t>
            </a:r>
            <a:endParaRPr lang="en-US" sz="1700" dirty="0"/>
          </a:p>
        </p:txBody>
      </p:sp>
      <p:sp>
        <p:nvSpPr>
          <p:cNvPr id="36" name="Shape 34"/>
          <p:cNvSpPr/>
          <p:nvPr/>
        </p:nvSpPr>
        <p:spPr>
          <a:xfrm>
            <a:off x="5118100" y="3522979"/>
            <a:ext cx="952500" cy="101600"/>
          </a:xfrm>
          <a:prstGeom prst="roundRect">
            <a:avLst>
              <a:gd name="adj" fmla="val 50000"/>
            </a:avLst>
          </a:prstGeom>
          <a:solidFill>
            <a:srgbClr val="E4DED3"/>
          </a:solidFill>
          <a:ln/>
        </p:spPr>
      </p:sp>
      <p:sp>
        <p:nvSpPr>
          <p:cNvPr id="37" name="Shape 35"/>
          <p:cNvSpPr/>
          <p:nvPr/>
        </p:nvSpPr>
        <p:spPr>
          <a:xfrm>
            <a:off x="5118100" y="3522979"/>
            <a:ext cx="742950" cy="101600"/>
          </a:xfrm>
          <a:custGeom>
            <a:avLst/>
            <a:gdLst/>
            <a:ahLst/>
            <a:cxnLst/>
            <a:rect l="l" t="t" r="r" b="b"/>
            <a:pathLst>
              <a:path w="742950" h="101600">
                <a:moveTo>
                  <a:pt x="0" y="50800"/>
                </a:moveTo>
                <a:arcTo hR="50800" wR="50800" stAng="10800000" swAng="5400000"/>
                <a:lnTo>
                  <a:pt x="742950" y="0"/>
                </a:lnTo>
                <a:lnTo>
                  <a:pt x="742950" y="101600"/>
                </a:lnTo>
                <a:lnTo>
                  <a:pt x="50800" y="101600"/>
                </a:lnTo>
                <a:arcTo hR="50800" wR="50800" stAng="5400000" swAng="5400000"/>
                <a:close/>
              </a:path>
            </a:pathLst>
          </a:custGeom>
          <a:solidFill>
            <a:srgbClr val="5B47D6"/>
          </a:solidFill>
          <a:ln/>
        </p:spPr>
      </p:sp>
      <p:sp>
        <p:nvSpPr>
          <p:cNvPr id="38" name="Text 36"/>
          <p:cNvSpPr/>
          <p:nvPr/>
        </p:nvSpPr>
        <p:spPr>
          <a:xfrm>
            <a:off x="6172200" y="3422650"/>
            <a:ext cx="290989" cy="32766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3F4A5E"/>
                </a:solidFill>
                <a:latin typeface="Arial" pitchFamily="34" charset="0"/>
                <a:ea typeface="Arial" pitchFamily="34" charset="-122"/>
                <a:cs typeface="Arial" pitchFamily="34" charset="-120"/>
              </a:rPr>
              <a:t>78</a:t>
            </a:r>
            <a:endParaRPr lang="en-US" sz="1700" dirty="0"/>
          </a:p>
        </p:txBody>
      </p:sp>
      <p:sp>
        <p:nvSpPr>
          <p:cNvPr id="39" name="Shape 37"/>
          <p:cNvSpPr/>
          <p:nvPr/>
        </p:nvSpPr>
        <p:spPr>
          <a:xfrm>
            <a:off x="6858000" y="3522979"/>
            <a:ext cx="952500" cy="101600"/>
          </a:xfrm>
          <a:prstGeom prst="roundRect">
            <a:avLst>
              <a:gd name="adj" fmla="val 50000"/>
            </a:avLst>
          </a:prstGeom>
          <a:solidFill>
            <a:srgbClr val="E4DED3"/>
          </a:solidFill>
          <a:ln/>
        </p:spPr>
      </p:sp>
      <p:sp>
        <p:nvSpPr>
          <p:cNvPr id="40" name="Shape 38"/>
          <p:cNvSpPr/>
          <p:nvPr/>
        </p:nvSpPr>
        <p:spPr>
          <a:xfrm>
            <a:off x="6858000" y="3522979"/>
            <a:ext cx="904875" cy="101600"/>
          </a:xfrm>
          <a:custGeom>
            <a:avLst/>
            <a:gdLst/>
            <a:ahLst/>
            <a:cxnLst/>
            <a:rect l="l" t="t" r="r" b="b"/>
            <a:pathLst>
              <a:path w="904875" h="101600">
                <a:moveTo>
                  <a:pt x="0" y="50800"/>
                </a:moveTo>
                <a:arcTo hR="50800" wR="50800" stAng="10800000" swAng="5400000"/>
                <a:lnTo>
                  <a:pt x="904875" y="0"/>
                </a:lnTo>
                <a:lnTo>
                  <a:pt x="904875" y="101600"/>
                </a:lnTo>
                <a:lnTo>
                  <a:pt x="50800" y="101600"/>
                </a:lnTo>
                <a:arcTo hR="50800" wR="50800" stAng="5400000" swAng="5400000"/>
                <a:close/>
              </a:path>
            </a:pathLst>
          </a:custGeom>
          <a:solidFill>
            <a:srgbClr val="F2A65A"/>
          </a:solidFill>
          <a:ln/>
        </p:spPr>
      </p:sp>
      <p:sp>
        <p:nvSpPr>
          <p:cNvPr id="41" name="Text 39"/>
          <p:cNvSpPr/>
          <p:nvPr/>
        </p:nvSpPr>
        <p:spPr>
          <a:xfrm>
            <a:off x="7912100" y="3422650"/>
            <a:ext cx="290989" cy="32766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3F4A5E"/>
                </a:solidFill>
                <a:latin typeface="Arial" pitchFamily="34" charset="0"/>
                <a:ea typeface="Arial" pitchFamily="34" charset="-122"/>
                <a:cs typeface="Arial" pitchFamily="34" charset="-120"/>
              </a:rPr>
              <a:t>95</a:t>
            </a:r>
            <a:endParaRPr lang="en-US" sz="1700" dirty="0"/>
          </a:p>
        </p:txBody>
      </p:sp>
      <p:sp>
        <p:nvSpPr>
          <p:cNvPr id="42" name="Text 40"/>
          <p:cNvSpPr/>
          <p:nvPr/>
        </p:nvSpPr>
        <p:spPr>
          <a:xfrm>
            <a:off x="8547100" y="3422650"/>
            <a:ext cx="939800" cy="327660"/>
          </a:xfrm>
          <a:prstGeom prst="rect">
            <a:avLst/>
          </a:prstGeom>
          <a:noFill/>
          <a:ln/>
        </p:spPr>
        <p:txBody>
          <a:bodyPr wrap="square" lIns="0" tIns="0" rIns="0" bIns="0" rtlCol="0" anchor="t">
            <a:normAutofit/>
          </a:bodyPr>
          <a:lstStyle/>
          <a:p>
            <a:pPr algn="r" indent="0" marL="0">
              <a:lnSpc>
                <a:spcPts val="2380"/>
              </a:lnSpc>
              <a:buNone/>
            </a:pPr>
            <a:r>
              <a:rPr lang="en-US" sz="1700" dirty="0">
                <a:solidFill>
                  <a:srgbClr val="3F4A5E"/>
                </a:solidFill>
                <a:latin typeface="Arial" pitchFamily="34" charset="0"/>
                <a:ea typeface="Arial" pitchFamily="34" charset="-122"/>
                <a:cs typeface="Arial" pitchFamily="34" charset="-120"/>
              </a:rPr>
              <a:t>$2,250</a:t>
            </a:r>
            <a:endParaRPr lang="en-US" sz="1700" dirty="0"/>
          </a:p>
        </p:txBody>
      </p:sp>
      <p:sp>
        <p:nvSpPr>
          <p:cNvPr id="43" name="Text 41"/>
          <p:cNvSpPr/>
          <p:nvPr/>
        </p:nvSpPr>
        <p:spPr>
          <a:xfrm>
            <a:off x="9639300" y="3422650"/>
            <a:ext cx="1638300" cy="32766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3F4A5E"/>
                </a:solidFill>
                <a:latin typeface="Arial" pitchFamily="34" charset="0"/>
                <a:ea typeface="Arial" pitchFamily="34" charset="-122"/>
                <a:cs typeface="Arial" pitchFamily="34" charset="-120"/>
              </a:rPr>
              <a:t>6-12 weeks</a:t>
            </a:r>
            <a:endParaRPr lang="en-US" sz="1700" dirty="0"/>
          </a:p>
        </p:txBody>
      </p:sp>
      <p:sp>
        <p:nvSpPr>
          <p:cNvPr id="44" name="Shape 42"/>
          <p:cNvSpPr/>
          <p:nvPr/>
        </p:nvSpPr>
        <p:spPr>
          <a:xfrm>
            <a:off x="812800" y="3822700"/>
            <a:ext cx="10566400" cy="497840"/>
          </a:xfrm>
          <a:prstGeom prst="rect">
            <a:avLst/>
          </a:prstGeom>
          <a:solidFill>
            <a:srgbClr val="F1ECE3"/>
          </a:solidFill>
          <a:ln/>
        </p:spPr>
      </p:sp>
      <p:sp>
        <p:nvSpPr>
          <p:cNvPr id="45" name="Text 43"/>
          <p:cNvSpPr/>
          <p:nvPr/>
        </p:nvSpPr>
        <p:spPr>
          <a:xfrm>
            <a:off x="965200" y="3911600"/>
            <a:ext cx="330200"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5B47D6"/>
                </a:solidFill>
                <a:latin typeface="Georgia" pitchFamily="18" charset="0"/>
                <a:ea typeface="Georgia" pitchFamily="18" charset="-122"/>
                <a:cs typeface="Georgia" pitchFamily="18" charset="-120"/>
              </a:rPr>
              <a:t>4</a:t>
            </a:r>
            <a:endParaRPr lang="en-US" sz="1800" dirty="0"/>
          </a:p>
        </p:txBody>
      </p:sp>
      <p:sp>
        <p:nvSpPr>
          <p:cNvPr id="46" name="Text 44"/>
          <p:cNvSpPr/>
          <p:nvPr/>
        </p:nvSpPr>
        <p:spPr>
          <a:xfrm>
            <a:off x="1397000" y="3920492"/>
            <a:ext cx="3675761" cy="32766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F2A44"/>
                </a:solidFill>
                <a:latin typeface="Arial" pitchFamily="34" charset="0"/>
                <a:ea typeface="Arial" pitchFamily="34" charset="-122"/>
                <a:cs typeface="Arial" pitchFamily="34" charset="-120"/>
              </a:rPr>
              <a:t>Sertraline (SSRI)</a:t>
            </a:r>
            <a:endParaRPr lang="en-US" sz="1700" dirty="0"/>
          </a:p>
        </p:txBody>
      </p:sp>
      <p:sp>
        <p:nvSpPr>
          <p:cNvPr id="47" name="Shape 45"/>
          <p:cNvSpPr/>
          <p:nvPr/>
        </p:nvSpPr>
        <p:spPr>
          <a:xfrm>
            <a:off x="5118100" y="4020821"/>
            <a:ext cx="952500" cy="101600"/>
          </a:xfrm>
          <a:prstGeom prst="roundRect">
            <a:avLst>
              <a:gd name="adj" fmla="val 50000"/>
            </a:avLst>
          </a:prstGeom>
          <a:solidFill>
            <a:srgbClr val="E4DED3"/>
          </a:solidFill>
          <a:ln/>
        </p:spPr>
      </p:sp>
      <p:sp>
        <p:nvSpPr>
          <p:cNvPr id="48" name="Shape 46"/>
          <p:cNvSpPr/>
          <p:nvPr/>
        </p:nvSpPr>
        <p:spPr>
          <a:xfrm>
            <a:off x="5118100" y="4020821"/>
            <a:ext cx="723900" cy="101600"/>
          </a:xfrm>
          <a:custGeom>
            <a:avLst/>
            <a:gdLst/>
            <a:ahLst/>
            <a:cxnLst/>
            <a:rect l="l" t="t" r="r" b="b"/>
            <a:pathLst>
              <a:path w="723900" h="101600">
                <a:moveTo>
                  <a:pt x="0" y="50800"/>
                </a:moveTo>
                <a:arcTo hR="50800" wR="50800" stAng="10800000" swAng="5400000"/>
                <a:lnTo>
                  <a:pt x="723900" y="0"/>
                </a:lnTo>
                <a:lnTo>
                  <a:pt x="723900" y="101600"/>
                </a:lnTo>
                <a:lnTo>
                  <a:pt x="50800" y="101600"/>
                </a:lnTo>
                <a:arcTo hR="50800" wR="50800" stAng="5400000" swAng="5400000"/>
                <a:close/>
              </a:path>
            </a:pathLst>
          </a:custGeom>
          <a:solidFill>
            <a:srgbClr val="5B47D6"/>
          </a:solidFill>
          <a:ln/>
        </p:spPr>
      </p:sp>
      <p:sp>
        <p:nvSpPr>
          <p:cNvPr id="49" name="Text 47"/>
          <p:cNvSpPr/>
          <p:nvPr/>
        </p:nvSpPr>
        <p:spPr>
          <a:xfrm>
            <a:off x="6172200" y="3920492"/>
            <a:ext cx="290989" cy="32766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3F4A5E"/>
                </a:solidFill>
                <a:latin typeface="Arial" pitchFamily="34" charset="0"/>
                <a:ea typeface="Arial" pitchFamily="34" charset="-122"/>
                <a:cs typeface="Arial" pitchFamily="34" charset="-120"/>
              </a:rPr>
              <a:t>76</a:t>
            </a:r>
            <a:endParaRPr lang="en-US" sz="1700" dirty="0"/>
          </a:p>
        </p:txBody>
      </p:sp>
      <p:sp>
        <p:nvSpPr>
          <p:cNvPr id="50" name="Shape 48"/>
          <p:cNvSpPr/>
          <p:nvPr/>
        </p:nvSpPr>
        <p:spPr>
          <a:xfrm>
            <a:off x="6858000" y="4020821"/>
            <a:ext cx="952500" cy="101600"/>
          </a:xfrm>
          <a:prstGeom prst="roundRect">
            <a:avLst>
              <a:gd name="adj" fmla="val 50000"/>
            </a:avLst>
          </a:prstGeom>
          <a:solidFill>
            <a:srgbClr val="E4DED3"/>
          </a:solidFill>
          <a:ln/>
        </p:spPr>
      </p:sp>
      <p:sp>
        <p:nvSpPr>
          <p:cNvPr id="51" name="Shape 49"/>
          <p:cNvSpPr/>
          <p:nvPr/>
        </p:nvSpPr>
        <p:spPr>
          <a:xfrm>
            <a:off x="6858000" y="4020821"/>
            <a:ext cx="571500" cy="101600"/>
          </a:xfrm>
          <a:custGeom>
            <a:avLst/>
            <a:gdLst/>
            <a:ahLst/>
            <a:cxnLst/>
            <a:rect l="l" t="t" r="r" b="b"/>
            <a:pathLst>
              <a:path w="571500" h="101600">
                <a:moveTo>
                  <a:pt x="0" y="50800"/>
                </a:moveTo>
                <a:arcTo hR="50800" wR="50800" stAng="10800000" swAng="5400000"/>
                <a:lnTo>
                  <a:pt x="571500" y="0"/>
                </a:lnTo>
                <a:lnTo>
                  <a:pt x="571500" y="101600"/>
                </a:lnTo>
                <a:lnTo>
                  <a:pt x="50800" y="101600"/>
                </a:lnTo>
                <a:arcTo hR="50800" wR="50800" stAng="5400000" swAng="5400000"/>
                <a:close/>
              </a:path>
            </a:pathLst>
          </a:custGeom>
          <a:solidFill>
            <a:srgbClr val="F2A65A"/>
          </a:solidFill>
          <a:ln/>
        </p:spPr>
      </p:sp>
      <p:sp>
        <p:nvSpPr>
          <p:cNvPr id="52" name="Text 50"/>
          <p:cNvSpPr/>
          <p:nvPr/>
        </p:nvSpPr>
        <p:spPr>
          <a:xfrm>
            <a:off x="7912100" y="3920492"/>
            <a:ext cx="290989" cy="32766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3F4A5E"/>
                </a:solidFill>
                <a:latin typeface="Arial" pitchFamily="34" charset="0"/>
                <a:ea typeface="Arial" pitchFamily="34" charset="-122"/>
                <a:cs typeface="Arial" pitchFamily="34" charset="-120"/>
              </a:rPr>
              <a:t>60</a:t>
            </a:r>
            <a:endParaRPr lang="en-US" sz="1700" dirty="0"/>
          </a:p>
        </p:txBody>
      </p:sp>
      <p:sp>
        <p:nvSpPr>
          <p:cNvPr id="53" name="Text 51"/>
          <p:cNvSpPr/>
          <p:nvPr/>
        </p:nvSpPr>
        <p:spPr>
          <a:xfrm>
            <a:off x="8547100" y="3920492"/>
            <a:ext cx="939800" cy="327660"/>
          </a:xfrm>
          <a:prstGeom prst="rect">
            <a:avLst/>
          </a:prstGeom>
          <a:noFill/>
          <a:ln/>
        </p:spPr>
        <p:txBody>
          <a:bodyPr wrap="square" lIns="0" tIns="0" rIns="0" bIns="0" rtlCol="0" anchor="t">
            <a:normAutofit/>
          </a:bodyPr>
          <a:lstStyle/>
          <a:p>
            <a:pPr algn="r" indent="0" marL="0">
              <a:lnSpc>
                <a:spcPts val="2380"/>
              </a:lnSpc>
              <a:buNone/>
            </a:pPr>
            <a:r>
              <a:rPr lang="en-US" sz="1700" dirty="0">
                <a:solidFill>
                  <a:srgbClr val="3F4A5E"/>
                </a:solidFill>
                <a:latin typeface="Arial" pitchFamily="34" charset="0"/>
                <a:ea typeface="Arial" pitchFamily="34" charset="-122"/>
                <a:cs typeface="Arial" pitchFamily="34" charset="-120"/>
              </a:rPr>
              <a:t>$1,350</a:t>
            </a:r>
            <a:endParaRPr lang="en-US" sz="1700" dirty="0"/>
          </a:p>
        </p:txBody>
      </p:sp>
      <p:sp>
        <p:nvSpPr>
          <p:cNvPr id="54" name="Text 52"/>
          <p:cNvSpPr/>
          <p:nvPr/>
        </p:nvSpPr>
        <p:spPr>
          <a:xfrm>
            <a:off x="9639300" y="3920492"/>
            <a:ext cx="1638300" cy="32766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3F4A5E"/>
                </a:solidFill>
                <a:latin typeface="Arial" pitchFamily="34" charset="0"/>
                <a:ea typeface="Arial" pitchFamily="34" charset="-122"/>
                <a:cs typeface="Arial" pitchFamily="34" charset="-120"/>
              </a:rPr>
              <a:t>2-4 weeks</a:t>
            </a:r>
            <a:endParaRPr lang="en-US" sz="1700" dirty="0"/>
          </a:p>
        </p:txBody>
      </p:sp>
      <p:sp>
        <p:nvSpPr>
          <p:cNvPr id="55" name="Shape 53"/>
          <p:cNvSpPr/>
          <p:nvPr/>
        </p:nvSpPr>
        <p:spPr>
          <a:xfrm>
            <a:off x="812800" y="4320542"/>
            <a:ext cx="10566400" cy="497840"/>
          </a:xfrm>
          <a:prstGeom prst="rect">
            <a:avLst/>
          </a:prstGeom>
          <a:solidFill>
            <a:srgbClr val="FFFDF9"/>
          </a:solidFill>
          <a:ln/>
        </p:spPr>
      </p:sp>
      <p:sp>
        <p:nvSpPr>
          <p:cNvPr id="56" name="Text 54"/>
          <p:cNvSpPr/>
          <p:nvPr/>
        </p:nvSpPr>
        <p:spPr>
          <a:xfrm>
            <a:off x="965200" y="4409442"/>
            <a:ext cx="330200"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5B47D6"/>
                </a:solidFill>
                <a:latin typeface="Georgia" pitchFamily="18" charset="0"/>
                <a:ea typeface="Georgia" pitchFamily="18" charset="-122"/>
                <a:cs typeface="Georgia" pitchFamily="18" charset="-120"/>
              </a:rPr>
              <a:t>5</a:t>
            </a:r>
            <a:endParaRPr lang="en-US" sz="1800" dirty="0"/>
          </a:p>
        </p:txBody>
      </p:sp>
      <p:sp>
        <p:nvSpPr>
          <p:cNvPr id="57" name="Text 55"/>
          <p:cNvSpPr/>
          <p:nvPr/>
        </p:nvSpPr>
        <p:spPr>
          <a:xfrm>
            <a:off x="1397000" y="4418329"/>
            <a:ext cx="3675761" cy="32766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F2A44"/>
                </a:solidFill>
                <a:latin typeface="Arial" pitchFamily="34" charset="0"/>
                <a:ea typeface="Arial" pitchFamily="34" charset="-122"/>
                <a:cs typeface="Arial" pitchFamily="34" charset="-120"/>
              </a:rPr>
              <a:t>Mirtazapine</a:t>
            </a:r>
            <a:endParaRPr lang="en-US" sz="1700" dirty="0"/>
          </a:p>
        </p:txBody>
      </p:sp>
      <p:sp>
        <p:nvSpPr>
          <p:cNvPr id="58" name="Shape 56"/>
          <p:cNvSpPr/>
          <p:nvPr/>
        </p:nvSpPr>
        <p:spPr>
          <a:xfrm>
            <a:off x="5118100" y="4518664"/>
            <a:ext cx="952500" cy="101600"/>
          </a:xfrm>
          <a:prstGeom prst="roundRect">
            <a:avLst>
              <a:gd name="adj" fmla="val 50000"/>
            </a:avLst>
          </a:prstGeom>
          <a:solidFill>
            <a:srgbClr val="E4DED3"/>
          </a:solidFill>
          <a:ln/>
        </p:spPr>
      </p:sp>
      <p:sp>
        <p:nvSpPr>
          <p:cNvPr id="59" name="Shape 57"/>
          <p:cNvSpPr/>
          <p:nvPr/>
        </p:nvSpPr>
        <p:spPr>
          <a:xfrm>
            <a:off x="5118100" y="4518664"/>
            <a:ext cx="714375" cy="101600"/>
          </a:xfrm>
          <a:custGeom>
            <a:avLst/>
            <a:gdLst/>
            <a:ahLst/>
            <a:cxnLst/>
            <a:rect l="l" t="t" r="r" b="b"/>
            <a:pathLst>
              <a:path w="714375" h="101600">
                <a:moveTo>
                  <a:pt x="0" y="50800"/>
                </a:moveTo>
                <a:arcTo hR="50800" wR="50800" stAng="10800000" swAng="5400000"/>
                <a:lnTo>
                  <a:pt x="714375" y="0"/>
                </a:lnTo>
                <a:lnTo>
                  <a:pt x="714375" y="101600"/>
                </a:lnTo>
                <a:lnTo>
                  <a:pt x="50800" y="101600"/>
                </a:lnTo>
                <a:arcTo hR="50800" wR="50800" stAng="5400000" swAng="5400000"/>
                <a:close/>
              </a:path>
            </a:pathLst>
          </a:custGeom>
          <a:solidFill>
            <a:srgbClr val="5B47D6"/>
          </a:solidFill>
          <a:ln/>
        </p:spPr>
      </p:sp>
      <p:sp>
        <p:nvSpPr>
          <p:cNvPr id="60" name="Text 58"/>
          <p:cNvSpPr/>
          <p:nvPr/>
        </p:nvSpPr>
        <p:spPr>
          <a:xfrm>
            <a:off x="6172200" y="4418329"/>
            <a:ext cx="290989" cy="32766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3F4A5E"/>
                </a:solidFill>
                <a:latin typeface="Arial" pitchFamily="34" charset="0"/>
                <a:ea typeface="Arial" pitchFamily="34" charset="-122"/>
                <a:cs typeface="Arial" pitchFamily="34" charset="-120"/>
              </a:rPr>
              <a:t>75</a:t>
            </a:r>
            <a:endParaRPr lang="en-US" sz="1700" dirty="0"/>
          </a:p>
        </p:txBody>
      </p:sp>
      <p:sp>
        <p:nvSpPr>
          <p:cNvPr id="61" name="Shape 59"/>
          <p:cNvSpPr/>
          <p:nvPr/>
        </p:nvSpPr>
        <p:spPr>
          <a:xfrm>
            <a:off x="6858000" y="4518664"/>
            <a:ext cx="952500" cy="101600"/>
          </a:xfrm>
          <a:prstGeom prst="roundRect">
            <a:avLst>
              <a:gd name="adj" fmla="val 50000"/>
            </a:avLst>
          </a:prstGeom>
          <a:solidFill>
            <a:srgbClr val="E4DED3"/>
          </a:solidFill>
          <a:ln/>
        </p:spPr>
      </p:sp>
      <p:sp>
        <p:nvSpPr>
          <p:cNvPr id="62" name="Shape 60"/>
          <p:cNvSpPr/>
          <p:nvPr/>
        </p:nvSpPr>
        <p:spPr>
          <a:xfrm>
            <a:off x="6858000" y="4518664"/>
            <a:ext cx="571500" cy="101600"/>
          </a:xfrm>
          <a:custGeom>
            <a:avLst/>
            <a:gdLst/>
            <a:ahLst/>
            <a:cxnLst/>
            <a:rect l="l" t="t" r="r" b="b"/>
            <a:pathLst>
              <a:path w="571500" h="101600">
                <a:moveTo>
                  <a:pt x="0" y="50800"/>
                </a:moveTo>
                <a:arcTo hR="50800" wR="50800" stAng="10800000" swAng="5400000"/>
                <a:lnTo>
                  <a:pt x="571500" y="0"/>
                </a:lnTo>
                <a:lnTo>
                  <a:pt x="571500" y="101600"/>
                </a:lnTo>
                <a:lnTo>
                  <a:pt x="50800" y="101600"/>
                </a:lnTo>
                <a:arcTo hR="50800" wR="50800" stAng="5400000" swAng="5400000"/>
                <a:close/>
              </a:path>
            </a:pathLst>
          </a:custGeom>
          <a:solidFill>
            <a:srgbClr val="F2A65A"/>
          </a:solidFill>
          <a:ln/>
        </p:spPr>
      </p:sp>
      <p:sp>
        <p:nvSpPr>
          <p:cNvPr id="63" name="Text 61"/>
          <p:cNvSpPr/>
          <p:nvPr/>
        </p:nvSpPr>
        <p:spPr>
          <a:xfrm>
            <a:off x="7912100" y="4418329"/>
            <a:ext cx="290989" cy="32766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3F4A5E"/>
                </a:solidFill>
                <a:latin typeface="Arial" pitchFamily="34" charset="0"/>
                <a:ea typeface="Arial" pitchFamily="34" charset="-122"/>
                <a:cs typeface="Arial" pitchFamily="34" charset="-120"/>
              </a:rPr>
              <a:t>60</a:t>
            </a:r>
            <a:endParaRPr lang="en-US" sz="1700" dirty="0"/>
          </a:p>
        </p:txBody>
      </p:sp>
      <p:sp>
        <p:nvSpPr>
          <p:cNvPr id="64" name="Text 62"/>
          <p:cNvSpPr/>
          <p:nvPr/>
        </p:nvSpPr>
        <p:spPr>
          <a:xfrm>
            <a:off x="8547100" y="4418329"/>
            <a:ext cx="939800" cy="327660"/>
          </a:xfrm>
          <a:prstGeom prst="rect">
            <a:avLst/>
          </a:prstGeom>
          <a:noFill/>
          <a:ln/>
        </p:spPr>
        <p:txBody>
          <a:bodyPr wrap="square" lIns="0" tIns="0" rIns="0" bIns="0" rtlCol="0" anchor="t">
            <a:normAutofit/>
          </a:bodyPr>
          <a:lstStyle/>
          <a:p>
            <a:pPr algn="r" indent="0" marL="0">
              <a:lnSpc>
                <a:spcPts val="2380"/>
              </a:lnSpc>
              <a:buNone/>
            </a:pPr>
            <a:r>
              <a:rPr lang="en-US" sz="1700" dirty="0">
                <a:solidFill>
                  <a:srgbClr val="3F4A5E"/>
                </a:solidFill>
                <a:latin typeface="Arial" pitchFamily="34" charset="0"/>
                <a:ea typeface="Arial" pitchFamily="34" charset="-122"/>
                <a:cs typeface="Arial" pitchFamily="34" charset="-120"/>
              </a:rPr>
              <a:t>$1,300</a:t>
            </a:r>
            <a:endParaRPr lang="en-US" sz="1700" dirty="0"/>
          </a:p>
        </p:txBody>
      </p:sp>
      <p:sp>
        <p:nvSpPr>
          <p:cNvPr id="65" name="Text 63"/>
          <p:cNvSpPr/>
          <p:nvPr/>
        </p:nvSpPr>
        <p:spPr>
          <a:xfrm>
            <a:off x="9639300" y="4418329"/>
            <a:ext cx="1638300" cy="32766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3F4A5E"/>
                </a:solidFill>
                <a:latin typeface="Arial" pitchFamily="34" charset="0"/>
                <a:ea typeface="Arial" pitchFamily="34" charset="-122"/>
                <a:cs typeface="Arial" pitchFamily="34" charset="-120"/>
              </a:rPr>
              <a:t>1-4 weeks</a:t>
            </a:r>
            <a:endParaRPr lang="en-US" sz="1700" dirty="0"/>
          </a:p>
        </p:txBody>
      </p:sp>
      <p:sp>
        <p:nvSpPr>
          <p:cNvPr id="66" name="Shape 64"/>
          <p:cNvSpPr/>
          <p:nvPr/>
        </p:nvSpPr>
        <p:spPr>
          <a:xfrm>
            <a:off x="812800" y="4818379"/>
            <a:ext cx="10566400" cy="497840"/>
          </a:xfrm>
          <a:prstGeom prst="rect">
            <a:avLst/>
          </a:prstGeom>
          <a:solidFill>
            <a:srgbClr val="F1ECE3"/>
          </a:solidFill>
          <a:ln/>
        </p:spPr>
      </p:sp>
      <p:sp>
        <p:nvSpPr>
          <p:cNvPr id="67" name="Text 65"/>
          <p:cNvSpPr/>
          <p:nvPr/>
        </p:nvSpPr>
        <p:spPr>
          <a:xfrm>
            <a:off x="965200" y="4907279"/>
            <a:ext cx="330200"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5B47D6"/>
                </a:solidFill>
                <a:latin typeface="Georgia" pitchFamily="18" charset="0"/>
                <a:ea typeface="Georgia" pitchFamily="18" charset="-122"/>
                <a:cs typeface="Georgia" pitchFamily="18" charset="-120"/>
              </a:rPr>
              <a:t>6</a:t>
            </a:r>
            <a:endParaRPr lang="en-US" sz="1800" dirty="0"/>
          </a:p>
        </p:txBody>
      </p:sp>
      <p:sp>
        <p:nvSpPr>
          <p:cNvPr id="68" name="Text 66"/>
          <p:cNvSpPr/>
          <p:nvPr/>
        </p:nvSpPr>
        <p:spPr>
          <a:xfrm>
            <a:off x="1397000" y="4916171"/>
            <a:ext cx="3675761" cy="32766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F2A44"/>
                </a:solidFill>
                <a:latin typeface="Arial" pitchFamily="34" charset="0"/>
                <a:ea typeface="Arial" pitchFamily="34" charset="-122"/>
                <a:cs typeface="Arial" pitchFamily="34" charset="-120"/>
              </a:rPr>
              <a:t>Esketamine (nasal)</a:t>
            </a:r>
            <a:endParaRPr lang="en-US" sz="1700" dirty="0"/>
          </a:p>
        </p:txBody>
      </p:sp>
      <p:sp>
        <p:nvSpPr>
          <p:cNvPr id="69" name="Shape 67"/>
          <p:cNvSpPr/>
          <p:nvPr/>
        </p:nvSpPr>
        <p:spPr>
          <a:xfrm>
            <a:off x="5118100" y="5016500"/>
            <a:ext cx="952500" cy="101600"/>
          </a:xfrm>
          <a:prstGeom prst="roundRect">
            <a:avLst>
              <a:gd name="adj" fmla="val 50000"/>
            </a:avLst>
          </a:prstGeom>
          <a:solidFill>
            <a:srgbClr val="E4DED3"/>
          </a:solidFill>
          <a:ln/>
        </p:spPr>
      </p:sp>
      <p:sp>
        <p:nvSpPr>
          <p:cNvPr id="70" name="Shape 68"/>
          <p:cNvSpPr/>
          <p:nvPr/>
        </p:nvSpPr>
        <p:spPr>
          <a:xfrm>
            <a:off x="5118100" y="5016500"/>
            <a:ext cx="685800" cy="101600"/>
          </a:xfrm>
          <a:custGeom>
            <a:avLst/>
            <a:gdLst/>
            <a:ahLst/>
            <a:cxnLst/>
            <a:rect l="l" t="t" r="r" b="b"/>
            <a:pathLst>
              <a:path w="685800" h="101600">
                <a:moveTo>
                  <a:pt x="0" y="50800"/>
                </a:moveTo>
                <a:arcTo hR="50800" wR="50800" stAng="10800000" swAng="5400000"/>
                <a:lnTo>
                  <a:pt x="685800" y="0"/>
                </a:lnTo>
                <a:lnTo>
                  <a:pt x="685800" y="101600"/>
                </a:lnTo>
                <a:lnTo>
                  <a:pt x="50800" y="101600"/>
                </a:lnTo>
                <a:arcTo hR="50800" wR="50800" stAng="5400000" swAng="5400000"/>
                <a:close/>
              </a:path>
            </a:pathLst>
          </a:custGeom>
          <a:solidFill>
            <a:srgbClr val="5B47D6"/>
          </a:solidFill>
          <a:ln/>
        </p:spPr>
      </p:sp>
      <p:sp>
        <p:nvSpPr>
          <p:cNvPr id="71" name="Text 69"/>
          <p:cNvSpPr/>
          <p:nvPr/>
        </p:nvSpPr>
        <p:spPr>
          <a:xfrm>
            <a:off x="6172200" y="4916171"/>
            <a:ext cx="290989" cy="32766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3F4A5E"/>
                </a:solidFill>
                <a:latin typeface="Arial" pitchFamily="34" charset="0"/>
                <a:ea typeface="Arial" pitchFamily="34" charset="-122"/>
                <a:cs typeface="Arial" pitchFamily="34" charset="-120"/>
              </a:rPr>
              <a:t>72</a:t>
            </a:r>
            <a:endParaRPr lang="en-US" sz="1700" dirty="0"/>
          </a:p>
        </p:txBody>
      </p:sp>
      <p:sp>
        <p:nvSpPr>
          <p:cNvPr id="72" name="Shape 70"/>
          <p:cNvSpPr/>
          <p:nvPr/>
        </p:nvSpPr>
        <p:spPr>
          <a:xfrm>
            <a:off x="6858000" y="5016500"/>
            <a:ext cx="952500" cy="101600"/>
          </a:xfrm>
          <a:prstGeom prst="roundRect">
            <a:avLst>
              <a:gd name="adj" fmla="val 50000"/>
            </a:avLst>
          </a:prstGeom>
          <a:solidFill>
            <a:srgbClr val="E4DED3"/>
          </a:solidFill>
          <a:ln/>
        </p:spPr>
      </p:sp>
      <p:sp>
        <p:nvSpPr>
          <p:cNvPr id="73" name="Shape 71"/>
          <p:cNvSpPr/>
          <p:nvPr/>
        </p:nvSpPr>
        <p:spPr>
          <a:xfrm>
            <a:off x="6858000" y="5016500"/>
            <a:ext cx="428625" cy="101600"/>
          </a:xfrm>
          <a:custGeom>
            <a:avLst/>
            <a:gdLst/>
            <a:ahLst/>
            <a:cxnLst/>
            <a:rect l="l" t="t" r="r" b="b"/>
            <a:pathLst>
              <a:path w="428625" h="101600">
                <a:moveTo>
                  <a:pt x="0" y="50800"/>
                </a:moveTo>
                <a:arcTo hR="50800" wR="50800" stAng="10800000" swAng="5400000"/>
                <a:lnTo>
                  <a:pt x="428625" y="0"/>
                </a:lnTo>
                <a:lnTo>
                  <a:pt x="428625" y="101600"/>
                </a:lnTo>
                <a:lnTo>
                  <a:pt x="50800" y="101600"/>
                </a:lnTo>
                <a:arcTo hR="50800" wR="50800" stAng="5400000" swAng="5400000"/>
                <a:close/>
              </a:path>
            </a:pathLst>
          </a:custGeom>
          <a:solidFill>
            <a:srgbClr val="F2A65A"/>
          </a:solidFill>
          <a:ln/>
        </p:spPr>
      </p:sp>
      <p:sp>
        <p:nvSpPr>
          <p:cNvPr id="74" name="Text 72"/>
          <p:cNvSpPr/>
          <p:nvPr/>
        </p:nvSpPr>
        <p:spPr>
          <a:xfrm>
            <a:off x="7912100" y="4916171"/>
            <a:ext cx="290989" cy="32766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3F4A5E"/>
                </a:solidFill>
                <a:latin typeface="Arial" pitchFamily="34" charset="0"/>
                <a:ea typeface="Arial" pitchFamily="34" charset="-122"/>
                <a:cs typeface="Arial" pitchFamily="34" charset="-120"/>
              </a:rPr>
              <a:t>45</a:t>
            </a:r>
            <a:endParaRPr lang="en-US" sz="1700" dirty="0"/>
          </a:p>
        </p:txBody>
      </p:sp>
      <p:sp>
        <p:nvSpPr>
          <p:cNvPr id="75" name="Text 73"/>
          <p:cNvSpPr/>
          <p:nvPr/>
        </p:nvSpPr>
        <p:spPr>
          <a:xfrm>
            <a:off x="8547100" y="4916171"/>
            <a:ext cx="939800" cy="327660"/>
          </a:xfrm>
          <a:prstGeom prst="rect">
            <a:avLst/>
          </a:prstGeom>
          <a:noFill/>
          <a:ln/>
        </p:spPr>
        <p:txBody>
          <a:bodyPr wrap="square" lIns="0" tIns="0" rIns="0" bIns="0" rtlCol="0" anchor="t">
            <a:normAutofit/>
          </a:bodyPr>
          <a:lstStyle/>
          <a:p>
            <a:pPr algn="r" indent="0" marL="0">
              <a:lnSpc>
                <a:spcPts val="2380"/>
              </a:lnSpc>
              <a:buNone/>
            </a:pPr>
            <a:r>
              <a:rPr lang="en-US" sz="1700" dirty="0">
                <a:solidFill>
                  <a:srgbClr val="3F4A5E"/>
                </a:solidFill>
                <a:latin typeface="Arial" pitchFamily="34" charset="0"/>
                <a:ea typeface="Arial" pitchFamily="34" charset="-122"/>
                <a:cs typeface="Arial" pitchFamily="34" charset="-120"/>
              </a:rPr>
              <a:t>$40,800</a:t>
            </a:r>
            <a:endParaRPr lang="en-US" sz="1700" dirty="0"/>
          </a:p>
        </p:txBody>
      </p:sp>
      <p:sp>
        <p:nvSpPr>
          <p:cNvPr id="76" name="Text 74"/>
          <p:cNvSpPr/>
          <p:nvPr/>
        </p:nvSpPr>
        <p:spPr>
          <a:xfrm>
            <a:off x="9639300" y="4916171"/>
            <a:ext cx="1638300" cy="32766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3F4A5E"/>
                </a:solidFill>
                <a:latin typeface="Arial" pitchFamily="34" charset="0"/>
                <a:ea typeface="Arial" pitchFamily="34" charset="-122"/>
                <a:cs typeface="Arial" pitchFamily="34" charset="-120"/>
              </a:rPr>
              <a:t>Hours to days</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800" y="812800"/>
            <a:ext cx="10883392" cy="265351"/>
          </a:xfrm>
          <a:prstGeom prst="rect">
            <a:avLst/>
          </a:prstGeom>
          <a:noFill/>
          <a:ln/>
        </p:spPr>
        <p:txBody>
          <a:bodyPr wrap="square" lIns="0" tIns="0" rIns="0" bIns="0" rtlCol="0" anchor="t">
            <a:normAutofit/>
          </a:bodyPr>
          <a:lstStyle/>
          <a:p>
            <a:pPr algn="l" indent="0" marL="0">
              <a:lnSpc>
                <a:spcPts val="1923"/>
              </a:lnSpc>
              <a:buNone/>
            </a:pPr>
            <a:r>
              <a:rPr lang="en-US" sz="1374" b="1" spc="150" kern="0" dirty="0">
                <a:solidFill>
                  <a:srgbClr val="5B47D6"/>
                </a:solidFill>
                <a:latin typeface="Arial" pitchFamily="34" charset="0"/>
                <a:ea typeface="Arial" pitchFamily="34" charset="-122"/>
                <a:cs typeface="Arial" pitchFamily="34" charset="-120"/>
              </a:rPr>
              <a:t>OUTCOME LABELS</a:t>
            </a:r>
            <a:endParaRPr lang="en-US" sz="1374" dirty="0"/>
          </a:p>
        </p:txBody>
      </p:sp>
      <p:sp>
        <p:nvSpPr>
          <p:cNvPr id="3" name="Text 1"/>
          <p:cNvSpPr/>
          <p:nvPr/>
        </p:nvSpPr>
        <p:spPr>
          <a:xfrm>
            <a:off x="812800" y="1128954"/>
            <a:ext cx="10883392" cy="476012"/>
          </a:xfrm>
          <a:prstGeom prst="rect">
            <a:avLst/>
          </a:prstGeom>
          <a:noFill/>
          <a:ln/>
        </p:spPr>
        <p:txBody>
          <a:bodyPr wrap="square" lIns="0" tIns="0" rIns="0" bIns="0" rtlCol="0" anchor="t">
            <a:normAutofit/>
          </a:bodyPr>
          <a:lstStyle/>
          <a:p>
            <a:pPr algn="l" indent="0" marL="0">
              <a:lnSpc>
                <a:spcPts val="3565"/>
              </a:lnSpc>
              <a:buNone/>
            </a:pPr>
            <a:r>
              <a:rPr lang="en-US" sz="3100" b="1" dirty="0">
                <a:solidFill>
                  <a:srgbClr val="1F2A44"/>
                </a:solidFill>
                <a:latin typeface="Georgia" pitchFamily="18" charset="0"/>
                <a:ea typeface="Georgia" pitchFamily="18" charset="-122"/>
                <a:cs typeface="Georgia" pitchFamily="18" charset="-120"/>
              </a:rPr>
              <a:t>A label that gets better with every patient</a:t>
            </a:r>
            <a:endParaRPr lang="en-US" sz="3100" dirty="0"/>
          </a:p>
        </p:txBody>
      </p:sp>
      <p:sp>
        <p:nvSpPr>
          <p:cNvPr id="4" name="Shape 2"/>
          <p:cNvSpPr/>
          <p:nvPr/>
        </p:nvSpPr>
        <p:spPr>
          <a:xfrm>
            <a:off x="815975" y="1811338"/>
            <a:ext cx="6597650" cy="4230688"/>
          </a:xfrm>
          <a:prstGeom prst="roundRect">
            <a:avLst>
              <a:gd name="adj" fmla="val 3527"/>
            </a:avLst>
          </a:prstGeom>
          <a:solidFill>
            <a:srgbClr val="FFFDF9"/>
          </a:solidFill>
          <a:ln w="6350">
            <a:solidFill>
              <a:srgbClr val="E4DED3"/>
            </a:solidFill>
            <a:prstDash val="solid"/>
          </a:ln>
        </p:spPr>
      </p:sp>
      <p:sp>
        <p:nvSpPr>
          <p:cNvPr id="5" name="Text 3"/>
          <p:cNvSpPr/>
          <p:nvPr/>
        </p:nvSpPr>
        <p:spPr>
          <a:xfrm>
            <a:off x="1046480" y="2016441"/>
            <a:ext cx="6320739" cy="332819"/>
          </a:xfrm>
          <a:prstGeom prst="rect">
            <a:avLst/>
          </a:prstGeom>
          <a:noFill/>
          <a:ln/>
        </p:spPr>
        <p:txBody>
          <a:bodyPr wrap="square" lIns="0" tIns="0" rIns="0" bIns="0" rtlCol="0" anchor="t">
            <a:normAutofit/>
          </a:bodyPr>
          <a:lstStyle/>
          <a:p>
            <a:pPr algn="l" indent="0" marL="0">
              <a:lnSpc>
                <a:spcPts val="2419"/>
              </a:lnSpc>
              <a:buNone/>
            </a:pPr>
            <a:r>
              <a:rPr lang="en-US" sz="2104" b="1" dirty="0">
                <a:solidFill>
                  <a:srgbClr val="1F2A44"/>
                </a:solidFill>
                <a:latin typeface="Georgia" pitchFamily="18" charset="0"/>
                <a:ea typeface="Georgia" pitchFamily="18" charset="-122"/>
                <a:cs typeface="Georgia" pitchFamily="18" charset="-120"/>
              </a:rPr>
              <a:t>Treatment X for early Alzheimer's</a:t>
            </a:r>
            <a:endParaRPr lang="en-US" sz="2104" dirty="0"/>
          </a:p>
        </p:txBody>
      </p:sp>
      <p:sp>
        <p:nvSpPr>
          <p:cNvPr id="6" name="Text 4"/>
          <p:cNvSpPr/>
          <p:nvPr/>
        </p:nvSpPr>
        <p:spPr>
          <a:xfrm>
            <a:off x="1046480" y="2349264"/>
            <a:ext cx="6320739" cy="238601"/>
          </a:xfrm>
          <a:prstGeom prst="rect">
            <a:avLst/>
          </a:prstGeom>
          <a:noFill/>
          <a:ln/>
        </p:spPr>
        <p:txBody>
          <a:bodyPr wrap="square" lIns="0" tIns="0" rIns="0" bIns="0" rtlCol="0" anchor="t">
            <a:normAutofit/>
          </a:bodyPr>
          <a:lstStyle/>
          <a:p>
            <a:pPr algn="l" indent="0" marL="0">
              <a:lnSpc>
                <a:spcPts val="1722"/>
              </a:lnSpc>
              <a:buNone/>
            </a:pPr>
            <a:r>
              <a:rPr lang="en-US" sz="1276" dirty="0">
                <a:solidFill>
                  <a:srgbClr val="626A7C"/>
                </a:solidFill>
                <a:latin typeface="Arial" pitchFamily="34" charset="0"/>
                <a:ea typeface="Arial" pitchFamily="34" charset="-122"/>
                <a:cs typeface="Arial" pitchFamily="34" charset="-120"/>
              </a:rPr>
              <a:t>Updated monthly · 2 trials + 48 real-world patients</a:t>
            </a:r>
            <a:endParaRPr lang="en-US" sz="1276" dirty="0"/>
          </a:p>
        </p:txBody>
      </p:sp>
      <p:sp>
        <p:nvSpPr>
          <p:cNvPr id="7" name="Text 5"/>
          <p:cNvSpPr/>
          <p:nvPr/>
        </p:nvSpPr>
        <p:spPr>
          <a:xfrm>
            <a:off x="1046480" y="2676767"/>
            <a:ext cx="3029560" cy="236299"/>
          </a:xfrm>
          <a:prstGeom prst="rect">
            <a:avLst/>
          </a:prstGeom>
          <a:noFill/>
          <a:ln/>
        </p:spPr>
        <p:txBody>
          <a:bodyPr wrap="square" lIns="0" tIns="0" rIns="0" bIns="0" rtlCol="0" anchor="t">
            <a:normAutofit/>
          </a:bodyPr>
          <a:lstStyle/>
          <a:p>
            <a:pPr algn="l" indent="0" marL="0">
              <a:lnSpc>
                <a:spcPts val="1673"/>
              </a:lnSpc>
              <a:buNone/>
            </a:pPr>
            <a:r>
              <a:rPr lang="en-US" sz="1239" dirty="0">
                <a:solidFill>
                  <a:srgbClr val="626A7C"/>
                </a:solidFill>
                <a:latin typeface="Arial" pitchFamily="34" charset="0"/>
                <a:ea typeface="Arial" pitchFamily="34" charset="-122"/>
                <a:cs typeface="Arial" pitchFamily="34" charset="-120"/>
              </a:rPr>
              <a:t>Effectiveness estimate</a:t>
            </a:r>
            <a:endParaRPr lang="en-US" sz="1239" dirty="0"/>
          </a:p>
        </p:txBody>
      </p:sp>
      <p:sp>
        <p:nvSpPr>
          <p:cNvPr id="8" name="Text 6"/>
          <p:cNvSpPr/>
          <p:nvPr/>
        </p:nvSpPr>
        <p:spPr>
          <a:xfrm>
            <a:off x="1046480" y="2925763"/>
            <a:ext cx="3029560" cy="342741"/>
          </a:xfrm>
          <a:prstGeom prst="rect">
            <a:avLst/>
          </a:prstGeom>
          <a:noFill/>
          <a:ln/>
        </p:spPr>
        <p:txBody>
          <a:bodyPr wrap="square" lIns="0" tIns="0" rIns="0" bIns="0" rtlCol="0" anchor="t">
            <a:normAutofit/>
          </a:bodyPr>
          <a:lstStyle/>
          <a:p>
            <a:pPr algn="l" indent="0" marL="0">
              <a:lnSpc>
                <a:spcPts val="2525"/>
              </a:lnSpc>
              <a:buNone/>
            </a:pPr>
            <a:r>
              <a:rPr lang="en-US" sz="2295" b="1" dirty="0">
                <a:solidFill>
                  <a:srgbClr val="1F2A44"/>
                </a:solidFill>
                <a:latin typeface="Georgia" pitchFamily="18" charset="0"/>
                <a:ea typeface="Georgia" pitchFamily="18" charset="-122"/>
                <a:cs typeface="Georgia" pitchFamily="18" charset="-120"/>
              </a:rPr>
              <a:t>58</a:t>
            </a:r>
            <a:r>
              <a:rPr lang="en-US" sz="2295" b="1" dirty="0">
                <a:solidFill>
                  <a:srgbClr val="626A7C"/>
                </a:solidFill>
                <a:latin typeface="Georgia" pitchFamily="18" charset="0"/>
                <a:ea typeface="Georgia" pitchFamily="18" charset="-122"/>
                <a:cs typeface="Georgia" pitchFamily="18" charset="-120"/>
              </a:rPr>
              <a:t> / 100</a:t>
            </a:r>
            <a:endParaRPr lang="en-US" sz="2295" dirty="0"/>
          </a:p>
        </p:txBody>
      </p:sp>
      <p:sp>
        <p:nvSpPr>
          <p:cNvPr id="9" name="Shape 7"/>
          <p:cNvSpPr/>
          <p:nvPr/>
        </p:nvSpPr>
        <p:spPr>
          <a:xfrm>
            <a:off x="1046480" y="3281207"/>
            <a:ext cx="2941320" cy="88900"/>
          </a:xfrm>
          <a:prstGeom prst="roundRect">
            <a:avLst>
              <a:gd name="adj" fmla="val 50000"/>
            </a:avLst>
          </a:prstGeom>
          <a:solidFill>
            <a:srgbClr val="E4DED3"/>
          </a:solidFill>
          <a:ln/>
        </p:spPr>
      </p:sp>
      <p:sp>
        <p:nvSpPr>
          <p:cNvPr id="10" name="Shape 8"/>
          <p:cNvSpPr/>
          <p:nvPr/>
        </p:nvSpPr>
        <p:spPr>
          <a:xfrm>
            <a:off x="1046480" y="3281207"/>
            <a:ext cx="1705927" cy="88900"/>
          </a:xfrm>
          <a:custGeom>
            <a:avLst/>
            <a:gdLst/>
            <a:ahLst/>
            <a:cxnLst/>
            <a:rect l="l" t="t" r="r" b="b"/>
            <a:pathLst>
              <a:path w="1705927" h="88900">
                <a:moveTo>
                  <a:pt x="0" y="44450"/>
                </a:moveTo>
                <a:arcTo hR="44450" wR="44450" stAng="10800000" swAng="5400000"/>
                <a:lnTo>
                  <a:pt x="1705927" y="0"/>
                </a:lnTo>
                <a:lnTo>
                  <a:pt x="1705927" y="88900"/>
                </a:lnTo>
                <a:lnTo>
                  <a:pt x="44450" y="88900"/>
                </a:lnTo>
                <a:arcTo hR="44450" wR="44450" stAng="5400000" swAng="5400000"/>
                <a:close/>
              </a:path>
            </a:pathLst>
          </a:custGeom>
          <a:solidFill>
            <a:srgbClr val="5B47D6"/>
          </a:solidFill>
          <a:ln/>
        </p:spPr>
      </p:sp>
      <p:sp>
        <p:nvSpPr>
          <p:cNvPr id="11" name="Text 9"/>
          <p:cNvSpPr/>
          <p:nvPr/>
        </p:nvSpPr>
        <p:spPr>
          <a:xfrm>
            <a:off x="4241800" y="2676767"/>
            <a:ext cx="3029560" cy="236299"/>
          </a:xfrm>
          <a:prstGeom prst="rect">
            <a:avLst/>
          </a:prstGeom>
          <a:noFill/>
          <a:ln/>
        </p:spPr>
        <p:txBody>
          <a:bodyPr wrap="square" lIns="0" tIns="0" rIns="0" bIns="0" rtlCol="0" anchor="t">
            <a:normAutofit/>
          </a:bodyPr>
          <a:lstStyle/>
          <a:p>
            <a:pPr algn="l" indent="0" marL="0">
              <a:lnSpc>
                <a:spcPts val="1673"/>
              </a:lnSpc>
              <a:buNone/>
            </a:pPr>
            <a:r>
              <a:rPr lang="en-US" sz="1239" dirty="0">
                <a:solidFill>
                  <a:srgbClr val="626A7C"/>
                </a:solidFill>
                <a:latin typeface="Arial" pitchFamily="34" charset="0"/>
                <a:ea typeface="Arial" pitchFamily="34" charset="-122"/>
                <a:cs typeface="Arial" pitchFamily="34" charset="-120"/>
              </a:rPr>
              <a:t>Safety estimate</a:t>
            </a:r>
            <a:endParaRPr lang="en-US" sz="1239" dirty="0"/>
          </a:p>
        </p:txBody>
      </p:sp>
      <p:sp>
        <p:nvSpPr>
          <p:cNvPr id="12" name="Text 10"/>
          <p:cNvSpPr/>
          <p:nvPr/>
        </p:nvSpPr>
        <p:spPr>
          <a:xfrm>
            <a:off x="4241800" y="2925763"/>
            <a:ext cx="3029560" cy="342741"/>
          </a:xfrm>
          <a:prstGeom prst="rect">
            <a:avLst/>
          </a:prstGeom>
          <a:noFill/>
          <a:ln/>
        </p:spPr>
        <p:txBody>
          <a:bodyPr wrap="square" lIns="0" tIns="0" rIns="0" bIns="0" rtlCol="0" anchor="t">
            <a:normAutofit/>
          </a:bodyPr>
          <a:lstStyle/>
          <a:p>
            <a:pPr algn="l" indent="0" marL="0">
              <a:lnSpc>
                <a:spcPts val="2525"/>
              </a:lnSpc>
              <a:buNone/>
            </a:pPr>
            <a:r>
              <a:rPr lang="en-US" sz="2295" b="1" dirty="0">
                <a:solidFill>
                  <a:srgbClr val="1F2A44"/>
                </a:solidFill>
                <a:latin typeface="Georgia" pitchFamily="18" charset="0"/>
                <a:ea typeface="Georgia" pitchFamily="18" charset="-122"/>
                <a:cs typeface="Georgia" pitchFamily="18" charset="-120"/>
              </a:rPr>
              <a:t>82</a:t>
            </a:r>
            <a:r>
              <a:rPr lang="en-US" sz="2295" b="1" dirty="0">
                <a:solidFill>
                  <a:srgbClr val="626A7C"/>
                </a:solidFill>
                <a:latin typeface="Georgia" pitchFamily="18" charset="0"/>
                <a:ea typeface="Georgia" pitchFamily="18" charset="-122"/>
                <a:cs typeface="Georgia" pitchFamily="18" charset="-120"/>
              </a:rPr>
              <a:t> / 100</a:t>
            </a:r>
            <a:endParaRPr lang="en-US" sz="2295" dirty="0"/>
          </a:p>
        </p:txBody>
      </p:sp>
      <p:sp>
        <p:nvSpPr>
          <p:cNvPr id="13" name="Shape 11"/>
          <p:cNvSpPr/>
          <p:nvPr/>
        </p:nvSpPr>
        <p:spPr>
          <a:xfrm>
            <a:off x="4241800" y="3281207"/>
            <a:ext cx="2941320" cy="88900"/>
          </a:xfrm>
          <a:prstGeom prst="roundRect">
            <a:avLst>
              <a:gd name="adj" fmla="val 50000"/>
            </a:avLst>
          </a:prstGeom>
          <a:solidFill>
            <a:srgbClr val="E4DED3"/>
          </a:solidFill>
          <a:ln/>
        </p:spPr>
      </p:sp>
      <p:sp>
        <p:nvSpPr>
          <p:cNvPr id="14" name="Shape 12"/>
          <p:cNvSpPr/>
          <p:nvPr/>
        </p:nvSpPr>
        <p:spPr>
          <a:xfrm>
            <a:off x="4241800" y="3281207"/>
            <a:ext cx="2411889" cy="88900"/>
          </a:xfrm>
          <a:custGeom>
            <a:avLst/>
            <a:gdLst/>
            <a:ahLst/>
            <a:cxnLst/>
            <a:rect l="l" t="t" r="r" b="b"/>
            <a:pathLst>
              <a:path w="2411889" h="88900">
                <a:moveTo>
                  <a:pt x="0" y="44450"/>
                </a:moveTo>
                <a:arcTo hR="44450" wR="44450" stAng="10800000" swAng="5400000"/>
                <a:lnTo>
                  <a:pt x="2411889" y="0"/>
                </a:lnTo>
                <a:lnTo>
                  <a:pt x="2411889" y="88900"/>
                </a:lnTo>
                <a:lnTo>
                  <a:pt x="44450" y="88900"/>
                </a:lnTo>
                <a:arcTo hR="44450" wR="44450" stAng="5400000" swAng="5400000"/>
                <a:close/>
              </a:path>
            </a:pathLst>
          </a:custGeom>
          <a:solidFill>
            <a:srgbClr val="5B47D6"/>
          </a:solidFill>
          <a:ln/>
        </p:spPr>
      </p:sp>
      <p:sp>
        <p:nvSpPr>
          <p:cNvPr id="15" name="Shape 13"/>
          <p:cNvSpPr/>
          <p:nvPr/>
        </p:nvSpPr>
        <p:spPr>
          <a:xfrm>
            <a:off x="1046480" y="3487582"/>
            <a:ext cx="6136640" cy="0"/>
          </a:xfrm>
          <a:prstGeom prst="line">
            <a:avLst/>
          </a:prstGeom>
          <a:noFill/>
          <a:ln w="6350">
            <a:solidFill>
              <a:srgbClr val="E4DED3"/>
            </a:solidFill>
            <a:prstDash val="solid"/>
          </a:ln>
        </p:spPr>
      </p:sp>
      <p:sp>
        <p:nvSpPr>
          <p:cNvPr id="16" name="Text 14"/>
          <p:cNvSpPr/>
          <p:nvPr/>
        </p:nvSpPr>
        <p:spPr>
          <a:xfrm>
            <a:off x="1046480" y="3578386"/>
            <a:ext cx="6320739" cy="213360"/>
          </a:xfrm>
          <a:prstGeom prst="rect">
            <a:avLst/>
          </a:prstGeom>
          <a:noFill/>
          <a:ln/>
        </p:spPr>
        <p:txBody>
          <a:bodyPr wrap="square" lIns="0" tIns="0" rIns="0" bIns="0" rtlCol="0" anchor="t">
            <a:normAutofit/>
          </a:bodyPr>
          <a:lstStyle/>
          <a:p>
            <a:pPr algn="l" indent="0" marL="0">
              <a:lnSpc>
                <a:spcPts val="1524"/>
              </a:lnSpc>
              <a:buNone/>
            </a:pPr>
            <a:r>
              <a:rPr lang="en-US" sz="1129" b="1" spc="100" kern="0" dirty="0">
                <a:solidFill>
                  <a:srgbClr val="5B47D6"/>
                </a:solidFill>
                <a:latin typeface="Arial" pitchFamily="34" charset="0"/>
                <a:ea typeface="Arial" pitchFamily="34" charset="-122"/>
                <a:cs typeface="Arial" pitchFamily="34" charset="-120"/>
              </a:rPr>
              <a:t>RESULTS · 358 PATIENTS</a:t>
            </a:r>
            <a:endParaRPr lang="en-US" sz="1129" dirty="0"/>
          </a:p>
        </p:txBody>
      </p:sp>
      <p:sp>
        <p:nvSpPr>
          <p:cNvPr id="17" name="Text 15"/>
          <p:cNvSpPr/>
          <p:nvPr/>
        </p:nvSpPr>
        <p:spPr>
          <a:xfrm>
            <a:off x="1046480" y="3829844"/>
            <a:ext cx="2700099" cy="330200"/>
          </a:xfrm>
          <a:custGeom>
            <a:avLst/>
            <a:gdLst/>
            <a:ahLst/>
            <a:cxnLst/>
            <a:rect l="l" t="t" r="r" b="b"/>
            <a:pathLst>
              <a:path w="2700099" h="330200">
                <a:moveTo>
                  <a:pt x="0" y="63500"/>
                </a:moveTo>
                <a:arcTo hR="63500" wR="63500" stAng="10800000" swAng="5400000"/>
                <a:lnTo>
                  <a:pt x="2700099" y="0"/>
                </a:lnTo>
                <a:lnTo>
                  <a:pt x="2700099" y="330200"/>
                </a:lnTo>
                <a:lnTo>
                  <a:pt x="63500" y="330200"/>
                </a:lnTo>
                <a:arcTo hR="63500" wR="63500" stAng="5400000" swAng="5400000"/>
                <a:close/>
              </a:path>
            </a:pathLst>
          </a:custGeom>
          <a:solidFill>
            <a:srgbClr val="5B47D6"/>
          </a:solidFill>
          <a:ln/>
        </p:spPr>
        <p:txBody>
          <a:bodyPr wrap="square" lIns="0" tIns="0" rIns="0" bIns="0" rtlCol="0" anchor="ctr">
            <a:normAutofit/>
          </a:bodyPr>
          <a:lstStyle/>
          <a:p>
            <a:pPr algn="ctr" indent="0" marL="0">
              <a:lnSpc>
                <a:spcPts val="1680"/>
              </a:lnSpc>
              <a:buNone/>
            </a:pPr>
            <a:r>
              <a:rPr lang="en-US" sz="1200" b="1" dirty="0">
                <a:solidFill>
                  <a:srgbClr val="FFFDF9"/>
                </a:solidFill>
                <a:latin typeface="Arial" pitchFamily="34" charset="0"/>
                <a:ea typeface="Arial" pitchFamily="34" charset="-122"/>
                <a:cs typeface="Arial" pitchFamily="34" charset="-120"/>
              </a:rPr>
              <a:t>44%</a:t>
            </a:r>
            <a:endParaRPr lang="en-US" sz="1200" dirty="0"/>
          </a:p>
        </p:txBody>
      </p:sp>
      <p:sp>
        <p:nvSpPr>
          <p:cNvPr id="18" name="Text 16"/>
          <p:cNvSpPr/>
          <p:nvPr/>
        </p:nvSpPr>
        <p:spPr>
          <a:xfrm>
            <a:off x="3746579" y="3829844"/>
            <a:ext cx="1779588" cy="330200"/>
          </a:xfrm>
          <a:prstGeom prst="rect">
            <a:avLst/>
          </a:prstGeom>
          <a:solidFill>
            <a:srgbClr val="C9C0F2"/>
          </a:solidFill>
          <a:ln/>
        </p:spPr>
        <p:txBody>
          <a:bodyPr wrap="square" lIns="0" tIns="0" rIns="0" bIns="0" rtlCol="0" anchor="ctr">
            <a:normAutofit/>
          </a:bodyPr>
          <a:lstStyle/>
          <a:p>
            <a:pPr algn="ctr" indent="0" marL="0">
              <a:lnSpc>
                <a:spcPts val="1680"/>
              </a:lnSpc>
              <a:buNone/>
            </a:pPr>
            <a:r>
              <a:rPr lang="en-US" sz="1200" b="1" dirty="0">
                <a:solidFill>
                  <a:srgbClr val="1F2A44"/>
                </a:solidFill>
                <a:latin typeface="Arial" pitchFamily="34" charset="0"/>
                <a:ea typeface="Arial" pitchFamily="34" charset="-122"/>
                <a:cs typeface="Arial" pitchFamily="34" charset="-120"/>
              </a:rPr>
              <a:t>29%</a:t>
            </a:r>
            <a:endParaRPr lang="en-US" sz="1200" dirty="0"/>
          </a:p>
        </p:txBody>
      </p:sp>
      <p:sp>
        <p:nvSpPr>
          <p:cNvPr id="19" name="Text 17"/>
          <p:cNvSpPr/>
          <p:nvPr/>
        </p:nvSpPr>
        <p:spPr>
          <a:xfrm>
            <a:off x="5526167" y="3829844"/>
            <a:ext cx="797798" cy="330200"/>
          </a:xfrm>
          <a:prstGeom prst="rect">
            <a:avLst/>
          </a:prstGeom>
          <a:solidFill>
            <a:srgbClr val="F2A65A"/>
          </a:solidFill>
          <a:ln/>
        </p:spPr>
        <p:txBody>
          <a:bodyPr wrap="square" lIns="0" tIns="0" rIns="0" bIns="0" rtlCol="0" anchor="ctr">
            <a:normAutofit/>
          </a:bodyPr>
          <a:lstStyle/>
          <a:p>
            <a:pPr algn="ctr" indent="0" marL="0">
              <a:lnSpc>
                <a:spcPts val="1680"/>
              </a:lnSpc>
              <a:buNone/>
            </a:pPr>
            <a:r>
              <a:rPr lang="en-US" sz="1200" b="1" dirty="0">
                <a:solidFill>
                  <a:srgbClr val="1F2A44"/>
                </a:solidFill>
                <a:latin typeface="Arial" pitchFamily="34" charset="0"/>
                <a:ea typeface="Arial" pitchFamily="34" charset="-122"/>
                <a:cs typeface="Arial" pitchFamily="34" charset="-120"/>
              </a:rPr>
              <a:t>13%</a:t>
            </a:r>
            <a:endParaRPr lang="en-US" sz="1200" dirty="0"/>
          </a:p>
        </p:txBody>
      </p:sp>
      <p:sp>
        <p:nvSpPr>
          <p:cNvPr id="20" name="Text 18"/>
          <p:cNvSpPr/>
          <p:nvPr/>
        </p:nvSpPr>
        <p:spPr>
          <a:xfrm>
            <a:off x="6323965" y="3829844"/>
            <a:ext cx="490934" cy="330200"/>
          </a:xfrm>
          <a:prstGeom prst="rect">
            <a:avLst/>
          </a:prstGeom>
          <a:solidFill>
            <a:srgbClr val="A64E16"/>
          </a:solidFill>
          <a:ln/>
        </p:spPr>
        <p:txBody>
          <a:bodyPr wrap="square" lIns="0" tIns="0" rIns="0" bIns="0" rtlCol="0" anchor="ctr">
            <a:normAutofit/>
          </a:bodyPr>
          <a:lstStyle/>
          <a:p>
            <a:pPr algn="ctr" indent="0" marL="0">
              <a:lnSpc>
                <a:spcPts val="1680"/>
              </a:lnSpc>
              <a:buNone/>
            </a:pPr>
            <a:r>
              <a:rPr lang="en-US" sz="1200" b="1" dirty="0">
                <a:solidFill>
                  <a:srgbClr val="FFFDF9"/>
                </a:solidFill>
                <a:latin typeface="Arial" pitchFamily="34" charset="0"/>
                <a:ea typeface="Arial" pitchFamily="34" charset="-122"/>
                <a:cs typeface="Arial" pitchFamily="34" charset="-120"/>
              </a:rPr>
              <a:t>8%</a:t>
            </a:r>
            <a:endParaRPr lang="en-US" sz="1200" dirty="0"/>
          </a:p>
        </p:txBody>
      </p:sp>
      <p:sp>
        <p:nvSpPr>
          <p:cNvPr id="21" name="Text 19"/>
          <p:cNvSpPr/>
          <p:nvPr/>
        </p:nvSpPr>
        <p:spPr>
          <a:xfrm>
            <a:off x="6814900" y="3829844"/>
            <a:ext cx="368221" cy="330200"/>
          </a:xfrm>
          <a:custGeom>
            <a:avLst/>
            <a:gdLst/>
            <a:ahLst/>
            <a:cxnLst/>
            <a:rect l="l" t="t" r="r" b="b"/>
            <a:pathLst>
              <a:path w="368221" h="330200">
                <a:moveTo>
                  <a:pt x="304721" y="0"/>
                </a:moveTo>
                <a:arcTo hR="63500" wR="63500" stAng="16200000" swAng="5400000"/>
                <a:lnTo>
                  <a:pt x="368221" y="266700"/>
                </a:lnTo>
                <a:arcTo hR="63500" wR="63500" stAng="0" swAng="5400000"/>
                <a:lnTo>
                  <a:pt x="0" y="330200"/>
                </a:lnTo>
                <a:lnTo>
                  <a:pt x="0" y="0"/>
                </a:lnTo>
                <a:close/>
              </a:path>
            </a:pathLst>
          </a:custGeom>
          <a:solidFill>
            <a:srgbClr val="E4DED3"/>
          </a:solidFill>
          <a:ln/>
        </p:spPr>
        <p:txBody>
          <a:bodyPr wrap="square" lIns="0" tIns="0" rIns="0" bIns="0" rtlCol="0" anchor="ctr">
            <a:normAutofit/>
          </a:bodyPr>
          <a:lstStyle/>
          <a:p>
            <a:pPr algn="ctr" indent="0" marL="0">
              <a:lnSpc>
                <a:spcPts val="1680"/>
              </a:lnSpc>
              <a:buNone/>
            </a:pPr>
            <a:r>
              <a:rPr lang="en-US" sz="1200" b="1" dirty="0">
                <a:solidFill>
                  <a:srgbClr val="1F2A44"/>
                </a:solidFill>
                <a:latin typeface="Arial" pitchFamily="34" charset="0"/>
                <a:ea typeface="Arial" pitchFamily="34" charset="-122"/>
                <a:cs typeface="Arial" pitchFamily="34" charset="-120"/>
              </a:rPr>
              <a:t>6%</a:t>
            </a:r>
            <a:endParaRPr lang="en-US" sz="1200" dirty="0"/>
          </a:p>
        </p:txBody>
      </p:sp>
      <p:sp>
        <p:nvSpPr>
          <p:cNvPr id="22" name="Shape 20"/>
          <p:cNvSpPr/>
          <p:nvPr/>
        </p:nvSpPr>
        <p:spPr>
          <a:xfrm>
            <a:off x="1046480" y="4257520"/>
            <a:ext cx="127000" cy="127000"/>
          </a:xfrm>
          <a:prstGeom prst="roundRect">
            <a:avLst>
              <a:gd name="adj" fmla="val 20000"/>
            </a:avLst>
          </a:prstGeom>
          <a:solidFill>
            <a:srgbClr val="5B47D6"/>
          </a:solidFill>
          <a:ln/>
        </p:spPr>
      </p:sp>
      <p:sp>
        <p:nvSpPr>
          <p:cNvPr id="23" name="Text 21"/>
          <p:cNvSpPr/>
          <p:nvPr/>
        </p:nvSpPr>
        <p:spPr>
          <a:xfrm>
            <a:off x="1224280" y="4214335"/>
            <a:ext cx="48796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4A5E"/>
                </a:solidFill>
                <a:latin typeface="Arial" pitchFamily="34" charset="0"/>
                <a:ea typeface="Arial" pitchFamily="34" charset="-122"/>
                <a:cs typeface="Arial" pitchFamily="34" charset="-120"/>
              </a:rPr>
              <a:t>Better</a:t>
            </a:r>
            <a:endParaRPr lang="en-US" sz="1200" dirty="0"/>
          </a:p>
        </p:txBody>
      </p:sp>
      <p:sp>
        <p:nvSpPr>
          <p:cNvPr id="24" name="Shape 22"/>
          <p:cNvSpPr/>
          <p:nvPr/>
        </p:nvSpPr>
        <p:spPr>
          <a:xfrm>
            <a:off x="1808718" y="4257520"/>
            <a:ext cx="127000" cy="127000"/>
          </a:xfrm>
          <a:prstGeom prst="roundRect">
            <a:avLst>
              <a:gd name="adj" fmla="val 20000"/>
            </a:avLst>
          </a:prstGeom>
          <a:solidFill>
            <a:srgbClr val="C9C0F2"/>
          </a:solidFill>
          <a:ln/>
        </p:spPr>
      </p:sp>
      <p:sp>
        <p:nvSpPr>
          <p:cNvPr id="25" name="Text 23"/>
          <p:cNvSpPr/>
          <p:nvPr/>
        </p:nvSpPr>
        <p:spPr>
          <a:xfrm>
            <a:off x="1986518" y="4214335"/>
            <a:ext cx="47777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4A5E"/>
                </a:solidFill>
                <a:latin typeface="Arial" pitchFamily="34" charset="0"/>
                <a:ea typeface="Arial" pitchFamily="34" charset="-122"/>
                <a:cs typeface="Arial" pitchFamily="34" charset="-120"/>
              </a:rPr>
              <a:t>Same</a:t>
            </a:r>
            <a:endParaRPr lang="en-US" sz="1200" dirty="0"/>
          </a:p>
        </p:txBody>
      </p:sp>
      <p:sp>
        <p:nvSpPr>
          <p:cNvPr id="26" name="Shape 24"/>
          <p:cNvSpPr/>
          <p:nvPr/>
        </p:nvSpPr>
        <p:spPr>
          <a:xfrm>
            <a:off x="2562463" y="4257520"/>
            <a:ext cx="127000" cy="127000"/>
          </a:xfrm>
          <a:prstGeom prst="roundRect">
            <a:avLst>
              <a:gd name="adj" fmla="val 20000"/>
            </a:avLst>
          </a:prstGeom>
          <a:solidFill>
            <a:srgbClr val="F2A65A"/>
          </a:solidFill>
          <a:ln/>
        </p:spPr>
      </p:sp>
      <p:sp>
        <p:nvSpPr>
          <p:cNvPr id="27" name="Text 25"/>
          <p:cNvSpPr/>
          <p:nvPr/>
        </p:nvSpPr>
        <p:spPr>
          <a:xfrm>
            <a:off x="2740263" y="4214335"/>
            <a:ext cx="52511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4A5E"/>
                </a:solidFill>
                <a:latin typeface="Arial" pitchFamily="34" charset="0"/>
                <a:ea typeface="Arial" pitchFamily="34" charset="-122"/>
                <a:cs typeface="Arial" pitchFamily="34" charset="-120"/>
              </a:rPr>
              <a:t>Worse</a:t>
            </a:r>
            <a:endParaRPr lang="en-US" sz="1200" dirty="0"/>
          </a:p>
        </p:txBody>
      </p:sp>
      <p:sp>
        <p:nvSpPr>
          <p:cNvPr id="28" name="Shape 26"/>
          <p:cNvSpPr/>
          <p:nvPr/>
        </p:nvSpPr>
        <p:spPr>
          <a:xfrm>
            <a:off x="3355658" y="4257520"/>
            <a:ext cx="127000" cy="127000"/>
          </a:xfrm>
          <a:prstGeom prst="roundRect">
            <a:avLst>
              <a:gd name="adj" fmla="val 20000"/>
            </a:avLst>
          </a:prstGeom>
          <a:solidFill>
            <a:srgbClr val="A64E16"/>
          </a:solidFill>
          <a:ln/>
        </p:spPr>
      </p:sp>
      <p:sp>
        <p:nvSpPr>
          <p:cNvPr id="29" name="Text 27"/>
          <p:cNvSpPr/>
          <p:nvPr/>
        </p:nvSpPr>
        <p:spPr>
          <a:xfrm>
            <a:off x="3533458" y="4214335"/>
            <a:ext cx="68141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4A5E"/>
                </a:solidFill>
                <a:latin typeface="Arial" pitchFamily="34" charset="0"/>
                <a:ea typeface="Arial" pitchFamily="34" charset="-122"/>
                <a:cs typeface="Arial" pitchFamily="34" charset="-120"/>
              </a:rPr>
              <a:t>Stopped</a:t>
            </a:r>
            <a:endParaRPr lang="en-US" sz="1200" dirty="0"/>
          </a:p>
        </p:txBody>
      </p:sp>
      <p:sp>
        <p:nvSpPr>
          <p:cNvPr id="30" name="Shape 28"/>
          <p:cNvSpPr/>
          <p:nvPr/>
        </p:nvSpPr>
        <p:spPr>
          <a:xfrm>
            <a:off x="4279106" y="4257520"/>
            <a:ext cx="127000" cy="127000"/>
          </a:xfrm>
          <a:prstGeom prst="roundRect">
            <a:avLst>
              <a:gd name="adj" fmla="val 20000"/>
            </a:avLst>
          </a:prstGeom>
          <a:solidFill>
            <a:srgbClr val="E4DED3"/>
          </a:solidFill>
          <a:ln/>
        </p:spPr>
      </p:sp>
      <p:sp>
        <p:nvSpPr>
          <p:cNvPr id="31" name="Text 29"/>
          <p:cNvSpPr/>
          <p:nvPr/>
        </p:nvSpPr>
        <p:spPr>
          <a:xfrm>
            <a:off x="4456906" y="4214335"/>
            <a:ext cx="34575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4A5E"/>
                </a:solidFill>
                <a:latin typeface="Arial" pitchFamily="34" charset="0"/>
                <a:ea typeface="Arial" pitchFamily="34" charset="-122"/>
                <a:cs typeface="Arial" pitchFamily="34" charset="-120"/>
              </a:rPr>
              <a:t>Lost</a:t>
            </a:r>
            <a:endParaRPr lang="en-US" sz="1200" dirty="0"/>
          </a:p>
        </p:txBody>
      </p:sp>
      <p:sp>
        <p:nvSpPr>
          <p:cNvPr id="32" name="Shape 30"/>
          <p:cNvSpPr/>
          <p:nvPr/>
        </p:nvSpPr>
        <p:spPr>
          <a:xfrm>
            <a:off x="1046480" y="4535965"/>
            <a:ext cx="6136640" cy="0"/>
          </a:xfrm>
          <a:prstGeom prst="line">
            <a:avLst/>
          </a:prstGeom>
          <a:noFill/>
          <a:ln w="6350">
            <a:solidFill>
              <a:srgbClr val="E4DED3"/>
            </a:solidFill>
            <a:prstDash val="solid"/>
          </a:ln>
        </p:spPr>
      </p:sp>
      <p:sp>
        <p:nvSpPr>
          <p:cNvPr id="33" name="Text 31"/>
          <p:cNvSpPr/>
          <p:nvPr/>
        </p:nvSpPr>
        <p:spPr>
          <a:xfrm>
            <a:off x="1046480" y="4626769"/>
            <a:ext cx="3635455" cy="220980"/>
          </a:xfrm>
          <a:prstGeom prst="rect">
            <a:avLst/>
          </a:prstGeom>
          <a:noFill/>
          <a:ln/>
        </p:spPr>
        <p:txBody>
          <a:bodyPr wrap="square" lIns="0" tIns="0" rIns="0" bIns="0" rtlCol="0" anchor="t">
            <a:normAutofit/>
          </a:bodyPr>
          <a:lstStyle/>
          <a:p>
            <a:pPr algn="l" indent="0" marL="0">
              <a:lnSpc>
                <a:spcPts val="1574"/>
              </a:lnSpc>
              <a:buNone/>
            </a:pPr>
            <a:r>
              <a:rPr lang="en-US" sz="1166" b="1" spc="100" kern="0" dirty="0">
                <a:solidFill>
                  <a:srgbClr val="5B47D6"/>
                </a:solidFill>
                <a:latin typeface="Arial" pitchFamily="34" charset="0"/>
                <a:ea typeface="Arial" pitchFamily="34" charset="-122"/>
                <a:cs typeface="Arial" pitchFamily="34" charset="-120"/>
              </a:rPr>
              <a:t>SIDE EFFECTS</a:t>
            </a:r>
            <a:endParaRPr lang="en-US" sz="1166" dirty="0"/>
          </a:p>
        </p:txBody>
      </p:sp>
      <p:sp>
        <p:nvSpPr>
          <p:cNvPr id="34" name="Text 32"/>
          <p:cNvSpPr/>
          <p:nvPr/>
        </p:nvSpPr>
        <p:spPr>
          <a:xfrm>
            <a:off x="1046480" y="4867914"/>
            <a:ext cx="1003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4A5E"/>
                </a:solidFill>
                <a:latin typeface="Arial" pitchFamily="34" charset="0"/>
                <a:ea typeface="Arial" pitchFamily="34" charset="-122"/>
                <a:cs typeface="Arial" pitchFamily="34" charset="-120"/>
              </a:rPr>
              <a:t>Nausea</a:t>
            </a:r>
            <a:endParaRPr lang="en-US" sz="1200" dirty="0"/>
          </a:p>
        </p:txBody>
      </p:sp>
      <p:sp>
        <p:nvSpPr>
          <p:cNvPr id="35" name="Shape 33"/>
          <p:cNvSpPr/>
          <p:nvPr/>
        </p:nvSpPr>
        <p:spPr>
          <a:xfrm>
            <a:off x="2075180" y="4923792"/>
            <a:ext cx="2018268" cy="101600"/>
          </a:xfrm>
          <a:prstGeom prst="roundRect">
            <a:avLst>
              <a:gd name="adj" fmla="val 50000"/>
            </a:avLst>
          </a:prstGeom>
          <a:solidFill>
            <a:srgbClr val="F1EDE6"/>
          </a:solidFill>
          <a:ln/>
        </p:spPr>
      </p:sp>
      <p:sp>
        <p:nvSpPr>
          <p:cNvPr id="36" name="Shape 34"/>
          <p:cNvSpPr/>
          <p:nvPr/>
        </p:nvSpPr>
        <p:spPr>
          <a:xfrm>
            <a:off x="2075180" y="4923792"/>
            <a:ext cx="968772" cy="101600"/>
          </a:xfrm>
          <a:custGeom>
            <a:avLst/>
            <a:gdLst/>
            <a:ahLst/>
            <a:cxnLst/>
            <a:rect l="l" t="t" r="r" b="b"/>
            <a:pathLst>
              <a:path w="968772" h="101600">
                <a:moveTo>
                  <a:pt x="0" y="50800"/>
                </a:moveTo>
                <a:arcTo hR="50800" wR="50800" stAng="10800000" swAng="5400000"/>
                <a:lnTo>
                  <a:pt x="968772" y="0"/>
                </a:lnTo>
                <a:lnTo>
                  <a:pt x="968772" y="101600"/>
                </a:lnTo>
                <a:lnTo>
                  <a:pt x="50800" y="101600"/>
                </a:lnTo>
                <a:arcTo hR="50800" wR="50800" stAng="5400000" swAng="5400000"/>
                <a:close/>
              </a:path>
            </a:pathLst>
          </a:custGeom>
          <a:solidFill>
            <a:srgbClr val="F2A65A"/>
          </a:solidFill>
          <a:ln/>
        </p:spPr>
      </p:sp>
      <p:sp>
        <p:nvSpPr>
          <p:cNvPr id="37" name="Text 35"/>
          <p:cNvSpPr/>
          <p:nvPr/>
        </p:nvSpPr>
        <p:spPr>
          <a:xfrm>
            <a:off x="4169648" y="4867914"/>
            <a:ext cx="4572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2A44"/>
                </a:solidFill>
                <a:latin typeface="Arial" pitchFamily="34" charset="0"/>
                <a:ea typeface="Arial" pitchFamily="34" charset="-122"/>
                <a:cs typeface="Arial" pitchFamily="34" charset="-120"/>
              </a:rPr>
              <a:t>12%</a:t>
            </a:r>
            <a:endParaRPr lang="en-US" sz="1200" dirty="0"/>
          </a:p>
        </p:txBody>
      </p:sp>
      <p:sp>
        <p:nvSpPr>
          <p:cNvPr id="38" name="Text 36"/>
          <p:cNvSpPr/>
          <p:nvPr/>
        </p:nvSpPr>
        <p:spPr>
          <a:xfrm>
            <a:off x="1046480" y="5121591"/>
            <a:ext cx="1003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4A5E"/>
                </a:solidFill>
                <a:latin typeface="Arial" pitchFamily="34" charset="0"/>
                <a:ea typeface="Arial" pitchFamily="34" charset="-122"/>
                <a:cs typeface="Arial" pitchFamily="34" charset="-120"/>
              </a:rPr>
              <a:t>Headache</a:t>
            </a:r>
            <a:endParaRPr lang="en-US" sz="1200" dirty="0"/>
          </a:p>
        </p:txBody>
      </p:sp>
      <p:sp>
        <p:nvSpPr>
          <p:cNvPr id="39" name="Shape 37"/>
          <p:cNvSpPr/>
          <p:nvPr/>
        </p:nvSpPr>
        <p:spPr>
          <a:xfrm>
            <a:off x="2075180" y="5177396"/>
            <a:ext cx="2018268" cy="101600"/>
          </a:xfrm>
          <a:prstGeom prst="roundRect">
            <a:avLst>
              <a:gd name="adj" fmla="val 50000"/>
            </a:avLst>
          </a:prstGeom>
          <a:solidFill>
            <a:srgbClr val="F1EDE6"/>
          </a:solidFill>
          <a:ln/>
        </p:spPr>
      </p:sp>
      <p:sp>
        <p:nvSpPr>
          <p:cNvPr id="40" name="Shape 38"/>
          <p:cNvSpPr/>
          <p:nvPr/>
        </p:nvSpPr>
        <p:spPr>
          <a:xfrm>
            <a:off x="2075180" y="5177396"/>
            <a:ext cx="726599" cy="101600"/>
          </a:xfrm>
          <a:custGeom>
            <a:avLst/>
            <a:gdLst/>
            <a:ahLst/>
            <a:cxnLst/>
            <a:rect l="l" t="t" r="r" b="b"/>
            <a:pathLst>
              <a:path w="726599" h="101600">
                <a:moveTo>
                  <a:pt x="0" y="50800"/>
                </a:moveTo>
                <a:arcTo hR="50800" wR="50800" stAng="10800000" swAng="5400000"/>
                <a:lnTo>
                  <a:pt x="726599" y="0"/>
                </a:lnTo>
                <a:lnTo>
                  <a:pt x="726599" y="101600"/>
                </a:lnTo>
                <a:lnTo>
                  <a:pt x="50800" y="101600"/>
                </a:lnTo>
                <a:arcTo hR="50800" wR="50800" stAng="5400000" swAng="5400000"/>
                <a:close/>
              </a:path>
            </a:pathLst>
          </a:custGeom>
          <a:solidFill>
            <a:srgbClr val="F2A65A"/>
          </a:solidFill>
          <a:ln/>
        </p:spPr>
      </p:sp>
      <p:sp>
        <p:nvSpPr>
          <p:cNvPr id="41" name="Text 39"/>
          <p:cNvSpPr/>
          <p:nvPr/>
        </p:nvSpPr>
        <p:spPr>
          <a:xfrm>
            <a:off x="4169648" y="5121591"/>
            <a:ext cx="4572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2A44"/>
                </a:solidFill>
                <a:latin typeface="Arial" pitchFamily="34" charset="0"/>
                <a:ea typeface="Arial" pitchFamily="34" charset="-122"/>
                <a:cs typeface="Arial" pitchFamily="34" charset="-120"/>
              </a:rPr>
              <a:t>9%</a:t>
            </a:r>
            <a:endParaRPr lang="en-US" sz="1200" dirty="0"/>
          </a:p>
        </p:txBody>
      </p:sp>
      <p:sp>
        <p:nvSpPr>
          <p:cNvPr id="42" name="Text 40"/>
          <p:cNvSpPr/>
          <p:nvPr/>
        </p:nvSpPr>
        <p:spPr>
          <a:xfrm>
            <a:off x="1046480" y="5375194"/>
            <a:ext cx="1003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4A5E"/>
                </a:solidFill>
                <a:latin typeface="Arial" pitchFamily="34" charset="0"/>
                <a:ea typeface="Arial" pitchFamily="34" charset="-122"/>
                <a:cs typeface="Arial" pitchFamily="34" charset="-120"/>
              </a:rPr>
              <a:t>Fatigue</a:t>
            </a:r>
            <a:endParaRPr lang="en-US" sz="1200" dirty="0"/>
          </a:p>
        </p:txBody>
      </p:sp>
      <p:sp>
        <p:nvSpPr>
          <p:cNvPr id="43" name="Shape 41"/>
          <p:cNvSpPr/>
          <p:nvPr/>
        </p:nvSpPr>
        <p:spPr>
          <a:xfrm>
            <a:off x="2075180" y="5431079"/>
            <a:ext cx="2018268" cy="101600"/>
          </a:xfrm>
          <a:prstGeom prst="roundRect">
            <a:avLst>
              <a:gd name="adj" fmla="val 50000"/>
            </a:avLst>
          </a:prstGeom>
          <a:solidFill>
            <a:srgbClr val="F1EDE6"/>
          </a:solidFill>
          <a:ln/>
        </p:spPr>
      </p:sp>
      <p:sp>
        <p:nvSpPr>
          <p:cNvPr id="44" name="Shape 42"/>
          <p:cNvSpPr/>
          <p:nvPr/>
        </p:nvSpPr>
        <p:spPr>
          <a:xfrm>
            <a:off x="2075180" y="5431079"/>
            <a:ext cx="565150" cy="101600"/>
          </a:xfrm>
          <a:custGeom>
            <a:avLst/>
            <a:gdLst/>
            <a:ahLst/>
            <a:cxnLst/>
            <a:rect l="l" t="t" r="r" b="b"/>
            <a:pathLst>
              <a:path w="565150" h="101600">
                <a:moveTo>
                  <a:pt x="0" y="50800"/>
                </a:moveTo>
                <a:arcTo hR="50800" wR="50800" stAng="10800000" swAng="5400000"/>
                <a:lnTo>
                  <a:pt x="565150" y="0"/>
                </a:lnTo>
                <a:lnTo>
                  <a:pt x="565150" y="101600"/>
                </a:lnTo>
                <a:lnTo>
                  <a:pt x="50800" y="101600"/>
                </a:lnTo>
                <a:arcTo hR="50800" wR="50800" stAng="5400000" swAng="5400000"/>
                <a:close/>
              </a:path>
            </a:pathLst>
          </a:custGeom>
          <a:solidFill>
            <a:srgbClr val="F2A65A"/>
          </a:solidFill>
          <a:ln/>
        </p:spPr>
      </p:sp>
      <p:sp>
        <p:nvSpPr>
          <p:cNvPr id="45" name="Text 43"/>
          <p:cNvSpPr/>
          <p:nvPr/>
        </p:nvSpPr>
        <p:spPr>
          <a:xfrm>
            <a:off x="4169648" y="5375194"/>
            <a:ext cx="4572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2A44"/>
                </a:solidFill>
                <a:latin typeface="Arial" pitchFamily="34" charset="0"/>
                <a:ea typeface="Arial" pitchFamily="34" charset="-122"/>
                <a:cs typeface="Arial" pitchFamily="34" charset="-120"/>
              </a:rPr>
              <a:t>7%</a:t>
            </a:r>
            <a:endParaRPr lang="en-US" sz="1200" dirty="0"/>
          </a:p>
        </p:txBody>
      </p:sp>
      <p:sp>
        <p:nvSpPr>
          <p:cNvPr id="46" name="Text 44"/>
          <p:cNvSpPr/>
          <p:nvPr/>
        </p:nvSpPr>
        <p:spPr>
          <a:xfrm>
            <a:off x="1046480" y="5628878"/>
            <a:ext cx="1003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4A5E"/>
                </a:solidFill>
                <a:latin typeface="Arial" pitchFamily="34" charset="0"/>
                <a:ea typeface="Arial" pitchFamily="34" charset="-122"/>
                <a:cs typeface="Arial" pitchFamily="34" charset="-120"/>
              </a:rPr>
              <a:t>Serious</a:t>
            </a:r>
            <a:endParaRPr lang="en-US" sz="1200" dirty="0"/>
          </a:p>
        </p:txBody>
      </p:sp>
      <p:sp>
        <p:nvSpPr>
          <p:cNvPr id="47" name="Shape 45"/>
          <p:cNvSpPr/>
          <p:nvPr/>
        </p:nvSpPr>
        <p:spPr>
          <a:xfrm>
            <a:off x="2075180" y="5684682"/>
            <a:ext cx="2018268" cy="101600"/>
          </a:xfrm>
          <a:prstGeom prst="roundRect">
            <a:avLst>
              <a:gd name="adj" fmla="val 50000"/>
            </a:avLst>
          </a:prstGeom>
          <a:solidFill>
            <a:srgbClr val="F1EDE6"/>
          </a:solidFill>
          <a:ln/>
        </p:spPr>
      </p:sp>
      <p:sp>
        <p:nvSpPr>
          <p:cNvPr id="48" name="Shape 46"/>
          <p:cNvSpPr/>
          <p:nvPr/>
        </p:nvSpPr>
        <p:spPr>
          <a:xfrm>
            <a:off x="2075180" y="5684682"/>
            <a:ext cx="322898" cy="101600"/>
          </a:xfrm>
          <a:custGeom>
            <a:avLst/>
            <a:gdLst/>
            <a:ahLst/>
            <a:cxnLst/>
            <a:rect l="l" t="t" r="r" b="b"/>
            <a:pathLst>
              <a:path w="322898" h="101600">
                <a:moveTo>
                  <a:pt x="0" y="50800"/>
                </a:moveTo>
                <a:arcTo hR="50800" wR="50800" stAng="10800000" swAng="5400000"/>
                <a:lnTo>
                  <a:pt x="322898" y="0"/>
                </a:lnTo>
                <a:lnTo>
                  <a:pt x="322898" y="101600"/>
                </a:lnTo>
                <a:lnTo>
                  <a:pt x="50800" y="101600"/>
                </a:lnTo>
                <a:arcTo hR="50800" wR="50800" stAng="5400000" swAng="5400000"/>
                <a:close/>
              </a:path>
            </a:pathLst>
          </a:custGeom>
          <a:solidFill>
            <a:srgbClr val="A64E16"/>
          </a:solidFill>
          <a:ln/>
        </p:spPr>
      </p:sp>
      <p:sp>
        <p:nvSpPr>
          <p:cNvPr id="49" name="Text 47"/>
          <p:cNvSpPr/>
          <p:nvPr/>
        </p:nvSpPr>
        <p:spPr>
          <a:xfrm>
            <a:off x="4169648" y="5628878"/>
            <a:ext cx="4572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2A44"/>
                </a:solidFill>
                <a:latin typeface="Arial" pitchFamily="34" charset="0"/>
                <a:ea typeface="Arial" pitchFamily="34" charset="-122"/>
                <a:cs typeface="Arial" pitchFamily="34" charset="-120"/>
              </a:rPr>
              <a:t>4%</a:t>
            </a:r>
            <a:endParaRPr lang="en-US" sz="1200" dirty="0"/>
          </a:p>
        </p:txBody>
      </p:sp>
      <p:sp>
        <p:nvSpPr>
          <p:cNvPr id="50" name="Text 48"/>
          <p:cNvSpPr/>
          <p:nvPr/>
        </p:nvSpPr>
        <p:spPr>
          <a:xfrm>
            <a:off x="4830048" y="4626769"/>
            <a:ext cx="2423664" cy="231140"/>
          </a:xfrm>
          <a:prstGeom prst="rect">
            <a:avLst/>
          </a:prstGeom>
          <a:noFill/>
          <a:ln/>
        </p:spPr>
        <p:txBody>
          <a:bodyPr wrap="square" lIns="0" tIns="0" rIns="0" bIns="0" rtlCol="0" anchor="t">
            <a:normAutofit/>
          </a:bodyPr>
          <a:lstStyle/>
          <a:p>
            <a:pPr algn="l" indent="0" marL="0">
              <a:lnSpc>
                <a:spcPts val="1620"/>
              </a:lnSpc>
              <a:buNone/>
            </a:pPr>
            <a:r>
              <a:rPr lang="en-US" sz="1200" b="1" spc="100" kern="0" dirty="0">
                <a:solidFill>
                  <a:srgbClr val="5B47D6"/>
                </a:solidFill>
                <a:latin typeface="Arial" pitchFamily="34" charset="0"/>
                <a:ea typeface="Arial" pitchFamily="34" charset="-122"/>
                <a:cs typeface="Arial" pitchFamily="34" charset="-120"/>
              </a:rPr>
              <a:t>COST</a:t>
            </a:r>
            <a:endParaRPr lang="en-US" sz="1200" dirty="0"/>
          </a:p>
        </p:txBody>
      </p:sp>
      <p:sp>
        <p:nvSpPr>
          <p:cNvPr id="51" name="Text 49"/>
          <p:cNvSpPr/>
          <p:nvPr/>
        </p:nvSpPr>
        <p:spPr>
          <a:xfrm>
            <a:off x="4830048" y="4896011"/>
            <a:ext cx="2423664" cy="3048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1F2A44"/>
                </a:solidFill>
                <a:latin typeface="Georgia" pitchFamily="18" charset="0"/>
                <a:ea typeface="Georgia" pitchFamily="18" charset="-122"/>
                <a:cs typeface="Georgia" pitchFamily="18" charset="-120"/>
              </a:rPr>
              <a:t>$329</a:t>
            </a:r>
            <a:r>
              <a:rPr lang="en-US" sz="2000" b="1" dirty="0">
                <a:solidFill>
                  <a:srgbClr val="626A7C"/>
                </a:solidFill>
                <a:latin typeface="Georgia" pitchFamily="18" charset="0"/>
                <a:ea typeface="Georgia" pitchFamily="18" charset="-122"/>
                <a:cs typeface="Georgia" pitchFamily="18" charset="-120"/>
              </a:rPr>
              <a:t> / year</a:t>
            </a:r>
            <a:endParaRPr lang="en-US" sz="2000" dirty="0"/>
          </a:p>
        </p:txBody>
      </p:sp>
      <p:sp>
        <p:nvSpPr>
          <p:cNvPr id="52" name="Text 50"/>
          <p:cNvSpPr/>
          <p:nvPr/>
        </p:nvSpPr>
        <p:spPr>
          <a:xfrm>
            <a:off x="4830048" y="5238911"/>
            <a:ext cx="2423664" cy="231140"/>
          </a:xfrm>
          <a:prstGeom prst="rect">
            <a:avLst/>
          </a:prstGeom>
          <a:noFill/>
          <a:ln/>
        </p:spPr>
        <p:txBody>
          <a:bodyPr wrap="square" lIns="0" tIns="0" rIns="0" bIns="0" rtlCol="0" anchor="t">
            <a:normAutofit/>
          </a:bodyPr>
          <a:lstStyle/>
          <a:p>
            <a:pPr algn="l" indent="0" marL="0">
              <a:lnSpc>
                <a:spcPts val="1620"/>
              </a:lnSpc>
              <a:buNone/>
            </a:pPr>
            <a:r>
              <a:rPr lang="en-US" sz="1200" b="1" spc="100" kern="0" dirty="0">
                <a:solidFill>
                  <a:srgbClr val="5B47D6"/>
                </a:solidFill>
                <a:latin typeface="Arial" pitchFamily="34" charset="0"/>
                <a:ea typeface="Arial" pitchFamily="34" charset="-122"/>
                <a:cs typeface="Arial" pitchFamily="34" charset="-120"/>
              </a:rPr>
              <a:t>EVIDENCE STRENGTH</a:t>
            </a:r>
            <a:endParaRPr lang="en-US" sz="1200" dirty="0"/>
          </a:p>
        </p:txBody>
      </p:sp>
      <p:sp>
        <p:nvSpPr>
          <p:cNvPr id="53" name="Shape 51"/>
          <p:cNvSpPr/>
          <p:nvPr/>
        </p:nvSpPr>
        <p:spPr>
          <a:xfrm>
            <a:off x="4830048" y="5525932"/>
            <a:ext cx="177800" cy="177800"/>
          </a:xfrm>
          <a:prstGeom prst="roundRect">
            <a:avLst>
              <a:gd name="adj" fmla="val 50000"/>
            </a:avLst>
          </a:prstGeom>
          <a:solidFill>
            <a:srgbClr val="5B47D6"/>
          </a:solidFill>
          <a:ln/>
        </p:spPr>
      </p:sp>
      <p:sp>
        <p:nvSpPr>
          <p:cNvPr id="54" name="Shape 52"/>
          <p:cNvSpPr/>
          <p:nvPr/>
        </p:nvSpPr>
        <p:spPr>
          <a:xfrm>
            <a:off x="5071348" y="5525932"/>
            <a:ext cx="177800" cy="177800"/>
          </a:xfrm>
          <a:prstGeom prst="roundRect">
            <a:avLst>
              <a:gd name="adj" fmla="val 50000"/>
            </a:avLst>
          </a:prstGeom>
          <a:solidFill>
            <a:srgbClr val="5B47D6"/>
          </a:solidFill>
          <a:ln/>
        </p:spPr>
      </p:sp>
      <p:sp>
        <p:nvSpPr>
          <p:cNvPr id="55" name="Shape 53"/>
          <p:cNvSpPr/>
          <p:nvPr/>
        </p:nvSpPr>
        <p:spPr>
          <a:xfrm>
            <a:off x="5312648" y="5525932"/>
            <a:ext cx="177800" cy="177800"/>
          </a:xfrm>
          <a:prstGeom prst="roundRect">
            <a:avLst>
              <a:gd name="adj" fmla="val 50000"/>
            </a:avLst>
          </a:prstGeom>
          <a:solidFill>
            <a:srgbClr val="E4DED3"/>
          </a:solidFill>
          <a:ln/>
        </p:spPr>
      </p:sp>
      <p:sp>
        <p:nvSpPr>
          <p:cNvPr id="56" name="Shape 54"/>
          <p:cNvSpPr/>
          <p:nvPr/>
        </p:nvSpPr>
        <p:spPr>
          <a:xfrm>
            <a:off x="5553948" y="5525932"/>
            <a:ext cx="177800" cy="177800"/>
          </a:xfrm>
          <a:prstGeom prst="roundRect">
            <a:avLst>
              <a:gd name="adj" fmla="val 50000"/>
            </a:avLst>
          </a:prstGeom>
          <a:solidFill>
            <a:srgbClr val="E4DED3"/>
          </a:solidFill>
          <a:ln/>
        </p:spPr>
      </p:sp>
      <p:sp>
        <p:nvSpPr>
          <p:cNvPr id="57" name="Shape 55"/>
          <p:cNvSpPr/>
          <p:nvPr/>
        </p:nvSpPr>
        <p:spPr>
          <a:xfrm>
            <a:off x="5795248" y="5525932"/>
            <a:ext cx="177800" cy="177800"/>
          </a:xfrm>
          <a:prstGeom prst="roundRect">
            <a:avLst>
              <a:gd name="adj" fmla="val 50000"/>
            </a:avLst>
          </a:prstGeom>
          <a:solidFill>
            <a:srgbClr val="E4DED3"/>
          </a:solidFill>
          <a:ln/>
        </p:spPr>
      </p:sp>
      <p:sp>
        <p:nvSpPr>
          <p:cNvPr id="58" name="Text 56"/>
          <p:cNvSpPr/>
          <p:nvPr/>
        </p:nvSpPr>
        <p:spPr>
          <a:xfrm>
            <a:off x="6036548" y="5508148"/>
            <a:ext cx="114519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4A5E"/>
                </a:solidFill>
                <a:latin typeface="Arial" pitchFamily="34" charset="0"/>
                <a:ea typeface="Arial" pitchFamily="34" charset="-122"/>
                <a:cs typeface="Arial" pitchFamily="34" charset="-120"/>
              </a:rPr>
              <a:t>Early, growing</a:t>
            </a:r>
            <a:endParaRPr lang="en-US" sz="1200" dirty="0"/>
          </a:p>
        </p:txBody>
      </p:sp>
      <p:sp>
        <p:nvSpPr>
          <p:cNvPr id="59" name="Text 57"/>
          <p:cNvSpPr/>
          <p:nvPr/>
        </p:nvSpPr>
        <p:spPr>
          <a:xfrm>
            <a:off x="7670800" y="2200120"/>
            <a:ext cx="3819652" cy="52324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A64E16"/>
                </a:solidFill>
                <a:latin typeface="Arial" pitchFamily="34" charset="0"/>
                <a:ea typeface="Arial" pitchFamily="34" charset="-122"/>
                <a:cs typeface="Arial" pitchFamily="34" charset="-120"/>
              </a:rPr>
              <a:t>WHERE THE EVIDENCE COMES FROM</a:t>
            </a:r>
            <a:endParaRPr lang="en-US" sz="1400" dirty="0"/>
          </a:p>
        </p:txBody>
      </p:sp>
      <p:sp>
        <p:nvSpPr>
          <p:cNvPr id="60" name="Shape 58"/>
          <p:cNvSpPr/>
          <p:nvPr/>
        </p:nvSpPr>
        <p:spPr>
          <a:xfrm>
            <a:off x="7670800" y="2863056"/>
            <a:ext cx="457200" cy="457200"/>
          </a:xfrm>
          <a:prstGeom prst="roundRect">
            <a:avLst>
              <a:gd name="adj" fmla="val 50000"/>
            </a:avLst>
          </a:prstGeom>
          <a:solidFill>
            <a:srgbClr val="FCE9D6"/>
          </a:solidFill>
          <a:ln/>
        </p:spPr>
      </p:sp>
      <p:pic>
        <p:nvPicPr>
          <p:cNvPr id="61" name="Image 0" descr="Book">    </p:cNvPr>
          <p:cNvPicPr>
            <a:picLocks noChangeAspect="1"/>
          </p:cNvPicPr>
          <p:nvPr/>
        </p:nvPicPr>
        <p:blipFill>
          <a:blip r:embed="rId1"/>
          <a:srcRect l="0" r="0" t="0" b="0"/>
          <a:stretch/>
        </p:blipFill>
        <p:spPr>
          <a:xfrm>
            <a:off x="7781925" y="2974181"/>
            <a:ext cx="234950" cy="234950"/>
          </a:xfrm>
          <a:prstGeom prst="rect">
            <a:avLst/>
          </a:prstGeom>
        </p:spPr>
      </p:pic>
      <p:sp>
        <p:nvSpPr>
          <p:cNvPr id="62" name="Text 59"/>
          <p:cNvSpPr/>
          <p:nvPr/>
        </p:nvSpPr>
        <p:spPr>
          <a:xfrm>
            <a:off x="8242300" y="2863056"/>
            <a:ext cx="3231007" cy="273685"/>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1F2A44"/>
                </a:solidFill>
                <a:latin typeface="Georgia" pitchFamily="18" charset="0"/>
                <a:ea typeface="Georgia" pitchFamily="18" charset="-122"/>
                <a:cs typeface="Georgia" pitchFamily="18" charset="-120"/>
              </a:rPr>
              <a:t>Clinical trials</a:t>
            </a:r>
            <a:endParaRPr lang="en-US" sz="1700" dirty="0"/>
          </a:p>
        </p:txBody>
      </p:sp>
      <p:sp>
        <p:nvSpPr>
          <p:cNvPr id="63" name="Text 60"/>
          <p:cNvSpPr/>
          <p:nvPr/>
        </p:nvSpPr>
        <p:spPr>
          <a:xfrm>
            <a:off x="8242300" y="3136745"/>
            <a:ext cx="3764280"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F4A5E"/>
                </a:solidFill>
                <a:latin typeface="Arial" pitchFamily="34" charset="0"/>
                <a:ea typeface="Arial" pitchFamily="34" charset="-122"/>
                <a:cs typeface="Arial" pitchFamily="34" charset="-120"/>
              </a:rPr>
              <a:t>Published results, including failed trials</a:t>
            </a:r>
            <a:endParaRPr lang="en-US" sz="1400" dirty="0"/>
          </a:p>
        </p:txBody>
      </p:sp>
      <p:sp>
        <p:nvSpPr>
          <p:cNvPr id="64" name="Shape 61"/>
          <p:cNvSpPr/>
          <p:nvPr/>
        </p:nvSpPr>
        <p:spPr>
          <a:xfrm>
            <a:off x="7670800" y="3541874"/>
            <a:ext cx="457200" cy="457200"/>
          </a:xfrm>
          <a:prstGeom prst="roundRect">
            <a:avLst>
              <a:gd name="adj" fmla="val 50000"/>
            </a:avLst>
          </a:prstGeom>
          <a:solidFill>
            <a:srgbClr val="FCE9D6"/>
          </a:solidFill>
          <a:ln/>
        </p:spPr>
      </p:sp>
      <p:pic>
        <p:nvPicPr>
          <p:cNvPr id="65" name="Image 1" descr="Users">    </p:cNvPr>
          <p:cNvPicPr>
            <a:picLocks noChangeAspect="1"/>
          </p:cNvPicPr>
          <p:nvPr/>
        </p:nvPicPr>
        <p:blipFill>
          <a:blip r:embed="rId2"/>
          <a:srcRect l="0" r="0" t="0" b="0"/>
          <a:stretch/>
        </p:blipFill>
        <p:spPr>
          <a:xfrm>
            <a:off x="7781925" y="3652999"/>
            <a:ext cx="234950" cy="234950"/>
          </a:xfrm>
          <a:prstGeom prst="rect">
            <a:avLst/>
          </a:prstGeom>
        </p:spPr>
      </p:pic>
      <p:sp>
        <p:nvSpPr>
          <p:cNvPr id="66" name="Text 62"/>
          <p:cNvSpPr/>
          <p:nvPr/>
        </p:nvSpPr>
        <p:spPr>
          <a:xfrm>
            <a:off x="8242300" y="3541874"/>
            <a:ext cx="3231007" cy="273685"/>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1F2A44"/>
                </a:solidFill>
                <a:latin typeface="Georgia" pitchFamily="18" charset="0"/>
                <a:ea typeface="Georgia" pitchFamily="18" charset="-122"/>
                <a:cs typeface="Georgia" pitchFamily="18" charset="-120"/>
              </a:rPr>
              <a:t>Real-world outcomes</a:t>
            </a:r>
            <a:endParaRPr lang="en-US" sz="1700" dirty="0"/>
          </a:p>
        </p:txBody>
      </p:sp>
      <p:sp>
        <p:nvSpPr>
          <p:cNvPr id="67" name="Text 63"/>
          <p:cNvSpPr/>
          <p:nvPr/>
        </p:nvSpPr>
        <p:spPr>
          <a:xfrm>
            <a:off x="8242300" y="3815556"/>
            <a:ext cx="3231007"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F4A5E"/>
                </a:solidFill>
                <a:latin typeface="Arial" pitchFamily="34" charset="0"/>
                <a:ea typeface="Arial" pitchFamily="34" charset="-122"/>
                <a:cs typeface="Arial" pitchFamily="34" charset="-120"/>
              </a:rPr>
              <a:t>Every patient treated in the system</a:t>
            </a:r>
            <a:endParaRPr lang="en-US" sz="1400" dirty="0"/>
          </a:p>
        </p:txBody>
      </p:sp>
      <p:sp>
        <p:nvSpPr>
          <p:cNvPr id="68" name="Shape 64"/>
          <p:cNvSpPr/>
          <p:nvPr/>
        </p:nvSpPr>
        <p:spPr>
          <a:xfrm>
            <a:off x="7670800" y="4220685"/>
            <a:ext cx="457200" cy="457200"/>
          </a:xfrm>
          <a:prstGeom prst="roundRect">
            <a:avLst>
              <a:gd name="adj" fmla="val 50000"/>
            </a:avLst>
          </a:prstGeom>
          <a:solidFill>
            <a:srgbClr val="FCE9D6"/>
          </a:solidFill>
          <a:ln/>
        </p:spPr>
      </p:sp>
      <p:pic>
        <p:nvPicPr>
          <p:cNvPr id="69" name="Image 2" descr="Warning">    </p:cNvPr>
          <p:cNvPicPr>
            <a:picLocks noChangeAspect="1"/>
          </p:cNvPicPr>
          <p:nvPr/>
        </p:nvPicPr>
        <p:blipFill>
          <a:blip r:embed="rId3"/>
          <a:srcRect l="0" r="0" t="0" b="0"/>
          <a:stretch/>
        </p:blipFill>
        <p:spPr>
          <a:xfrm>
            <a:off x="7781925" y="4331810"/>
            <a:ext cx="234950" cy="234950"/>
          </a:xfrm>
          <a:prstGeom prst="rect">
            <a:avLst/>
          </a:prstGeom>
        </p:spPr>
      </p:pic>
      <p:sp>
        <p:nvSpPr>
          <p:cNvPr id="70" name="Text 65"/>
          <p:cNvSpPr/>
          <p:nvPr/>
        </p:nvSpPr>
        <p:spPr>
          <a:xfrm>
            <a:off x="8242300" y="4220685"/>
            <a:ext cx="3231007" cy="273685"/>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1F2A44"/>
                </a:solidFill>
                <a:latin typeface="Georgia" pitchFamily="18" charset="0"/>
                <a:ea typeface="Georgia" pitchFamily="18" charset="-122"/>
                <a:cs typeface="Georgia" pitchFamily="18" charset="-120"/>
              </a:rPr>
              <a:t>Side-effect reports</a:t>
            </a:r>
            <a:endParaRPr lang="en-US" sz="1700" dirty="0"/>
          </a:p>
        </p:txBody>
      </p:sp>
      <p:sp>
        <p:nvSpPr>
          <p:cNvPr id="71" name="Text 66"/>
          <p:cNvSpPr/>
          <p:nvPr/>
        </p:nvSpPr>
        <p:spPr>
          <a:xfrm>
            <a:off x="8242300" y="4494374"/>
            <a:ext cx="3231007"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F4A5E"/>
                </a:solidFill>
                <a:latin typeface="Arial" pitchFamily="34" charset="0"/>
                <a:ea typeface="Arial" pitchFamily="34" charset="-122"/>
                <a:cs typeface="Arial" pitchFamily="34" charset="-120"/>
              </a:rPr>
              <a:t>From clinics and adverse-event systems</a:t>
            </a:r>
            <a:endParaRPr lang="en-US" sz="1400" dirty="0"/>
          </a:p>
        </p:txBody>
      </p:sp>
      <p:sp>
        <p:nvSpPr>
          <p:cNvPr id="72" name="Shape 67"/>
          <p:cNvSpPr/>
          <p:nvPr/>
        </p:nvSpPr>
        <p:spPr>
          <a:xfrm>
            <a:off x="7670800" y="5139531"/>
            <a:ext cx="457200" cy="457200"/>
          </a:xfrm>
          <a:prstGeom prst="roundRect">
            <a:avLst>
              <a:gd name="adj" fmla="val 50000"/>
            </a:avLst>
          </a:prstGeom>
          <a:solidFill>
            <a:srgbClr val="FCE9D6"/>
          </a:solidFill>
          <a:ln/>
        </p:spPr>
      </p:sp>
      <p:pic>
        <p:nvPicPr>
          <p:cNvPr id="73" name="Image 3" descr="Activity">    </p:cNvPr>
          <p:cNvPicPr>
            <a:picLocks noChangeAspect="1"/>
          </p:cNvPicPr>
          <p:nvPr/>
        </p:nvPicPr>
        <p:blipFill>
          <a:blip r:embed="rId4"/>
          <a:srcRect l="0" r="0" t="0" b="0"/>
          <a:stretch/>
        </p:blipFill>
        <p:spPr>
          <a:xfrm>
            <a:off x="7781925" y="5250656"/>
            <a:ext cx="234950" cy="234950"/>
          </a:xfrm>
          <a:prstGeom prst="rect">
            <a:avLst/>
          </a:prstGeom>
        </p:spPr>
      </p:pic>
      <p:sp>
        <p:nvSpPr>
          <p:cNvPr id="74" name="Text 68"/>
          <p:cNvSpPr/>
          <p:nvPr/>
        </p:nvSpPr>
        <p:spPr>
          <a:xfrm>
            <a:off x="8242300" y="5139531"/>
            <a:ext cx="3231007" cy="273685"/>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1F2A44"/>
                </a:solidFill>
                <a:latin typeface="Georgia" pitchFamily="18" charset="0"/>
                <a:ea typeface="Georgia" pitchFamily="18" charset="-122"/>
                <a:cs typeface="Georgia" pitchFamily="18" charset="-120"/>
              </a:rPr>
              <a:t>Updated as data arrives</a:t>
            </a:r>
            <a:endParaRPr lang="en-US" sz="1700" dirty="0"/>
          </a:p>
        </p:txBody>
      </p:sp>
      <p:sp>
        <p:nvSpPr>
          <p:cNvPr id="75" name="Text 69"/>
          <p:cNvSpPr/>
          <p:nvPr/>
        </p:nvSpPr>
        <p:spPr>
          <a:xfrm>
            <a:off x="8242300" y="5413220"/>
            <a:ext cx="3231007"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F4A5E"/>
                </a:solidFill>
                <a:latin typeface="Arial" pitchFamily="34" charset="0"/>
                <a:ea typeface="Arial" pitchFamily="34" charset="-122"/>
                <a:cs typeface="Arial" pitchFamily="34" charset="-120"/>
              </a:rPr>
              <a:t>Each new result changes the label</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5B47D6"/>
                </a:solidFill>
                <a:latin typeface="Arial" pitchFamily="34" charset="0"/>
                <a:ea typeface="Arial" pitchFamily="34" charset="-122"/>
                <a:cs typeface="Arial" pitchFamily="34" charset="-120"/>
              </a:rPr>
              <a:t>STEP 2 · TALK WITH YOUR DOCTOR</a:t>
            </a:r>
            <a:endParaRPr lang="en-US" sz="1400" dirty="0"/>
          </a:p>
        </p:txBody>
      </p:sp>
      <p:sp>
        <p:nvSpPr>
          <p:cNvPr id="3" name="Text 1"/>
          <p:cNvSpPr/>
          <p:nvPr/>
        </p:nvSpPr>
        <p:spPr>
          <a:xfrm>
            <a:off x="812800" y="1137921"/>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F2A44"/>
                </a:solidFill>
                <a:latin typeface="Georgia" pitchFamily="18" charset="0"/>
                <a:ea typeface="Georgia" pitchFamily="18" charset="-122"/>
                <a:cs typeface="Georgia" pitchFamily="18" charset="-120"/>
              </a:rPr>
              <a:t>Her own doctor recommends it, even by video</a:t>
            </a:r>
            <a:endParaRPr lang="en-US" sz="3200" dirty="0"/>
          </a:p>
        </p:txBody>
      </p:sp>
      <p:pic>
        <p:nvPicPr>
          <p:cNvPr id="4" name="Image 0" descr="Illustration of a video visit with a doctor">    </p:cNvPr>
          <p:cNvPicPr>
            <a:picLocks noChangeAspect="1"/>
          </p:cNvPicPr>
          <p:nvPr/>
        </p:nvPicPr>
        <p:blipFill>
          <a:blip r:embed="rId1"/>
          <a:srcRect l="0" r="0" t="0" b="0"/>
          <a:stretch/>
        </p:blipFill>
        <p:spPr>
          <a:xfrm>
            <a:off x="812800" y="2742251"/>
            <a:ext cx="2286000" cy="1962150"/>
          </a:xfrm>
          <a:prstGeom prst="rect">
            <a:avLst/>
          </a:prstGeom>
        </p:spPr>
      </p:pic>
      <p:sp>
        <p:nvSpPr>
          <p:cNvPr id="5" name="Shape 2"/>
          <p:cNvSpPr/>
          <p:nvPr/>
        </p:nvSpPr>
        <p:spPr>
          <a:xfrm>
            <a:off x="3355975" y="1862454"/>
            <a:ext cx="3879850" cy="3721735"/>
          </a:xfrm>
          <a:prstGeom prst="roundRect">
            <a:avLst>
              <a:gd name="adj" fmla="val 4010"/>
            </a:avLst>
          </a:prstGeom>
          <a:solidFill>
            <a:srgbClr val="ECE9FB"/>
          </a:solidFill>
          <a:ln w="6350">
            <a:solidFill>
              <a:srgbClr val="C9C0F2"/>
            </a:solidFill>
            <a:prstDash val="solid"/>
          </a:ln>
        </p:spPr>
      </p:sp>
      <p:sp>
        <p:nvSpPr>
          <p:cNvPr id="6" name="Shape 3"/>
          <p:cNvSpPr/>
          <p:nvPr/>
        </p:nvSpPr>
        <p:spPr>
          <a:xfrm>
            <a:off x="3611880" y="2118364"/>
            <a:ext cx="558800" cy="558800"/>
          </a:xfrm>
          <a:prstGeom prst="roundRect">
            <a:avLst>
              <a:gd name="adj" fmla="val 50000"/>
            </a:avLst>
          </a:prstGeom>
          <a:solidFill>
            <a:srgbClr val="FFFDF9"/>
          </a:solidFill>
          <a:ln/>
        </p:spPr>
      </p:sp>
      <p:pic>
        <p:nvPicPr>
          <p:cNvPr id="7" name="Image 1" descr="CheckCircle">    </p:cNvPr>
          <p:cNvPicPr>
            <a:picLocks noChangeAspect="1"/>
          </p:cNvPicPr>
          <p:nvPr/>
        </p:nvPicPr>
        <p:blipFill>
          <a:blip r:embed="rId2"/>
          <a:srcRect l="0" r="0" t="0" b="0"/>
          <a:stretch/>
        </p:blipFill>
        <p:spPr>
          <a:xfrm>
            <a:off x="3748405" y="2254889"/>
            <a:ext cx="285750" cy="285750"/>
          </a:xfrm>
          <a:prstGeom prst="rect">
            <a:avLst/>
          </a:prstGeom>
        </p:spPr>
      </p:pic>
      <p:sp>
        <p:nvSpPr>
          <p:cNvPr id="8" name="Text 4"/>
          <p:cNvSpPr/>
          <p:nvPr/>
        </p:nvSpPr>
        <p:spPr>
          <a:xfrm>
            <a:off x="3611880" y="2791464"/>
            <a:ext cx="3469081" cy="390525"/>
          </a:xfrm>
          <a:prstGeom prst="rect">
            <a:avLst/>
          </a:prstGeom>
          <a:noFill/>
          <a:ln/>
        </p:spPr>
        <p:txBody>
          <a:bodyPr wrap="square" lIns="0" tIns="0" rIns="0" bIns="0" rtlCol="0" anchor="t">
            <a:normAutofit/>
          </a:bodyPr>
          <a:lstStyle/>
          <a:p>
            <a:pPr algn="l" indent="0" marL="0">
              <a:lnSpc>
                <a:spcPts val="2875"/>
              </a:lnSpc>
              <a:buNone/>
            </a:pPr>
            <a:r>
              <a:rPr lang="en-US" sz="2500" b="1" dirty="0">
                <a:solidFill>
                  <a:srgbClr val="1F2A44"/>
                </a:solidFill>
                <a:latin typeface="Georgia" pitchFamily="18" charset="0"/>
                <a:ea typeface="Georgia" pitchFamily="18" charset="-122"/>
                <a:cs typeface="Georgia" pitchFamily="18" charset="-120"/>
              </a:rPr>
              <a:t>Required</a:t>
            </a:r>
            <a:endParaRPr lang="en-US" sz="2500" dirty="0"/>
          </a:p>
        </p:txBody>
      </p:sp>
      <p:sp>
        <p:nvSpPr>
          <p:cNvPr id="9" name="Text 5"/>
          <p:cNvSpPr/>
          <p:nvPr/>
        </p:nvSpPr>
        <p:spPr>
          <a:xfrm>
            <a:off x="3653790" y="3270889"/>
            <a:ext cx="3419551" cy="2082800"/>
          </a:xfrm>
          <a:prstGeom prst="rect">
            <a:avLst/>
          </a:prstGeom>
          <a:noFill/>
          <a:ln/>
        </p:spPr>
        <p:txBody>
          <a:bodyPr wrap="square" lIns="0" tIns="0" rIns="0" bIns="0" rtlCol="0" anchor="t">
            <a:normAutofit/>
          </a:bodyPr>
          <a:lstStyle/>
          <a:p>
            <a:pPr algn="l" marL="212090" indent="-212090">
              <a:lnSpc>
                <a:spcPts val="2700"/>
              </a:lnSpc>
              <a:buSzPct val="100000"/>
              <a:buChar char="•"/>
            </a:pPr>
            <a:r>
              <a:rPr lang="en-US" sz="2000" dirty="0">
                <a:solidFill>
                  <a:srgbClr val="3F4A5E"/>
                </a:solidFill>
                <a:latin typeface="Arial" pitchFamily="34" charset="0"/>
                <a:ea typeface="Arial" pitchFamily="34" charset="-122"/>
                <a:cs typeface="Arial" pitchFamily="34" charset="-120"/>
              </a:rPr>
              <a:t>Her treating doctor's recommendation</a:t>
            </a:r>
            <a:endParaRPr lang="en-US" sz="2000" dirty="0"/>
          </a:p>
          <a:p>
            <a:pPr algn="l" marL="212090" indent="-212090">
              <a:lnSpc>
                <a:spcPts val="2700"/>
              </a:lnSpc>
              <a:buSzPct val="100000"/>
              <a:buChar char="•"/>
            </a:pPr>
            <a:r>
              <a:rPr lang="en-US" sz="2000" dirty="0">
                <a:solidFill>
                  <a:srgbClr val="3F4A5E"/>
                </a:solidFill>
                <a:latin typeface="Arial" pitchFamily="34" charset="0"/>
                <a:ea typeface="Arial" pitchFamily="34" charset="-122"/>
                <a:cs typeface="Arial" pitchFamily="34" charset="-120"/>
              </a:rPr>
              <a:t>Her written consent (e-sign is fine)</a:t>
            </a:r>
            <a:endParaRPr lang="en-US" sz="2000" dirty="0"/>
          </a:p>
          <a:p>
            <a:pPr algn="l" marL="212090" indent="-212090">
              <a:lnSpc>
                <a:spcPts val="2700"/>
              </a:lnSpc>
              <a:buSzPct val="100000"/>
              <a:buChar char="•"/>
            </a:pPr>
            <a:r>
              <a:rPr lang="en-US" sz="2000" dirty="0">
                <a:solidFill>
                  <a:srgbClr val="3F4A5E"/>
                </a:solidFill>
                <a:latin typeface="Arial" pitchFamily="34" charset="0"/>
                <a:ea typeface="Arial" pitchFamily="34" charset="-122"/>
                <a:cs typeface="Arial" pitchFamily="34" charset="-120"/>
              </a:rPr>
              <a:t>Can happen by telemedicine</a:t>
            </a:r>
            <a:endParaRPr lang="en-US" sz="2000" dirty="0"/>
          </a:p>
        </p:txBody>
      </p:sp>
      <p:sp>
        <p:nvSpPr>
          <p:cNvPr id="10" name="Shape 6"/>
          <p:cNvSpPr/>
          <p:nvPr/>
        </p:nvSpPr>
        <p:spPr>
          <a:xfrm>
            <a:off x="7496175" y="1862454"/>
            <a:ext cx="3879850" cy="3721735"/>
          </a:xfrm>
          <a:prstGeom prst="roundRect">
            <a:avLst>
              <a:gd name="adj" fmla="val 4010"/>
            </a:avLst>
          </a:prstGeom>
          <a:solidFill>
            <a:srgbClr val="FFFDF9"/>
          </a:solidFill>
          <a:ln w="6350">
            <a:solidFill>
              <a:srgbClr val="E4DED3"/>
            </a:solidFill>
            <a:prstDash val="solid"/>
          </a:ln>
        </p:spPr>
      </p:sp>
      <p:pic>
        <p:nvPicPr>
          <p:cNvPr id="11" name="Image 2" descr="preencoded.png">    </p:cNvPr>
          <p:cNvPicPr>
            <a:picLocks noChangeAspect="1"/>
          </p:cNvPicPr>
          <p:nvPr/>
        </p:nvPicPr>
        <p:blipFill>
          <a:blip r:embed="rId3"/>
          <a:srcRect l="0" r="0" t="0" b="0"/>
          <a:stretch/>
        </p:blipFill>
        <p:spPr>
          <a:xfrm>
            <a:off x="7752080" y="2118364"/>
            <a:ext cx="558800" cy="558800"/>
          </a:xfrm>
          <a:prstGeom prst="rect">
            <a:avLst/>
          </a:prstGeom>
        </p:spPr>
      </p:pic>
      <p:sp>
        <p:nvSpPr>
          <p:cNvPr id="12" name="Text 7"/>
          <p:cNvSpPr/>
          <p:nvPr/>
        </p:nvSpPr>
        <p:spPr>
          <a:xfrm>
            <a:off x="7752080" y="2791464"/>
            <a:ext cx="3469081" cy="390525"/>
          </a:xfrm>
          <a:prstGeom prst="rect">
            <a:avLst/>
          </a:prstGeom>
          <a:noFill/>
          <a:ln/>
        </p:spPr>
        <p:txBody>
          <a:bodyPr wrap="square" lIns="0" tIns="0" rIns="0" bIns="0" rtlCol="0" anchor="t">
            <a:normAutofit/>
          </a:bodyPr>
          <a:lstStyle/>
          <a:p>
            <a:pPr algn="l" indent="0" marL="0">
              <a:lnSpc>
                <a:spcPts val="2875"/>
              </a:lnSpc>
              <a:buNone/>
            </a:pPr>
            <a:r>
              <a:rPr lang="en-US" sz="2500" b="1" dirty="0">
                <a:solidFill>
                  <a:srgbClr val="1F2A44"/>
                </a:solidFill>
                <a:latin typeface="Georgia" pitchFamily="18" charset="0"/>
                <a:ea typeface="Georgia" pitchFamily="18" charset="-122"/>
                <a:cs typeface="Georgia" pitchFamily="18" charset="-120"/>
              </a:rPr>
              <a:t>Not required</a:t>
            </a:r>
            <a:endParaRPr lang="en-US" sz="2500" dirty="0"/>
          </a:p>
        </p:txBody>
      </p:sp>
      <p:sp>
        <p:nvSpPr>
          <p:cNvPr id="13" name="Text 8"/>
          <p:cNvSpPr/>
          <p:nvPr/>
        </p:nvSpPr>
        <p:spPr>
          <a:xfrm>
            <a:off x="7793990" y="3270889"/>
            <a:ext cx="3419551" cy="2082800"/>
          </a:xfrm>
          <a:prstGeom prst="rect">
            <a:avLst/>
          </a:prstGeom>
          <a:noFill/>
          <a:ln/>
        </p:spPr>
        <p:txBody>
          <a:bodyPr wrap="square" lIns="0" tIns="0" rIns="0" bIns="0" rtlCol="0" anchor="t">
            <a:normAutofit/>
          </a:bodyPr>
          <a:lstStyle/>
          <a:p>
            <a:pPr algn="l" marL="212090" indent="-212090">
              <a:lnSpc>
                <a:spcPts val="2700"/>
              </a:lnSpc>
              <a:buSzPct val="100000"/>
              <a:buChar char="•"/>
            </a:pPr>
            <a:r>
              <a:rPr lang="en-US" sz="2000" dirty="0">
                <a:solidFill>
                  <a:srgbClr val="3F4A5E"/>
                </a:solidFill>
                <a:latin typeface="Arial" pitchFamily="34" charset="0"/>
                <a:ea typeface="Arial" pitchFamily="34" charset="-122"/>
                <a:cs typeface="Arial" pitchFamily="34" charset="-120"/>
              </a:rPr>
              <a:t>A specific diagnosis</a:t>
            </a:r>
            <a:endParaRPr lang="en-US" sz="2000" dirty="0"/>
          </a:p>
          <a:p>
            <a:pPr algn="l" marL="212090" indent="-212090">
              <a:lnSpc>
                <a:spcPts val="2700"/>
              </a:lnSpc>
              <a:buSzPct val="100000"/>
              <a:buChar char="•"/>
            </a:pPr>
            <a:r>
              <a:rPr lang="en-US" sz="2000" dirty="0">
                <a:solidFill>
                  <a:srgbClr val="3F4A5E"/>
                </a:solidFill>
                <a:latin typeface="Arial" pitchFamily="34" charset="0"/>
                <a:ea typeface="Arial" pitchFamily="34" charset="-122"/>
                <a:cs typeface="Arial" pitchFamily="34" charset="-120"/>
              </a:rPr>
              <a:t>Medical necessity</a:t>
            </a:r>
            <a:endParaRPr lang="en-US" sz="2000" dirty="0"/>
          </a:p>
          <a:p>
            <a:pPr algn="l" marL="212090" indent="-212090">
              <a:lnSpc>
                <a:spcPts val="2700"/>
              </a:lnSpc>
              <a:buSzPct val="100000"/>
              <a:buChar char="•"/>
            </a:pPr>
            <a:r>
              <a:rPr lang="en-US" sz="2000" dirty="0">
                <a:solidFill>
                  <a:srgbClr val="3F4A5E"/>
                </a:solidFill>
                <a:latin typeface="Arial" pitchFamily="34" charset="0"/>
                <a:ea typeface="Arial" pitchFamily="34" charset="-122"/>
                <a:cs typeface="Arial" pitchFamily="34" charset="-120"/>
              </a:rPr>
              <a:t>Minimum severity</a:t>
            </a:r>
            <a:endParaRPr lang="en-US" sz="2000" dirty="0"/>
          </a:p>
          <a:p>
            <a:pPr algn="l" marL="212090" indent="-212090">
              <a:lnSpc>
                <a:spcPts val="2700"/>
              </a:lnSpc>
              <a:buSzPct val="100000"/>
              <a:buChar char="•"/>
            </a:pPr>
            <a:r>
              <a:rPr lang="en-US" sz="2000" dirty="0">
                <a:solidFill>
                  <a:srgbClr val="3F4A5E"/>
                </a:solidFill>
                <a:latin typeface="Arial" pitchFamily="34" charset="0"/>
                <a:ea typeface="Arial" pitchFamily="34" charset="-122"/>
                <a:cs typeface="Arial" pitchFamily="34" charset="-120"/>
              </a:rPr>
              <a:t>Terminal illness</a:t>
            </a:r>
            <a:endParaRPr lang="en-US" sz="2000" dirty="0"/>
          </a:p>
          <a:p>
            <a:pPr algn="l" marL="212090" indent="-212090">
              <a:lnSpc>
                <a:spcPts val="2700"/>
              </a:lnSpc>
              <a:buSzPct val="100000"/>
              <a:buChar char="•"/>
            </a:pPr>
            <a:r>
              <a:rPr lang="en-US" sz="2000" dirty="0">
                <a:solidFill>
                  <a:srgbClr val="3F4A5E"/>
                </a:solidFill>
                <a:latin typeface="Arial" pitchFamily="34" charset="0"/>
                <a:ea typeface="Arial" pitchFamily="34" charset="-122"/>
                <a:cs typeface="Arial" pitchFamily="34" charset="-120"/>
              </a:rPr>
              <a:t>Trial ineligibility</a:t>
            </a:r>
            <a:endParaRPr lang="en-US" sz="2000" dirty="0"/>
          </a:p>
          <a:p>
            <a:pPr algn="l" marL="212090" indent="-212090">
              <a:lnSpc>
                <a:spcPts val="2700"/>
              </a:lnSpc>
              <a:buSzPct val="100000"/>
              <a:buChar char="•"/>
            </a:pPr>
            <a:r>
              <a:rPr lang="en-US" sz="2000" dirty="0">
                <a:solidFill>
                  <a:srgbClr val="3F4A5E"/>
                </a:solidFill>
                <a:latin typeface="Arial" pitchFamily="34" charset="0"/>
                <a:ea typeface="Arial" pitchFamily="34" charset="-122"/>
                <a:cs typeface="Arial" pitchFamily="34" charset="-120"/>
              </a:rPr>
              <a:t>Trying approved drugs</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5B47D6"/>
                </a:solidFill>
                <a:latin typeface="Arial" pitchFamily="34" charset="0"/>
                <a:ea typeface="Arial" pitchFamily="34" charset="-122"/>
                <a:cs typeface="Arial" pitchFamily="34" charset="-120"/>
              </a:rPr>
              <a:t>STEP 3 · INFORMED CONSENT</a:t>
            </a:r>
            <a:endParaRPr lang="en-US" sz="1400" dirty="0"/>
          </a:p>
        </p:txBody>
      </p:sp>
      <p:sp>
        <p:nvSpPr>
          <p:cNvPr id="3" name="Text 1"/>
          <p:cNvSpPr/>
          <p:nvPr/>
        </p:nvSpPr>
        <p:spPr>
          <a:xfrm>
            <a:off x="812800" y="1137921"/>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F2A44"/>
                </a:solidFill>
                <a:latin typeface="Georgia" pitchFamily="18" charset="0"/>
                <a:ea typeface="Georgia" pitchFamily="18" charset="-122"/>
                <a:cs typeface="Georgia" pitchFamily="18" charset="-120"/>
              </a:rPr>
              <a:t>She decides with the full picture in writing</a:t>
            </a:r>
            <a:endParaRPr lang="en-US" sz="3200" dirty="0"/>
          </a:p>
        </p:txBody>
      </p:sp>
      <p:sp>
        <p:nvSpPr>
          <p:cNvPr id="4" name="Shape 2"/>
          <p:cNvSpPr/>
          <p:nvPr/>
        </p:nvSpPr>
        <p:spPr>
          <a:xfrm>
            <a:off x="815975" y="1862454"/>
            <a:ext cx="10560050" cy="2645410"/>
          </a:xfrm>
          <a:prstGeom prst="roundRect">
            <a:avLst>
              <a:gd name="adj" fmla="val 5641"/>
            </a:avLst>
          </a:prstGeom>
          <a:solidFill>
            <a:srgbClr val="FFFDF9"/>
          </a:solidFill>
          <a:ln w="6350">
            <a:solidFill>
              <a:srgbClr val="E4DED3"/>
            </a:solidFill>
            <a:prstDash val="solid"/>
          </a:ln>
        </p:spPr>
      </p:sp>
      <p:pic>
        <p:nvPicPr>
          <p:cNvPr id="5" name="Image 0" descr="Book">    </p:cNvPr>
          <p:cNvPicPr>
            <a:picLocks noChangeAspect="1"/>
          </p:cNvPicPr>
          <p:nvPr/>
        </p:nvPicPr>
        <p:blipFill>
          <a:blip r:embed="rId1"/>
          <a:srcRect l="0" r="0" t="0" b="0"/>
          <a:stretch/>
        </p:blipFill>
        <p:spPr>
          <a:xfrm>
            <a:off x="1071880" y="2118364"/>
            <a:ext cx="254000" cy="254000"/>
          </a:xfrm>
          <a:prstGeom prst="rect">
            <a:avLst/>
          </a:prstGeom>
        </p:spPr>
      </p:pic>
      <p:sp>
        <p:nvSpPr>
          <p:cNvPr id="6" name="Text 3"/>
          <p:cNvSpPr/>
          <p:nvPr/>
        </p:nvSpPr>
        <p:spPr>
          <a:xfrm>
            <a:off x="1427480" y="2133916"/>
            <a:ext cx="5698522" cy="248285"/>
          </a:xfrm>
          <a:prstGeom prst="rect">
            <a:avLst/>
          </a:prstGeom>
          <a:noFill/>
          <a:ln/>
        </p:spPr>
        <p:txBody>
          <a:bodyPr wrap="square" lIns="0" tIns="0" rIns="0" bIns="0" rtlCol="0" anchor="t">
            <a:normAutofit/>
          </a:bodyPr>
          <a:lstStyle/>
          <a:p>
            <a:pPr algn="l" indent="0" marL="0">
              <a:lnSpc>
                <a:spcPts val="1755"/>
              </a:lnSpc>
              <a:buNone/>
            </a:pPr>
            <a:r>
              <a:rPr lang="en-US" sz="1300" b="1" spc="100" kern="0" dirty="0">
                <a:solidFill>
                  <a:srgbClr val="5B47D6"/>
                </a:solidFill>
                <a:latin typeface="Arial" pitchFamily="34" charset="0"/>
                <a:ea typeface="Arial" pitchFamily="34" charset="-122"/>
                <a:cs typeface="Arial" pitchFamily="34" charset="-120"/>
              </a:rPr>
              <a:t>CONSENT FORM · EXPERIMENTAL TREATMENT</a:t>
            </a:r>
            <a:endParaRPr lang="en-US" sz="1300" dirty="0"/>
          </a:p>
        </p:txBody>
      </p:sp>
      <p:sp>
        <p:nvSpPr>
          <p:cNvPr id="7" name="Text 4"/>
          <p:cNvSpPr/>
          <p:nvPr/>
        </p:nvSpPr>
        <p:spPr>
          <a:xfrm>
            <a:off x="1071880" y="2537464"/>
            <a:ext cx="3048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5B47D6"/>
                </a:solidFill>
                <a:latin typeface="Georgia" pitchFamily="18" charset="0"/>
                <a:ea typeface="Georgia" pitchFamily="18" charset="-122"/>
                <a:cs typeface="Georgia" pitchFamily="18" charset="-120"/>
              </a:rPr>
              <a:t>1</a:t>
            </a:r>
            <a:endParaRPr lang="en-US" sz="2000" dirty="0"/>
          </a:p>
        </p:txBody>
      </p:sp>
      <p:sp>
        <p:nvSpPr>
          <p:cNvPr id="8" name="Text 5"/>
          <p:cNvSpPr/>
          <p:nvPr/>
        </p:nvSpPr>
        <p:spPr>
          <a:xfrm>
            <a:off x="1427480" y="2537464"/>
            <a:ext cx="3083600" cy="311150"/>
          </a:xfrm>
          <a:prstGeom prst="rect">
            <a:avLst/>
          </a:prstGeom>
          <a:noFill/>
          <a:ln/>
        </p:spPr>
        <p:txBody>
          <a:bodyPr wrap="square" lIns="0" tIns="0" rIns="0" bIns="0" rtlCol="0" anchor="t">
            <a:normAutofit/>
          </a:bodyPr>
          <a:lstStyle/>
          <a:p>
            <a:pPr algn="l" indent="0" marL="0">
              <a:lnSpc>
                <a:spcPts val="2250"/>
              </a:lnSpc>
              <a:buNone/>
            </a:pPr>
            <a:r>
              <a:rPr lang="en-US" sz="1800" dirty="0">
                <a:solidFill>
                  <a:srgbClr val="3F4A5E"/>
                </a:solidFill>
                <a:latin typeface="Arial" pitchFamily="34" charset="0"/>
                <a:ea typeface="Arial" pitchFamily="34" charset="-122"/>
                <a:cs typeface="Arial" pitchFamily="34" charset="-120"/>
              </a:rPr>
              <a:t>The exact treatment</a:t>
            </a:r>
            <a:endParaRPr lang="en-US" sz="1800" dirty="0"/>
          </a:p>
        </p:txBody>
      </p:sp>
      <p:sp>
        <p:nvSpPr>
          <p:cNvPr id="9" name="Text 6"/>
          <p:cNvSpPr/>
          <p:nvPr/>
        </p:nvSpPr>
        <p:spPr>
          <a:xfrm>
            <a:off x="4421267" y="2537464"/>
            <a:ext cx="3048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5B47D6"/>
                </a:solidFill>
                <a:latin typeface="Georgia" pitchFamily="18" charset="0"/>
                <a:ea typeface="Georgia" pitchFamily="18" charset="-122"/>
                <a:cs typeface="Georgia" pitchFamily="18" charset="-120"/>
              </a:rPr>
              <a:t>2</a:t>
            </a:r>
            <a:endParaRPr lang="en-US" sz="2000" dirty="0"/>
          </a:p>
        </p:txBody>
      </p:sp>
      <p:sp>
        <p:nvSpPr>
          <p:cNvPr id="10" name="Text 7"/>
          <p:cNvSpPr/>
          <p:nvPr/>
        </p:nvSpPr>
        <p:spPr>
          <a:xfrm>
            <a:off x="4776867" y="2537464"/>
            <a:ext cx="3083600" cy="596900"/>
          </a:xfrm>
          <a:prstGeom prst="rect">
            <a:avLst/>
          </a:prstGeom>
          <a:noFill/>
          <a:ln/>
        </p:spPr>
        <p:txBody>
          <a:bodyPr wrap="square" lIns="0" tIns="0" rIns="0" bIns="0" rtlCol="0" anchor="t">
            <a:normAutofit/>
          </a:bodyPr>
          <a:lstStyle/>
          <a:p>
            <a:pPr algn="l" indent="0" marL="0">
              <a:lnSpc>
                <a:spcPts val="2250"/>
              </a:lnSpc>
              <a:buNone/>
            </a:pPr>
            <a:r>
              <a:rPr lang="en-US" sz="1800" dirty="0">
                <a:solidFill>
                  <a:srgbClr val="3F4A5E"/>
                </a:solidFill>
                <a:latin typeface="Arial" pitchFamily="34" charset="0"/>
                <a:ea typeface="Arial" pitchFamily="34" charset="-122"/>
                <a:cs typeface="Arial" pitchFamily="34" charset="-120"/>
              </a:rPr>
              <a:t>Her doctor's view of realistic outcomes</a:t>
            </a:r>
            <a:endParaRPr lang="en-US" sz="1800" dirty="0"/>
          </a:p>
        </p:txBody>
      </p:sp>
      <p:sp>
        <p:nvSpPr>
          <p:cNvPr id="11" name="Text 8"/>
          <p:cNvSpPr/>
          <p:nvPr/>
        </p:nvSpPr>
        <p:spPr>
          <a:xfrm>
            <a:off x="7770654" y="2537464"/>
            <a:ext cx="3048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5B47D6"/>
                </a:solidFill>
                <a:latin typeface="Georgia" pitchFamily="18" charset="0"/>
                <a:ea typeface="Georgia" pitchFamily="18" charset="-122"/>
                <a:cs typeface="Georgia" pitchFamily="18" charset="-120"/>
              </a:rPr>
              <a:t>3</a:t>
            </a:r>
            <a:endParaRPr lang="en-US" sz="2000" dirty="0"/>
          </a:p>
        </p:txBody>
      </p:sp>
      <p:sp>
        <p:nvSpPr>
          <p:cNvPr id="12" name="Text 9"/>
          <p:cNvSpPr/>
          <p:nvPr/>
        </p:nvSpPr>
        <p:spPr>
          <a:xfrm>
            <a:off x="8126254" y="2537464"/>
            <a:ext cx="3246596" cy="311150"/>
          </a:xfrm>
          <a:prstGeom prst="rect">
            <a:avLst/>
          </a:prstGeom>
          <a:noFill/>
          <a:ln/>
        </p:spPr>
        <p:txBody>
          <a:bodyPr wrap="square" lIns="0" tIns="0" rIns="0" bIns="0" rtlCol="0" anchor="t">
            <a:normAutofit/>
          </a:bodyPr>
          <a:lstStyle/>
          <a:p>
            <a:pPr algn="l" indent="0" marL="0">
              <a:lnSpc>
                <a:spcPts val="2250"/>
              </a:lnSpc>
              <a:buNone/>
            </a:pPr>
            <a:r>
              <a:rPr lang="en-US" sz="1800" dirty="0">
                <a:solidFill>
                  <a:srgbClr val="3F4A5E"/>
                </a:solidFill>
                <a:latin typeface="Arial" pitchFamily="34" charset="0"/>
                <a:ea typeface="Arial" pitchFamily="34" charset="-122"/>
                <a:cs typeface="Arial" pitchFamily="34" charset="-120"/>
              </a:rPr>
              <a:t>Other options, including none</a:t>
            </a:r>
            <a:endParaRPr lang="en-US" sz="1800" dirty="0"/>
          </a:p>
        </p:txBody>
      </p:sp>
      <p:sp>
        <p:nvSpPr>
          <p:cNvPr id="13" name="Text 10"/>
          <p:cNvSpPr/>
          <p:nvPr/>
        </p:nvSpPr>
        <p:spPr>
          <a:xfrm>
            <a:off x="1071880" y="3108964"/>
            <a:ext cx="3048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5B47D6"/>
                </a:solidFill>
                <a:latin typeface="Georgia" pitchFamily="18" charset="0"/>
                <a:ea typeface="Georgia" pitchFamily="18" charset="-122"/>
                <a:cs typeface="Georgia" pitchFamily="18" charset="-120"/>
              </a:rPr>
              <a:t>4</a:t>
            </a:r>
            <a:endParaRPr lang="en-US" sz="2000" dirty="0"/>
          </a:p>
        </p:txBody>
      </p:sp>
      <p:sp>
        <p:nvSpPr>
          <p:cNvPr id="14" name="Text 11"/>
          <p:cNvSpPr/>
          <p:nvPr/>
        </p:nvSpPr>
        <p:spPr>
          <a:xfrm>
            <a:off x="1427480" y="3108964"/>
            <a:ext cx="3083600" cy="311150"/>
          </a:xfrm>
          <a:prstGeom prst="rect">
            <a:avLst/>
          </a:prstGeom>
          <a:noFill/>
          <a:ln/>
        </p:spPr>
        <p:txBody>
          <a:bodyPr wrap="square" lIns="0" tIns="0" rIns="0" bIns="0" rtlCol="0" anchor="t">
            <a:normAutofit/>
          </a:bodyPr>
          <a:lstStyle/>
          <a:p>
            <a:pPr algn="l" indent="0" marL="0">
              <a:lnSpc>
                <a:spcPts val="2250"/>
              </a:lnSpc>
              <a:buNone/>
            </a:pPr>
            <a:r>
              <a:rPr lang="en-US" sz="1800" dirty="0">
                <a:solidFill>
                  <a:srgbClr val="3F4A5E"/>
                </a:solidFill>
                <a:latin typeface="Arial" pitchFamily="34" charset="0"/>
                <a:ea typeface="Arial" pitchFamily="34" charset="-122"/>
                <a:cs typeface="Arial" pitchFamily="34" charset="-120"/>
              </a:rPr>
              <a:t>Known risks and benefits</a:t>
            </a:r>
            <a:endParaRPr lang="en-US" sz="1800" dirty="0"/>
          </a:p>
        </p:txBody>
      </p:sp>
      <p:sp>
        <p:nvSpPr>
          <p:cNvPr id="15" name="Text 12"/>
          <p:cNvSpPr/>
          <p:nvPr/>
        </p:nvSpPr>
        <p:spPr>
          <a:xfrm>
            <a:off x="4421267" y="3108964"/>
            <a:ext cx="3048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5B47D6"/>
                </a:solidFill>
                <a:latin typeface="Georgia" pitchFamily="18" charset="0"/>
                <a:ea typeface="Georgia" pitchFamily="18" charset="-122"/>
                <a:cs typeface="Georgia" pitchFamily="18" charset="-120"/>
              </a:rPr>
              <a:t>5</a:t>
            </a:r>
            <a:endParaRPr lang="en-US" sz="2000" dirty="0"/>
          </a:p>
        </p:txBody>
      </p:sp>
      <p:sp>
        <p:nvSpPr>
          <p:cNvPr id="16" name="Text 13"/>
          <p:cNvSpPr/>
          <p:nvPr/>
        </p:nvSpPr>
        <p:spPr>
          <a:xfrm>
            <a:off x="4776867" y="3108964"/>
            <a:ext cx="3083600" cy="596900"/>
          </a:xfrm>
          <a:prstGeom prst="rect">
            <a:avLst/>
          </a:prstGeom>
          <a:noFill/>
          <a:ln/>
        </p:spPr>
        <p:txBody>
          <a:bodyPr wrap="square" lIns="0" tIns="0" rIns="0" bIns="0" rtlCol="0" anchor="t">
            <a:normAutofit/>
          </a:bodyPr>
          <a:lstStyle/>
          <a:p>
            <a:pPr algn="l" indent="0" marL="0">
              <a:lnSpc>
                <a:spcPts val="2250"/>
              </a:lnSpc>
              <a:buNone/>
            </a:pPr>
            <a:r>
              <a:rPr lang="en-US" sz="1800" dirty="0">
                <a:solidFill>
                  <a:srgbClr val="3F4A5E"/>
                </a:solidFill>
                <a:latin typeface="Arial" pitchFamily="34" charset="0"/>
                <a:ea typeface="Arial" pitchFamily="34" charset="-122"/>
                <a:cs typeface="Arial" pitchFamily="34" charset="-120"/>
              </a:rPr>
              <a:t>What's unknown, and FDA status</a:t>
            </a:r>
            <a:endParaRPr lang="en-US" sz="1800" dirty="0"/>
          </a:p>
        </p:txBody>
      </p:sp>
      <p:sp>
        <p:nvSpPr>
          <p:cNvPr id="17" name="Text 14"/>
          <p:cNvSpPr/>
          <p:nvPr/>
        </p:nvSpPr>
        <p:spPr>
          <a:xfrm>
            <a:off x="7770654" y="3108964"/>
            <a:ext cx="3048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5B47D6"/>
                </a:solidFill>
                <a:latin typeface="Georgia" pitchFamily="18" charset="0"/>
                <a:ea typeface="Georgia" pitchFamily="18" charset="-122"/>
                <a:cs typeface="Georgia" pitchFamily="18" charset="-120"/>
              </a:rPr>
              <a:t>6</a:t>
            </a:r>
            <a:endParaRPr lang="en-US" sz="2000" dirty="0"/>
          </a:p>
        </p:txBody>
      </p:sp>
      <p:sp>
        <p:nvSpPr>
          <p:cNvPr id="18" name="Text 15"/>
          <p:cNvSpPr/>
          <p:nvPr/>
        </p:nvSpPr>
        <p:spPr>
          <a:xfrm>
            <a:off x="8126254" y="3108964"/>
            <a:ext cx="3083600" cy="311150"/>
          </a:xfrm>
          <a:prstGeom prst="rect">
            <a:avLst/>
          </a:prstGeom>
          <a:noFill/>
          <a:ln/>
        </p:spPr>
        <p:txBody>
          <a:bodyPr wrap="square" lIns="0" tIns="0" rIns="0" bIns="0" rtlCol="0" anchor="t">
            <a:normAutofit/>
          </a:bodyPr>
          <a:lstStyle/>
          <a:p>
            <a:pPr algn="l" indent="0" marL="0">
              <a:lnSpc>
                <a:spcPts val="2250"/>
              </a:lnSpc>
              <a:buNone/>
            </a:pPr>
            <a:r>
              <a:rPr lang="en-US" sz="1800" dirty="0">
                <a:solidFill>
                  <a:srgbClr val="3F4A5E"/>
                </a:solidFill>
                <a:latin typeface="Arial" pitchFamily="34" charset="0"/>
                <a:ea typeface="Arial" pitchFamily="34" charset="-122"/>
                <a:cs typeface="Arial" pitchFamily="34" charset="-120"/>
              </a:rPr>
              <a:t>Her choice is voluntary</a:t>
            </a:r>
            <a:endParaRPr lang="en-US" sz="1800" dirty="0"/>
          </a:p>
        </p:txBody>
      </p:sp>
      <p:sp>
        <p:nvSpPr>
          <p:cNvPr id="19" name="Text 16"/>
          <p:cNvSpPr/>
          <p:nvPr/>
        </p:nvSpPr>
        <p:spPr>
          <a:xfrm>
            <a:off x="1071880" y="3680464"/>
            <a:ext cx="3048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5B47D6"/>
                </a:solidFill>
                <a:latin typeface="Georgia" pitchFamily="18" charset="0"/>
                <a:ea typeface="Georgia" pitchFamily="18" charset="-122"/>
                <a:cs typeface="Georgia" pitchFamily="18" charset="-120"/>
              </a:rPr>
              <a:t>7</a:t>
            </a:r>
            <a:endParaRPr lang="en-US" sz="2000" dirty="0"/>
          </a:p>
        </p:txBody>
      </p:sp>
      <p:sp>
        <p:nvSpPr>
          <p:cNvPr id="20" name="Text 17"/>
          <p:cNvSpPr/>
          <p:nvPr/>
        </p:nvSpPr>
        <p:spPr>
          <a:xfrm>
            <a:off x="1427480" y="3680464"/>
            <a:ext cx="3083600" cy="596900"/>
          </a:xfrm>
          <a:prstGeom prst="rect">
            <a:avLst/>
          </a:prstGeom>
          <a:noFill/>
          <a:ln/>
        </p:spPr>
        <p:txBody>
          <a:bodyPr wrap="square" lIns="0" tIns="0" rIns="0" bIns="0" rtlCol="0" anchor="t">
            <a:normAutofit/>
          </a:bodyPr>
          <a:lstStyle/>
          <a:p>
            <a:pPr algn="l" indent="0" marL="0">
              <a:lnSpc>
                <a:spcPts val="2250"/>
              </a:lnSpc>
              <a:buNone/>
            </a:pPr>
            <a:r>
              <a:rPr lang="en-US" sz="1800" dirty="0">
                <a:solidFill>
                  <a:srgbClr val="3F4A5E"/>
                </a:solidFill>
                <a:latin typeface="Arial" pitchFamily="34" charset="0"/>
                <a:ea typeface="Arial" pitchFamily="34" charset="-122"/>
                <a:cs typeface="Arial" pitchFamily="34" charset="-120"/>
              </a:rPr>
              <a:t>Who pays, and what she may owe</a:t>
            </a:r>
            <a:endParaRPr lang="en-US" sz="1800" dirty="0"/>
          </a:p>
        </p:txBody>
      </p:sp>
      <p:sp>
        <p:nvSpPr>
          <p:cNvPr id="21" name="Text 18"/>
          <p:cNvSpPr/>
          <p:nvPr/>
        </p:nvSpPr>
        <p:spPr>
          <a:xfrm>
            <a:off x="4421267" y="3680464"/>
            <a:ext cx="3048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5B47D6"/>
                </a:solidFill>
                <a:latin typeface="Georgia" pitchFamily="18" charset="0"/>
                <a:ea typeface="Georgia" pitchFamily="18" charset="-122"/>
                <a:cs typeface="Georgia" pitchFamily="18" charset="-120"/>
              </a:rPr>
              <a:t>8</a:t>
            </a:r>
            <a:endParaRPr lang="en-US" sz="2000" dirty="0"/>
          </a:p>
        </p:txBody>
      </p:sp>
      <p:sp>
        <p:nvSpPr>
          <p:cNvPr id="22" name="Text 19"/>
          <p:cNvSpPr/>
          <p:nvPr/>
        </p:nvSpPr>
        <p:spPr>
          <a:xfrm>
            <a:off x="4776867" y="3680464"/>
            <a:ext cx="3083600" cy="596900"/>
          </a:xfrm>
          <a:prstGeom prst="rect">
            <a:avLst/>
          </a:prstGeom>
          <a:noFill/>
          <a:ln/>
        </p:spPr>
        <p:txBody>
          <a:bodyPr wrap="square" lIns="0" tIns="0" rIns="0" bIns="0" rtlCol="0" anchor="t">
            <a:normAutofit/>
          </a:bodyPr>
          <a:lstStyle/>
          <a:p>
            <a:pPr algn="l" indent="0" marL="0">
              <a:lnSpc>
                <a:spcPts val="2250"/>
              </a:lnSpc>
              <a:buNone/>
            </a:pPr>
            <a:r>
              <a:rPr lang="en-US" sz="1800" dirty="0">
                <a:solidFill>
                  <a:srgbClr val="3F4A5E"/>
                </a:solidFill>
                <a:latin typeface="Arial" pitchFamily="34" charset="0"/>
                <a:ea typeface="Arial" pitchFamily="34" charset="-122"/>
                <a:cs typeface="Arial" pitchFamily="34" charset="-120"/>
              </a:rPr>
              <a:t>What data is collected, and how it's coded</a:t>
            </a:r>
            <a:endParaRPr lang="en-US" sz="1800" dirty="0"/>
          </a:p>
        </p:txBody>
      </p:sp>
      <p:sp>
        <p:nvSpPr>
          <p:cNvPr id="23" name="Text 20"/>
          <p:cNvSpPr/>
          <p:nvPr/>
        </p:nvSpPr>
        <p:spPr>
          <a:xfrm>
            <a:off x="7770654" y="3680464"/>
            <a:ext cx="3048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5B47D6"/>
                </a:solidFill>
                <a:latin typeface="Georgia" pitchFamily="18" charset="0"/>
                <a:ea typeface="Georgia" pitchFamily="18" charset="-122"/>
                <a:cs typeface="Georgia" pitchFamily="18" charset="-120"/>
              </a:rPr>
              <a:t>9</a:t>
            </a:r>
            <a:endParaRPr lang="en-US" sz="2000" dirty="0"/>
          </a:p>
        </p:txBody>
      </p:sp>
      <p:sp>
        <p:nvSpPr>
          <p:cNvPr id="24" name="Text 21"/>
          <p:cNvSpPr/>
          <p:nvPr/>
        </p:nvSpPr>
        <p:spPr>
          <a:xfrm>
            <a:off x="8126254" y="3680464"/>
            <a:ext cx="3083600" cy="596900"/>
          </a:xfrm>
          <a:prstGeom prst="rect">
            <a:avLst/>
          </a:prstGeom>
          <a:noFill/>
          <a:ln/>
        </p:spPr>
        <p:txBody>
          <a:bodyPr wrap="square" lIns="0" tIns="0" rIns="0" bIns="0" rtlCol="0" anchor="t">
            <a:normAutofit/>
          </a:bodyPr>
          <a:lstStyle/>
          <a:p>
            <a:pPr algn="l" indent="0" marL="0">
              <a:lnSpc>
                <a:spcPts val="2250"/>
              </a:lnSpc>
              <a:buNone/>
            </a:pPr>
            <a:r>
              <a:rPr lang="en-US" sz="1800" dirty="0">
                <a:solidFill>
                  <a:srgbClr val="3F4A5E"/>
                </a:solidFill>
                <a:latin typeface="Arial" pitchFamily="34" charset="0"/>
                <a:ea typeface="Arial" pitchFamily="34" charset="-122"/>
                <a:cs typeface="Arial" pitchFamily="34" charset="-120"/>
              </a:rPr>
              <a:t>A clear "experimental" statement</a:t>
            </a:r>
            <a:endParaRPr lang="en-US" sz="1800" dirty="0"/>
          </a:p>
        </p:txBody>
      </p:sp>
      <p:sp>
        <p:nvSpPr>
          <p:cNvPr id="25" name="Shape 22"/>
          <p:cNvSpPr/>
          <p:nvPr/>
        </p:nvSpPr>
        <p:spPr>
          <a:xfrm>
            <a:off x="812800" y="4765042"/>
            <a:ext cx="3420507" cy="756920"/>
          </a:xfrm>
          <a:prstGeom prst="roundRect">
            <a:avLst>
              <a:gd name="adj" fmla="val 50000"/>
            </a:avLst>
          </a:prstGeom>
          <a:solidFill>
            <a:srgbClr val="F1ECE3"/>
          </a:solidFill>
          <a:ln/>
        </p:spPr>
      </p:sp>
      <p:sp>
        <p:nvSpPr>
          <p:cNvPr id="26" name="Shape 23"/>
          <p:cNvSpPr/>
          <p:nvPr/>
        </p:nvSpPr>
        <p:spPr>
          <a:xfrm>
            <a:off x="889000" y="4841242"/>
            <a:ext cx="406400" cy="406400"/>
          </a:xfrm>
          <a:prstGeom prst="roundRect">
            <a:avLst>
              <a:gd name="adj" fmla="val 50000"/>
            </a:avLst>
          </a:prstGeom>
          <a:solidFill>
            <a:srgbClr val="FFFDF9"/>
          </a:solidFill>
          <a:ln/>
        </p:spPr>
      </p:sp>
      <p:pic>
        <p:nvPicPr>
          <p:cNvPr id="27" name="Image 1" descr="Chat">    </p:cNvPr>
          <p:cNvPicPr>
            <a:picLocks noChangeAspect="1"/>
          </p:cNvPicPr>
          <p:nvPr/>
        </p:nvPicPr>
        <p:blipFill>
          <a:blip r:embed="rId2"/>
          <a:srcRect l="0" r="0" t="0" b="0"/>
          <a:stretch/>
        </p:blipFill>
        <p:spPr>
          <a:xfrm>
            <a:off x="987425" y="4939667"/>
            <a:ext cx="209550" cy="209550"/>
          </a:xfrm>
          <a:prstGeom prst="rect">
            <a:avLst/>
          </a:prstGeom>
        </p:spPr>
      </p:pic>
      <p:sp>
        <p:nvSpPr>
          <p:cNvPr id="28" name="Text 24"/>
          <p:cNvSpPr/>
          <p:nvPr/>
        </p:nvSpPr>
        <p:spPr>
          <a:xfrm>
            <a:off x="1397000" y="4841242"/>
            <a:ext cx="2738262" cy="6299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F2A44"/>
                </a:solidFill>
                <a:latin typeface="Arial" pitchFamily="34" charset="0"/>
                <a:ea typeface="Arial" pitchFamily="34" charset="-122"/>
                <a:cs typeface="Arial" pitchFamily="34" charset="-120"/>
              </a:rPr>
              <a:t>Recording only if she agrees</a:t>
            </a:r>
            <a:endParaRPr lang="en-US" sz="1700" dirty="0"/>
          </a:p>
        </p:txBody>
      </p:sp>
      <p:sp>
        <p:nvSpPr>
          <p:cNvPr id="29" name="Shape 25"/>
          <p:cNvSpPr/>
          <p:nvPr/>
        </p:nvSpPr>
        <p:spPr>
          <a:xfrm>
            <a:off x="4385707" y="4765042"/>
            <a:ext cx="3420586" cy="756920"/>
          </a:xfrm>
          <a:prstGeom prst="roundRect">
            <a:avLst>
              <a:gd name="adj" fmla="val 50000"/>
            </a:avLst>
          </a:prstGeom>
          <a:solidFill>
            <a:srgbClr val="F1ECE3"/>
          </a:solidFill>
          <a:ln/>
        </p:spPr>
      </p:sp>
      <p:sp>
        <p:nvSpPr>
          <p:cNvPr id="30" name="Shape 26"/>
          <p:cNvSpPr/>
          <p:nvPr/>
        </p:nvSpPr>
        <p:spPr>
          <a:xfrm>
            <a:off x="4461907" y="4841242"/>
            <a:ext cx="406400" cy="406400"/>
          </a:xfrm>
          <a:prstGeom prst="roundRect">
            <a:avLst>
              <a:gd name="adj" fmla="val 50000"/>
            </a:avLst>
          </a:prstGeom>
          <a:solidFill>
            <a:srgbClr val="FFFDF9"/>
          </a:solidFill>
          <a:ln/>
        </p:spPr>
      </p:sp>
      <p:pic>
        <p:nvPicPr>
          <p:cNvPr id="31" name="Image 2" descr="Users">    </p:cNvPr>
          <p:cNvPicPr>
            <a:picLocks noChangeAspect="1"/>
          </p:cNvPicPr>
          <p:nvPr/>
        </p:nvPicPr>
        <p:blipFill>
          <a:blip r:embed="rId3"/>
          <a:srcRect l="0" r="0" t="0" b="0"/>
          <a:stretch/>
        </p:blipFill>
        <p:spPr>
          <a:xfrm>
            <a:off x="4560332" y="4939667"/>
            <a:ext cx="209550" cy="209550"/>
          </a:xfrm>
          <a:prstGeom prst="rect">
            <a:avLst/>
          </a:prstGeom>
        </p:spPr>
      </p:pic>
      <p:sp>
        <p:nvSpPr>
          <p:cNvPr id="32" name="Text 27"/>
          <p:cNvSpPr/>
          <p:nvPr/>
        </p:nvSpPr>
        <p:spPr>
          <a:xfrm>
            <a:off x="4969907" y="4841242"/>
            <a:ext cx="2738344" cy="6299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F2A44"/>
                </a:solidFill>
                <a:latin typeface="Arial" pitchFamily="34" charset="0"/>
                <a:ea typeface="Arial" pitchFamily="34" charset="-122"/>
                <a:cs typeface="Arial" pitchFamily="34" charset="-120"/>
              </a:rPr>
              <a:t>Family can consent for her</a:t>
            </a:r>
            <a:endParaRPr lang="en-US" sz="1700" dirty="0"/>
          </a:p>
        </p:txBody>
      </p:sp>
      <p:sp>
        <p:nvSpPr>
          <p:cNvPr id="33" name="Shape 28"/>
          <p:cNvSpPr/>
          <p:nvPr/>
        </p:nvSpPr>
        <p:spPr>
          <a:xfrm>
            <a:off x="7958693" y="4765042"/>
            <a:ext cx="3420507" cy="756920"/>
          </a:xfrm>
          <a:prstGeom prst="roundRect">
            <a:avLst>
              <a:gd name="adj" fmla="val 50000"/>
            </a:avLst>
          </a:prstGeom>
          <a:solidFill>
            <a:srgbClr val="F1ECE3"/>
          </a:solidFill>
          <a:ln/>
        </p:spPr>
      </p:sp>
      <p:sp>
        <p:nvSpPr>
          <p:cNvPr id="34" name="Shape 29"/>
          <p:cNvSpPr/>
          <p:nvPr/>
        </p:nvSpPr>
        <p:spPr>
          <a:xfrm>
            <a:off x="8034893" y="4841242"/>
            <a:ext cx="406400" cy="406400"/>
          </a:xfrm>
          <a:prstGeom prst="roundRect">
            <a:avLst>
              <a:gd name="adj" fmla="val 50000"/>
            </a:avLst>
          </a:prstGeom>
          <a:solidFill>
            <a:srgbClr val="FFFDF9"/>
          </a:solidFill>
          <a:ln/>
        </p:spPr>
      </p:sp>
      <p:pic>
        <p:nvPicPr>
          <p:cNvPr id="35" name="Image 3" descr="Lock">    </p:cNvPr>
          <p:cNvPicPr>
            <a:picLocks noChangeAspect="1"/>
          </p:cNvPicPr>
          <p:nvPr/>
        </p:nvPicPr>
        <p:blipFill>
          <a:blip r:embed="rId4"/>
          <a:srcRect l="0" r="0" t="0" b="0"/>
          <a:stretch/>
        </p:blipFill>
        <p:spPr>
          <a:xfrm>
            <a:off x="8133318" y="4939667"/>
            <a:ext cx="209550" cy="209550"/>
          </a:xfrm>
          <a:prstGeom prst="rect">
            <a:avLst/>
          </a:prstGeom>
        </p:spPr>
      </p:pic>
      <p:sp>
        <p:nvSpPr>
          <p:cNvPr id="36" name="Text 30"/>
          <p:cNvSpPr/>
          <p:nvPr/>
        </p:nvSpPr>
        <p:spPr>
          <a:xfrm>
            <a:off x="8542893" y="4992371"/>
            <a:ext cx="1410557" cy="32766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F2A44"/>
                </a:solidFill>
                <a:latin typeface="Arial" pitchFamily="34" charset="0"/>
                <a:ea typeface="Arial" pitchFamily="34" charset="-122"/>
                <a:cs typeface="Arial" pitchFamily="34" charset="-120"/>
              </a:rPr>
              <a:t>Kept on file</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5B47D6"/>
                </a:solidFill>
                <a:latin typeface="Arial" pitchFamily="34" charset="0"/>
                <a:ea typeface="Arial" pitchFamily="34" charset="-122"/>
                <a:cs typeface="Arial" pitchFamily="34" charset="-120"/>
              </a:rPr>
              <a:t>STEP 4 · ARRANGE PAYMENT</a:t>
            </a:r>
            <a:endParaRPr lang="en-US" sz="1400" dirty="0"/>
          </a:p>
        </p:txBody>
      </p:sp>
      <p:sp>
        <p:nvSpPr>
          <p:cNvPr id="3" name="Text 1"/>
          <p:cNvSpPr/>
          <p:nvPr/>
        </p:nvSpPr>
        <p:spPr>
          <a:xfrm>
            <a:off x="812800" y="1137921"/>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F2A44"/>
                </a:solidFill>
                <a:latin typeface="Georgia" pitchFamily="18" charset="0"/>
                <a:ea typeface="Georgia" pitchFamily="18" charset="-122"/>
                <a:cs typeface="Georgia" pitchFamily="18" charset="-120"/>
              </a:rPr>
              <a:t>Providers can charge fairly, so clinics will offer it</a:t>
            </a:r>
            <a:endParaRPr lang="en-US" sz="3200" dirty="0"/>
          </a:p>
        </p:txBody>
      </p:sp>
      <p:sp>
        <p:nvSpPr>
          <p:cNvPr id="4" name="Shape 2"/>
          <p:cNvSpPr/>
          <p:nvPr/>
        </p:nvSpPr>
        <p:spPr>
          <a:xfrm>
            <a:off x="815975" y="1913254"/>
            <a:ext cx="5408930" cy="3268980"/>
          </a:xfrm>
          <a:prstGeom prst="roundRect">
            <a:avLst>
              <a:gd name="adj" fmla="val 4565"/>
            </a:avLst>
          </a:prstGeom>
          <a:solidFill>
            <a:srgbClr val="FFFDF9"/>
          </a:solidFill>
          <a:ln w="6350">
            <a:solidFill>
              <a:srgbClr val="E4DED3"/>
            </a:solidFill>
            <a:prstDash val="solid"/>
          </a:ln>
        </p:spPr>
      </p:sp>
      <p:sp>
        <p:nvSpPr>
          <p:cNvPr id="5" name="Text 3"/>
          <p:cNvSpPr/>
          <p:nvPr/>
        </p:nvSpPr>
        <p:spPr>
          <a:xfrm>
            <a:off x="1122680" y="2219964"/>
            <a:ext cx="4939386" cy="1168400"/>
          </a:xfrm>
          <a:prstGeom prst="rect">
            <a:avLst/>
          </a:prstGeom>
          <a:noFill/>
          <a:ln/>
        </p:spPr>
        <p:txBody>
          <a:bodyPr wrap="square" lIns="0" tIns="0" rIns="0" bIns="0" rtlCol="0" anchor="t">
            <a:normAutofit/>
          </a:bodyPr>
          <a:lstStyle/>
          <a:p>
            <a:pPr algn="l" indent="0" marL="0">
              <a:lnSpc>
                <a:spcPts val="9000"/>
              </a:lnSpc>
              <a:buNone/>
            </a:pPr>
            <a:r>
              <a:rPr lang="en-US" sz="9000" b="1" dirty="0">
                <a:solidFill>
                  <a:srgbClr val="5B47D6"/>
                </a:solidFill>
                <a:latin typeface="Georgia" pitchFamily="18" charset="0"/>
                <a:ea typeface="Georgia" pitchFamily="18" charset="-122"/>
                <a:cs typeface="Georgia" pitchFamily="18" charset="-120"/>
              </a:rPr>
              <a:t>$0</a:t>
            </a:r>
            <a:endParaRPr lang="en-US" sz="9000" dirty="0"/>
          </a:p>
        </p:txBody>
      </p:sp>
      <p:sp>
        <p:nvSpPr>
          <p:cNvPr id="6" name="Text 4"/>
          <p:cNvSpPr/>
          <p:nvPr/>
        </p:nvSpPr>
        <p:spPr>
          <a:xfrm>
            <a:off x="1122680" y="3464564"/>
            <a:ext cx="4939386" cy="751840"/>
          </a:xfrm>
          <a:prstGeom prst="rect">
            <a:avLst/>
          </a:prstGeom>
          <a:noFill/>
          <a:ln/>
        </p:spPr>
        <p:txBody>
          <a:bodyPr wrap="square" lIns="0" tIns="0" rIns="0" bIns="0" rtlCol="0" anchor="t">
            <a:normAutofit/>
          </a:bodyPr>
          <a:lstStyle/>
          <a:p>
            <a:pPr algn="l" indent="0" marL="0">
              <a:lnSpc>
                <a:spcPts val="2860"/>
              </a:lnSpc>
              <a:buNone/>
            </a:pPr>
            <a:r>
              <a:rPr lang="en-US" sz="2200" b="1" dirty="0">
                <a:solidFill>
                  <a:srgbClr val="1F2A44"/>
                </a:solidFill>
                <a:latin typeface="Arial" pitchFamily="34" charset="0"/>
                <a:ea typeface="Arial" pitchFamily="34" charset="-122"/>
                <a:cs typeface="Arial" pitchFamily="34" charset="-120"/>
              </a:rPr>
              <a:t>required from any insurer or state program</a:t>
            </a:r>
            <a:endParaRPr lang="en-US" sz="2200" dirty="0"/>
          </a:p>
        </p:txBody>
      </p:sp>
      <p:sp>
        <p:nvSpPr>
          <p:cNvPr id="7" name="Text 5"/>
          <p:cNvSpPr/>
          <p:nvPr/>
        </p:nvSpPr>
        <p:spPr>
          <a:xfrm>
            <a:off x="1122680" y="4292600"/>
            <a:ext cx="4939386" cy="608330"/>
          </a:xfrm>
          <a:prstGeom prst="rect">
            <a:avLst/>
          </a:prstGeom>
          <a:noFill/>
          <a:ln/>
        </p:spPr>
        <p:txBody>
          <a:bodyPr wrap="square" lIns="0" tIns="0" rIns="0" bIns="0" rtlCol="0" anchor="t">
            <a:normAutofit/>
          </a:bodyPr>
          <a:lstStyle/>
          <a:p>
            <a:pPr algn="l" indent="0" marL="0">
              <a:lnSpc>
                <a:spcPts val="2295"/>
              </a:lnSpc>
              <a:buNone/>
            </a:pPr>
            <a:r>
              <a:rPr lang="en-US" sz="1700" dirty="0">
                <a:solidFill>
                  <a:srgbClr val="3F4A5E"/>
                </a:solidFill>
                <a:latin typeface="Arial" pitchFamily="34" charset="0"/>
                <a:ea typeface="Arial" pitchFamily="34" charset="-122"/>
                <a:cs typeface="Arial" pitchFamily="34" charset="-120"/>
              </a:rPr>
              <a:t>Patients, families, charities, employers or research sponsors pay.</a:t>
            </a:r>
            <a:endParaRPr lang="en-US" sz="1700" dirty="0"/>
          </a:p>
        </p:txBody>
      </p:sp>
      <p:sp>
        <p:nvSpPr>
          <p:cNvPr id="8" name="Shape 6"/>
          <p:cNvSpPr/>
          <p:nvPr/>
        </p:nvSpPr>
        <p:spPr>
          <a:xfrm>
            <a:off x="6583680" y="1910079"/>
            <a:ext cx="4795520" cy="1460500"/>
          </a:xfrm>
          <a:prstGeom prst="roundRect">
            <a:avLst>
              <a:gd name="adj" fmla="val 10435"/>
            </a:avLst>
          </a:prstGeom>
          <a:solidFill>
            <a:srgbClr val="EFEBE4"/>
          </a:solidFill>
          <a:ln/>
        </p:spPr>
      </p:sp>
      <p:sp>
        <p:nvSpPr>
          <p:cNvPr id="9" name="Text 7"/>
          <p:cNvSpPr/>
          <p:nvPr/>
        </p:nvSpPr>
        <p:spPr>
          <a:xfrm>
            <a:off x="6786880" y="2087879"/>
            <a:ext cx="4520794" cy="25654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626A7C"/>
                </a:solidFill>
                <a:latin typeface="Arial" pitchFamily="34" charset="0"/>
                <a:ea typeface="Arial" pitchFamily="34" charset="-122"/>
                <a:cs typeface="Arial" pitchFamily="34" charset="-120"/>
              </a:rPr>
              <a:t>RIGHT-TO-TRY TODAY</a:t>
            </a:r>
            <a:endParaRPr lang="en-US" sz="1300" dirty="0"/>
          </a:p>
        </p:txBody>
      </p:sp>
      <p:sp>
        <p:nvSpPr>
          <p:cNvPr id="10" name="Text 8"/>
          <p:cNvSpPr/>
          <p:nvPr/>
        </p:nvSpPr>
        <p:spPr>
          <a:xfrm>
            <a:off x="6786880" y="2461264"/>
            <a:ext cx="816578" cy="665480"/>
          </a:xfrm>
          <a:prstGeom prst="rect">
            <a:avLst/>
          </a:prstGeom>
          <a:noFill/>
          <a:ln/>
        </p:spPr>
        <p:txBody>
          <a:bodyPr wrap="square" lIns="0" tIns="0" rIns="0" bIns="0" rtlCol="0" anchor="t">
            <a:normAutofit/>
          </a:bodyPr>
          <a:lstStyle/>
          <a:p>
            <a:pPr algn="l" indent="0" marL="0">
              <a:lnSpc>
                <a:spcPts val="5040"/>
              </a:lnSpc>
              <a:buNone/>
            </a:pPr>
            <a:r>
              <a:rPr lang="en-US" sz="4800" b="1" dirty="0">
                <a:solidFill>
                  <a:srgbClr val="A64E16"/>
                </a:solidFill>
                <a:latin typeface="Georgia" pitchFamily="18" charset="0"/>
                <a:ea typeface="Georgia" pitchFamily="18" charset="-122"/>
                <a:cs typeface="Georgia" pitchFamily="18" charset="-120"/>
              </a:rPr>
              <a:t>21</a:t>
            </a:r>
            <a:endParaRPr lang="en-US" sz="4800" dirty="0"/>
          </a:p>
        </p:txBody>
      </p:sp>
      <p:sp>
        <p:nvSpPr>
          <p:cNvPr id="11" name="Text 9"/>
          <p:cNvSpPr/>
          <p:nvPr/>
        </p:nvSpPr>
        <p:spPr>
          <a:xfrm>
            <a:off x="7619762" y="2369821"/>
            <a:ext cx="3662926" cy="84836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3F4A5E"/>
                </a:solidFill>
                <a:latin typeface="Arial" pitchFamily="34" charset="0"/>
                <a:ea typeface="Arial" pitchFamily="34" charset="-122"/>
                <a:cs typeface="Arial" pitchFamily="34" charset="-120"/>
              </a:rPr>
              <a:t>drugs used from 2018 to 2024. Makers may charge only their costs, so almost no one offers it.</a:t>
            </a:r>
            <a:endParaRPr lang="en-US" sz="1600" dirty="0"/>
          </a:p>
        </p:txBody>
      </p:sp>
      <p:sp>
        <p:nvSpPr>
          <p:cNvPr id="12" name="Shape 10"/>
          <p:cNvSpPr/>
          <p:nvPr/>
        </p:nvSpPr>
        <p:spPr>
          <a:xfrm>
            <a:off x="6586855" y="3500754"/>
            <a:ext cx="4789170" cy="1515745"/>
          </a:xfrm>
          <a:prstGeom prst="roundRect">
            <a:avLst>
              <a:gd name="adj" fmla="val 9845"/>
            </a:avLst>
          </a:prstGeom>
          <a:solidFill>
            <a:srgbClr val="ECE9FB"/>
          </a:solidFill>
          <a:ln w="6350">
            <a:solidFill>
              <a:srgbClr val="C9C0F2"/>
            </a:solidFill>
            <a:prstDash val="solid"/>
          </a:ln>
        </p:spPr>
      </p:sp>
      <p:sp>
        <p:nvSpPr>
          <p:cNvPr id="13" name="Text 11"/>
          <p:cNvSpPr/>
          <p:nvPr/>
        </p:nvSpPr>
        <p:spPr>
          <a:xfrm>
            <a:off x="6791960" y="3680464"/>
            <a:ext cx="4510329" cy="25654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5B47D6"/>
                </a:solidFill>
                <a:latin typeface="Arial" pitchFamily="34" charset="0"/>
                <a:ea typeface="Arial" pitchFamily="34" charset="-122"/>
                <a:cs typeface="Arial" pitchFamily="34" charset="-120"/>
              </a:rPr>
              <a:t>RIGHT TO TRIAL</a:t>
            </a:r>
            <a:endParaRPr lang="en-US" sz="1300" dirty="0"/>
          </a:p>
        </p:txBody>
      </p:sp>
      <p:sp>
        <p:nvSpPr>
          <p:cNvPr id="14" name="Text 12"/>
          <p:cNvSpPr/>
          <p:nvPr/>
        </p:nvSpPr>
        <p:spPr>
          <a:xfrm>
            <a:off x="6791960" y="3962400"/>
            <a:ext cx="4510329" cy="899795"/>
          </a:xfrm>
          <a:prstGeom prst="rect">
            <a:avLst/>
          </a:prstGeom>
          <a:noFill/>
          <a:ln/>
        </p:spPr>
        <p:txBody>
          <a:bodyPr wrap="square" lIns="0" tIns="0" rIns="0" bIns="0" rtlCol="0" anchor="t">
            <a:normAutofit/>
          </a:bodyPr>
          <a:lstStyle/>
          <a:p>
            <a:pPr algn="l" indent="0" marL="0">
              <a:lnSpc>
                <a:spcPts val="2295"/>
              </a:lnSpc>
              <a:buNone/>
            </a:pPr>
            <a:r>
              <a:rPr lang="en-US" sz="1700" b="1" dirty="0">
                <a:solidFill>
                  <a:srgbClr val="1F2A44"/>
                </a:solidFill>
                <a:latin typeface="Arial" pitchFamily="34" charset="0"/>
                <a:ea typeface="Arial" pitchFamily="34" charset="-122"/>
                <a:cs typeface="Arial" pitchFamily="34" charset="-120"/>
              </a:rPr>
              <a:t>Clinics can charge a fair price, so they have a real reason to offer new treatments.</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5B47D6"/>
                </a:solidFill>
                <a:latin typeface="Arial" pitchFamily="34" charset="0"/>
                <a:ea typeface="Arial" pitchFamily="34" charset="-122"/>
                <a:cs typeface="Arial" pitchFamily="34" charset="-120"/>
              </a:rPr>
              <a:t>STEP 5 · TREATMENT AND TRACKING</a:t>
            </a:r>
            <a:endParaRPr lang="en-US" sz="1400" dirty="0"/>
          </a:p>
        </p:txBody>
      </p:sp>
      <p:sp>
        <p:nvSpPr>
          <p:cNvPr id="3" name="Text 1"/>
          <p:cNvSpPr/>
          <p:nvPr/>
        </p:nvSpPr>
        <p:spPr>
          <a:xfrm>
            <a:off x="812800" y="1137921"/>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F2A44"/>
                </a:solidFill>
                <a:latin typeface="Georgia" pitchFamily="18" charset="0"/>
                <a:ea typeface="Georgia" pitchFamily="18" charset="-122"/>
                <a:cs typeface="Georgia" pitchFamily="18" charset="-120"/>
              </a:rPr>
              <a:t>Care close to home, with outcomes measured</a:t>
            </a:r>
            <a:endParaRPr lang="en-US" sz="3200" dirty="0"/>
          </a:p>
        </p:txBody>
      </p:sp>
      <p:sp>
        <p:nvSpPr>
          <p:cNvPr id="4" name="Shape 2"/>
          <p:cNvSpPr/>
          <p:nvPr/>
        </p:nvSpPr>
        <p:spPr>
          <a:xfrm>
            <a:off x="815975" y="1862454"/>
            <a:ext cx="5175250" cy="3641090"/>
          </a:xfrm>
          <a:prstGeom prst="roundRect">
            <a:avLst>
              <a:gd name="adj" fmla="val 4098"/>
            </a:avLst>
          </a:prstGeom>
          <a:solidFill>
            <a:srgbClr val="FFFDF9"/>
          </a:solidFill>
          <a:ln w="6350">
            <a:solidFill>
              <a:srgbClr val="E4DED3"/>
            </a:solidFill>
            <a:prstDash val="solid"/>
          </a:ln>
        </p:spPr>
      </p:sp>
      <p:sp>
        <p:nvSpPr>
          <p:cNvPr id="5" name="Shape 3"/>
          <p:cNvSpPr/>
          <p:nvPr/>
        </p:nvSpPr>
        <p:spPr>
          <a:xfrm>
            <a:off x="1071880" y="2118364"/>
            <a:ext cx="508000" cy="508000"/>
          </a:xfrm>
          <a:prstGeom prst="roundRect">
            <a:avLst>
              <a:gd name="adj" fmla="val 50000"/>
            </a:avLst>
          </a:prstGeom>
          <a:solidFill>
            <a:srgbClr val="ECE9FB"/>
          </a:solidFill>
          <a:ln/>
        </p:spPr>
      </p:sp>
      <p:pic>
        <p:nvPicPr>
          <p:cNvPr id="6" name="Image 0" descr="Book">    </p:cNvPr>
          <p:cNvPicPr>
            <a:picLocks noChangeAspect="1"/>
          </p:cNvPicPr>
          <p:nvPr/>
        </p:nvPicPr>
        <p:blipFill>
          <a:blip r:embed="rId1"/>
          <a:srcRect l="0" r="0" t="0" b="0"/>
          <a:stretch/>
        </p:blipFill>
        <p:spPr>
          <a:xfrm>
            <a:off x="1195705" y="2242189"/>
            <a:ext cx="260350" cy="260350"/>
          </a:xfrm>
          <a:prstGeom prst="rect">
            <a:avLst/>
          </a:prstGeom>
        </p:spPr>
      </p:pic>
      <p:sp>
        <p:nvSpPr>
          <p:cNvPr id="7" name="Text 4"/>
          <p:cNvSpPr/>
          <p:nvPr/>
        </p:nvSpPr>
        <p:spPr>
          <a:xfrm>
            <a:off x="1706880" y="2219009"/>
            <a:ext cx="3869627" cy="332105"/>
          </a:xfrm>
          <a:prstGeom prst="rect">
            <a:avLst/>
          </a:prstGeom>
          <a:noFill/>
          <a:ln/>
        </p:spPr>
        <p:txBody>
          <a:bodyPr wrap="square" lIns="0" tIns="0" rIns="0" bIns="0" rtlCol="0" anchor="t">
            <a:normAutofit/>
          </a:bodyPr>
          <a:lstStyle/>
          <a:p>
            <a:pPr algn="l" indent="0" marL="0">
              <a:lnSpc>
                <a:spcPts val="2415"/>
              </a:lnSpc>
              <a:buNone/>
            </a:pPr>
            <a:r>
              <a:rPr lang="en-US" sz="2100" b="1" dirty="0">
                <a:solidFill>
                  <a:srgbClr val="1F2A44"/>
                </a:solidFill>
                <a:latin typeface="Georgia" pitchFamily="18" charset="0"/>
                <a:ea typeface="Georgia" pitchFamily="18" charset="-122"/>
                <a:cs typeface="Georgia" pitchFamily="18" charset="-120"/>
              </a:rPr>
              <a:t>What her clinic records</a:t>
            </a:r>
            <a:endParaRPr lang="en-US" sz="2100" dirty="0"/>
          </a:p>
        </p:txBody>
      </p:sp>
      <p:sp>
        <p:nvSpPr>
          <p:cNvPr id="8" name="Text 5"/>
          <p:cNvSpPr/>
          <p:nvPr/>
        </p:nvSpPr>
        <p:spPr>
          <a:xfrm>
            <a:off x="1071642" y="2753364"/>
            <a:ext cx="4795961" cy="2185670"/>
          </a:xfrm>
          <a:prstGeom prst="rect">
            <a:avLst/>
          </a:prstGeom>
          <a:noFill/>
          <a:ln/>
        </p:spPr>
        <p:txBody>
          <a:bodyPr wrap="square" lIns="0" tIns="0" rIns="0" bIns="0" rtlCol="0" anchor="t">
            <a:normAutofit/>
          </a:bodyPr>
          <a:lstStyle/>
          <a:p>
            <a:pPr algn="l" marL="254238" indent="-254238">
              <a:lnSpc>
                <a:spcPts val="2430"/>
              </a:lnSpc>
              <a:buSzPct val="100000"/>
              <a:buFontTx/>
              <a:buAutoNum type="arabicPeriod" startAt="1"/>
            </a:pPr>
            <a:r>
              <a:rPr lang="en-US" sz="1800" dirty="0">
                <a:solidFill>
                  <a:srgbClr val="3F4A5E"/>
                </a:solidFill>
                <a:latin typeface="Arial" pitchFamily="34" charset="0"/>
                <a:ea typeface="Arial" pitchFamily="34" charset="-122"/>
                <a:cs typeface="Arial" pitchFamily="34" charset="-120"/>
              </a:rPr>
              <a:t>A coded ID, not her name</a:t>
            </a:r>
            <a:endParaRPr lang="en-US" sz="1800" dirty="0"/>
          </a:p>
          <a:p>
            <a:pPr algn="l" marL="254238" indent="-254238">
              <a:lnSpc>
                <a:spcPts val="2430"/>
              </a:lnSpc>
              <a:buSzPct val="100000"/>
              <a:buFontTx/>
              <a:buAutoNum type="arabicPeriod" startAt="1"/>
            </a:pPr>
            <a:r>
              <a:rPr lang="en-US" sz="1800" dirty="0">
                <a:solidFill>
                  <a:srgbClr val="3F4A5E"/>
                </a:solidFill>
                <a:latin typeface="Arial" pitchFamily="34" charset="0"/>
                <a:ea typeface="Arial" pitchFamily="34" charset="-122"/>
                <a:cs typeface="Arial" pitchFamily="34" charset="-120"/>
              </a:rPr>
              <a:t>Her goal and starting condition</a:t>
            </a:r>
            <a:endParaRPr lang="en-US" sz="1800" dirty="0"/>
          </a:p>
          <a:p>
            <a:pPr algn="l" marL="254238" indent="-254238">
              <a:lnSpc>
                <a:spcPts val="2430"/>
              </a:lnSpc>
              <a:buSzPct val="100000"/>
              <a:buFontTx/>
              <a:buAutoNum type="arabicPeriod" startAt="1"/>
            </a:pPr>
            <a:r>
              <a:rPr lang="en-US" sz="1800" dirty="0">
                <a:solidFill>
                  <a:srgbClr val="3F4A5E"/>
                </a:solidFill>
                <a:latin typeface="Arial" pitchFamily="34" charset="0"/>
                <a:ea typeface="Arial" pitchFamily="34" charset="-122"/>
                <a:cs typeface="Arial" pitchFamily="34" charset="-120"/>
              </a:rPr>
              <a:t>Treatment, dose and dates</a:t>
            </a:r>
            <a:endParaRPr lang="en-US" sz="1800" dirty="0"/>
          </a:p>
          <a:p>
            <a:pPr algn="l" marL="254238" indent="-254238">
              <a:lnSpc>
                <a:spcPts val="2430"/>
              </a:lnSpc>
              <a:buSzPct val="100000"/>
              <a:buFontTx/>
              <a:buAutoNum type="arabicPeriod" startAt="1"/>
            </a:pPr>
            <a:r>
              <a:rPr lang="en-US" sz="1800" dirty="0">
                <a:solidFill>
                  <a:srgbClr val="3F4A5E"/>
                </a:solidFill>
                <a:latin typeface="Arial" pitchFamily="34" charset="0"/>
                <a:ea typeface="Arial" pitchFamily="34" charset="-122"/>
                <a:cs typeface="Arial" pitchFamily="34" charset="-120"/>
              </a:rPr>
              <a:t>Outcomes on a set schedule</a:t>
            </a:r>
            <a:endParaRPr lang="en-US" sz="1800" dirty="0"/>
          </a:p>
          <a:p>
            <a:pPr algn="l" marL="254238" indent="-254238">
              <a:lnSpc>
                <a:spcPts val="2430"/>
              </a:lnSpc>
              <a:buSzPct val="100000"/>
              <a:buFontTx/>
              <a:buAutoNum type="arabicPeriod" startAt="1"/>
            </a:pPr>
            <a:r>
              <a:rPr lang="en-US" sz="1800" dirty="0">
                <a:solidFill>
                  <a:srgbClr val="3F4A5E"/>
                </a:solidFill>
                <a:latin typeface="Arial" pitchFamily="34" charset="0"/>
                <a:ea typeface="Arial" pitchFamily="34" charset="-122"/>
                <a:cs typeface="Arial" pitchFamily="34" charset="-120"/>
              </a:rPr>
              <a:t>Better, same, worse, stopped or died</a:t>
            </a:r>
            <a:endParaRPr lang="en-US" sz="1800" dirty="0"/>
          </a:p>
          <a:p>
            <a:pPr algn="l" marL="254238" indent="-254238">
              <a:lnSpc>
                <a:spcPts val="2430"/>
              </a:lnSpc>
              <a:buSzPct val="100000"/>
              <a:buFontTx/>
              <a:buAutoNum type="arabicPeriod" startAt="1"/>
            </a:pPr>
            <a:r>
              <a:rPr lang="en-US" sz="1800" dirty="0">
                <a:solidFill>
                  <a:srgbClr val="3F4A5E"/>
                </a:solidFill>
                <a:latin typeface="Arial" pitchFamily="34" charset="0"/>
                <a:ea typeface="Arial" pitchFamily="34" charset="-122"/>
                <a:cs typeface="Arial" pitchFamily="34" charset="-120"/>
              </a:rPr>
              <a:t>Side effects</a:t>
            </a:r>
            <a:endParaRPr lang="en-US" sz="1800" dirty="0"/>
          </a:p>
          <a:p>
            <a:pPr algn="l" marL="254238" indent="-254238">
              <a:lnSpc>
                <a:spcPts val="2430"/>
              </a:lnSpc>
              <a:buSzPct val="100000"/>
              <a:buFontTx/>
              <a:buAutoNum type="arabicPeriod" startAt="1"/>
            </a:pPr>
            <a:r>
              <a:rPr lang="en-US" sz="1800" dirty="0">
                <a:solidFill>
                  <a:srgbClr val="3F4A5E"/>
                </a:solidFill>
                <a:latin typeface="Arial" pitchFamily="34" charset="0"/>
                <a:ea typeface="Arial" pitchFamily="34" charset="-122"/>
                <a:cs typeface="Arial" pitchFamily="34" charset="-120"/>
              </a:rPr>
              <a:t>Missed follow-ups, and why</a:t>
            </a:r>
            <a:endParaRPr lang="en-US" sz="1800" dirty="0"/>
          </a:p>
        </p:txBody>
      </p:sp>
      <p:sp>
        <p:nvSpPr>
          <p:cNvPr id="9" name="Shape 6"/>
          <p:cNvSpPr/>
          <p:nvPr/>
        </p:nvSpPr>
        <p:spPr>
          <a:xfrm>
            <a:off x="6200775" y="1862454"/>
            <a:ext cx="5175250" cy="3641090"/>
          </a:xfrm>
          <a:prstGeom prst="roundRect">
            <a:avLst>
              <a:gd name="adj" fmla="val 4098"/>
            </a:avLst>
          </a:prstGeom>
          <a:solidFill>
            <a:srgbClr val="ECE9FB"/>
          </a:solidFill>
          <a:ln w="6350">
            <a:solidFill>
              <a:srgbClr val="C9C0F2"/>
            </a:solidFill>
            <a:prstDash val="solid"/>
          </a:ln>
        </p:spPr>
      </p:sp>
      <p:sp>
        <p:nvSpPr>
          <p:cNvPr id="10" name="Text 7"/>
          <p:cNvSpPr/>
          <p:nvPr/>
        </p:nvSpPr>
        <p:spPr>
          <a:xfrm>
            <a:off x="6456680" y="2118364"/>
            <a:ext cx="4044645" cy="248285"/>
          </a:xfrm>
          <a:prstGeom prst="rect">
            <a:avLst/>
          </a:prstGeom>
          <a:noFill/>
          <a:ln/>
        </p:spPr>
        <p:txBody>
          <a:bodyPr wrap="square" lIns="0" tIns="0" rIns="0" bIns="0" rtlCol="0" anchor="t">
            <a:normAutofit/>
          </a:bodyPr>
          <a:lstStyle/>
          <a:p>
            <a:pPr algn="l" indent="0" marL="0">
              <a:lnSpc>
                <a:spcPts val="1755"/>
              </a:lnSpc>
              <a:buNone/>
            </a:pPr>
            <a:r>
              <a:rPr lang="en-US" sz="1300" b="1" spc="100" kern="0" dirty="0">
                <a:solidFill>
                  <a:srgbClr val="5B47D6"/>
                </a:solidFill>
                <a:latin typeface="Arial" pitchFamily="34" charset="0"/>
                <a:ea typeface="Arial" pitchFamily="34" charset="-122"/>
                <a:cs typeface="Arial" pitchFamily="34" charset="-120"/>
              </a:rPr>
              <a:t>OPTIONAL </a:t>
            </a:r>
            <a:endParaRPr lang="en-US" sz="1300" dirty="0"/>
          </a:p>
        </p:txBody>
      </p:sp>
      <p:sp>
        <p:nvSpPr>
          <p:cNvPr id="11" name="Text 8"/>
          <p:cNvSpPr/>
          <p:nvPr/>
        </p:nvSpPr>
        <p:spPr>
          <a:xfrm>
            <a:off x="6456680" y="2379346"/>
            <a:ext cx="4044645" cy="332105"/>
          </a:xfrm>
          <a:prstGeom prst="rect">
            <a:avLst/>
          </a:prstGeom>
          <a:noFill/>
          <a:ln/>
        </p:spPr>
        <p:txBody>
          <a:bodyPr wrap="square" lIns="0" tIns="0" rIns="0" bIns="0" rtlCol="0" anchor="t">
            <a:normAutofit/>
          </a:bodyPr>
          <a:lstStyle/>
          <a:p>
            <a:pPr algn="l" indent="0" marL="0">
              <a:lnSpc>
                <a:spcPts val="2415"/>
              </a:lnSpc>
              <a:buNone/>
            </a:pPr>
            <a:r>
              <a:rPr lang="en-US" sz="2100" b="1" dirty="0">
                <a:solidFill>
                  <a:srgbClr val="1F2A44"/>
                </a:solidFill>
                <a:latin typeface="Georgia" pitchFamily="18" charset="0"/>
                <a:ea typeface="Georgia" pitchFamily="18" charset="-122"/>
                <a:cs typeface="Georgia" pitchFamily="18" charset="-120"/>
              </a:rPr>
              <a:t>Easier tracking</a:t>
            </a:r>
            <a:endParaRPr lang="en-US" sz="2100" dirty="0"/>
          </a:p>
        </p:txBody>
      </p:sp>
      <p:pic>
        <p:nvPicPr>
          <p:cNvPr id="12" name="Image 1" descr="Illustration of a phone tracking symptoms">    </p:cNvPr>
          <p:cNvPicPr>
            <a:picLocks noChangeAspect="1"/>
          </p:cNvPicPr>
          <p:nvPr/>
        </p:nvPicPr>
        <p:blipFill>
          <a:blip r:embed="rId2"/>
          <a:srcRect l="0" r="0" t="0" b="0"/>
          <a:stretch/>
        </p:blipFill>
        <p:spPr>
          <a:xfrm>
            <a:off x="10485120" y="2118364"/>
            <a:ext cx="635000" cy="1143000"/>
          </a:xfrm>
          <a:prstGeom prst="rect">
            <a:avLst/>
          </a:prstGeom>
        </p:spPr>
      </p:pic>
      <p:sp>
        <p:nvSpPr>
          <p:cNvPr id="13" name="Text 9"/>
          <p:cNvSpPr/>
          <p:nvPr/>
        </p:nvSpPr>
        <p:spPr>
          <a:xfrm>
            <a:off x="6512814" y="3362964"/>
            <a:ext cx="4739589" cy="1259840"/>
          </a:xfrm>
          <a:prstGeom prst="rect">
            <a:avLst/>
          </a:prstGeom>
          <a:noFill/>
          <a:ln/>
        </p:spPr>
        <p:txBody>
          <a:bodyPr wrap="square" lIns="0" tIns="0" rIns="0" bIns="0" rtlCol="0" anchor="t">
            <a:normAutofit/>
          </a:bodyPr>
          <a:lstStyle/>
          <a:p>
            <a:pPr algn="l" marL="197866" indent="-197866">
              <a:lnSpc>
                <a:spcPts val="2430"/>
              </a:lnSpc>
              <a:buSzPct val="100000"/>
              <a:buChar char="•"/>
            </a:pPr>
            <a:r>
              <a:rPr lang="en-US" sz="1800" dirty="0">
                <a:solidFill>
                  <a:srgbClr val="3F4A5E"/>
                </a:solidFill>
                <a:latin typeface="Arial" pitchFamily="34" charset="0"/>
                <a:ea typeface="Arial" pitchFamily="34" charset="-122"/>
                <a:cs typeface="Arial" pitchFamily="34" charset="-120"/>
              </a:rPr>
              <a:t>Daily phone check-ins</a:t>
            </a:r>
            <a:endParaRPr lang="en-US" sz="1800" dirty="0"/>
          </a:p>
          <a:p>
            <a:pPr algn="l" marL="197866" indent="-197866">
              <a:lnSpc>
                <a:spcPts val="2430"/>
              </a:lnSpc>
              <a:buSzPct val="100000"/>
              <a:buChar char="•"/>
            </a:pPr>
            <a:r>
              <a:rPr lang="en-US" sz="1800" dirty="0">
                <a:solidFill>
                  <a:srgbClr val="3F4A5E"/>
                </a:solidFill>
                <a:latin typeface="Arial" pitchFamily="34" charset="0"/>
                <a:ea typeface="Arial" pitchFamily="34" charset="-122"/>
                <a:cs typeface="Arial" pitchFamily="34" charset="-120"/>
              </a:rPr>
              <a:t>Wearables sync automatically</a:t>
            </a:r>
            <a:endParaRPr lang="en-US" sz="1800" dirty="0"/>
          </a:p>
          <a:p>
            <a:pPr algn="l" marL="197866" indent="-197866">
              <a:lnSpc>
                <a:spcPts val="2430"/>
              </a:lnSpc>
              <a:buSzPct val="100000"/>
              <a:buChar char="•"/>
            </a:pPr>
            <a:r>
              <a:rPr lang="en-US" sz="1800" dirty="0">
                <a:solidFill>
                  <a:srgbClr val="3F4A5E"/>
                </a:solidFill>
                <a:latin typeface="Arial" pitchFamily="34" charset="0"/>
                <a:ea typeface="Arial" pitchFamily="34" charset="-122"/>
                <a:cs typeface="Arial" pitchFamily="34" charset="-120"/>
              </a:rPr>
              <a:t>AI assistant calls or texts</a:t>
            </a:r>
            <a:endParaRPr lang="en-US" sz="1800" dirty="0"/>
          </a:p>
          <a:p>
            <a:pPr algn="l" marL="197866" indent="-197866">
              <a:lnSpc>
                <a:spcPts val="2430"/>
              </a:lnSpc>
              <a:buSzPct val="100000"/>
              <a:buChar char="•"/>
            </a:pPr>
            <a:r>
              <a:rPr lang="en-US" sz="1800" dirty="0">
                <a:solidFill>
                  <a:srgbClr val="3F4A5E"/>
                </a:solidFill>
                <a:latin typeface="Arial" pitchFamily="34" charset="0"/>
                <a:ea typeface="Arial" pitchFamily="34" charset="-122"/>
                <a:cs typeface="Arial" pitchFamily="34" charset="-120"/>
              </a:rPr>
              <a:t>Reminders for labs and visits</a:t>
            </a:r>
            <a:endParaRPr lang="en-US" sz="1800" dirty="0"/>
          </a:p>
        </p:txBody>
      </p:sp>
      <p:sp>
        <p:nvSpPr>
          <p:cNvPr id="14" name="Text 10"/>
          <p:cNvSpPr/>
          <p:nvPr/>
        </p:nvSpPr>
        <p:spPr>
          <a:xfrm>
            <a:off x="6456680" y="4699000"/>
            <a:ext cx="4803343" cy="574040"/>
          </a:xfrm>
          <a:prstGeom prst="rect">
            <a:avLst/>
          </a:prstGeom>
          <a:noFill/>
          <a:ln/>
        </p:spPr>
        <p:txBody>
          <a:bodyPr wrap="square" lIns="0" tIns="0" rIns="0" bIns="0" rtlCol="0" anchor="t">
            <a:normAutofit/>
          </a:bodyPr>
          <a:lstStyle/>
          <a:p>
            <a:pPr algn="l" indent="0" marL="0">
              <a:lnSpc>
                <a:spcPts val="2160"/>
              </a:lnSpc>
              <a:buNone/>
            </a:pPr>
            <a:r>
              <a:rPr lang="en-US" sz="1600" b="1" dirty="0">
                <a:solidFill>
                  <a:srgbClr val="1F2A44"/>
                </a:solidFill>
                <a:latin typeface="Arial" pitchFamily="34" charset="0"/>
                <a:ea typeface="Arial" pitchFamily="34" charset="-122"/>
                <a:cs typeface="Arial" pitchFamily="34" charset="-120"/>
              </a:rPr>
              <a:t>No required app or vendor. Normal medical records count.</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5B47D6"/>
                </a:solidFill>
                <a:latin typeface="Arial" pitchFamily="34" charset="0"/>
                <a:ea typeface="Arial" pitchFamily="34" charset="-122"/>
                <a:cs typeface="Arial" pitchFamily="34" charset="-120"/>
              </a:rPr>
              <a:t>SAFETY NET</a:t>
            </a:r>
            <a:endParaRPr lang="en-US" sz="1400" dirty="0"/>
          </a:p>
        </p:txBody>
      </p:sp>
      <p:sp>
        <p:nvSpPr>
          <p:cNvPr id="3" name="Text 1"/>
          <p:cNvSpPr/>
          <p:nvPr/>
        </p:nvSpPr>
        <p:spPr>
          <a:xfrm>
            <a:off x="812800" y="1137921"/>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F2A44"/>
                </a:solidFill>
                <a:latin typeface="Georgia" pitchFamily="18" charset="0"/>
                <a:ea typeface="Georgia" pitchFamily="18" charset="-122"/>
                <a:cs typeface="Georgia" pitchFamily="18" charset="-120"/>
              </a:rPr>
              <a:t>If something goes wrong, the system reacts</a:t>
            </a:r>
            <a:endParaRPr lang="en-US" sz="3200" dirty="0"/>
          </a:p>
        </p:txBody>
      </p:sp>
      <p:sp>
        <p:nvSpPr>
          <p:cNvPr id="4" name="Shape 2"/>
          <p:cNvSpPr/>
          <p:nvPr/>
        </p:nvSpPr>
        <p:spPr>
          <a:xfrm>
            <a:off x="815975" y="1862454"/>
            <a:ext cx="2235200" cy="2478405"/>
          </a:xfrm>
          <a:prstGeom prst="roundRect">
            <a:avLst>
              <a:gd name="adj" fmla="val 6676"/>
            </a:avLst>
          </a:prstGeom>
          <a:solidFill>
            <a:srgbClr val="FFFDF9"/>
          </a:solidFill>
          <a:ln w="6350">
            <a:solidFill>
              <a:srgbClr val="E4DED3"/>
            </a:solidFill>
            <a:prstDash val="solid"/>
          </a:ln>
        </p:spPr>
      </p:sp>
      <p:sp>
        <p:nvSpPr>
          <p:cNvPr id="5" name="Shape 3"/>
          <p:cNvSpPr/>
          <p:nvPr/>
        </p:nvSpPr>
        <p:spPr>
          <a:xfrm>
            <a:off x="995680" y="2042164"/>
            <a:ext cx="482600" cy="482600"/>
          </a:xfrm>
          <a:prstGeom prst="roundRect">
            <a:avLst>
              <a:gd name="adj" fmla="val 50000"/>
            </a:avLst>
          </a:prstGeom>
          <a:solidFill>
            <a:srgbClr val="FCE9D6"/>
          </a:solidFill>
          <a:ln/>
        </p:spPr>
      </p:sp>
      <p:pic>
        <p:nvPicPr>
          <p:cNvPr id="6" name="Image 0" descr="Warning">    </p:cNvPr>
          <p:cNvPicPr>
            <a:picLocks noChangeAspect="1"/>
          </p:cNvPicPr>
          <p:nvPr/>
        </p:nvPicPr>
        <p:blipFill>
          <a:blip r:embed="rId1"/>
          <a:srcRect l="0" r="0" t="0" b="0"/>
          <a:stretch/>
        </p:blipFill>
        <p:spPr>
          <a:xfrm>
            <a:off x="1113155" y="2159639"/>
            <a:ext cx="247650" cy="247650"/>
          </a:xfrm>
          <a:prstGeom prst="rect">
            <a:avLst/>
          </a:prstGeom>
        </p:spPr>
      </p:pic>
      <p:sp>
        <p:nvSpPr>
          <p:cNvPr id="7" name="Text 4"/>
          <p:cNvSpPr/>
          <p:nvPr/>
        </p:nvSpPr>
        <p:spPr>
          <a:xfrm>
            <a:off x="2683827" y="2087879"/>
            <a:ext cx="187643" cy="416560"/>
          </a:xfrm>
          <a:prstGeom prst="rect">
            <a:avLst/>
          </a:prstGeom>
          <a:noFill/>
          <a:ln/>
        </p:spPr>
        <p:txBody>
          <a:bodyPr wrap="square" lIns="0" tIns="0" rIns="0" bIns="0" rtlCol="0" anchor="t">
            <a:normAutofit/>
          </a:bodyPr>
          <a:lstStyle/>
          <a:p>
            <a:pPr algn="r" indent="0" marL="0">
              <a:lnSpc>
                <a:spcPts val="3080"/>
              </a:lnSpc>
              <a:buNone/>
            </a:pPr>
            <a:r>
              <a:rPr lang="en-US" sz="2200" b="1" dirty="0">
                <a:solidFill>
                  <a:srgbClr val="E8B98C"/>
                </a:solidFill>
                <a:latin typeface="Georgia" pitchFamily="18" charset="0"/>
                <a:ea typeface="Georgia" pitchFamily="18" charset="-122"/>
                <a:cs typeface="Georgia" pitchFamily="18" charset="-120"/>
              </a:rPr>
              <a:t>1</a:t>
            </a:r>
            <a:endParaRPr lang="en-US" sz="2200" dirty="0"/>
          </a:p>
        </p:txBody>
      </p:sp>
      <p:sp>
        <p:nvSpPr>
          <p:cNvPr id="8" name="Text 5"/>
          <p:cNvSpPr/>
          <p:nvPr/>
        </p:nvSpPr>
        <p:spPr>
          <a:xfrm>
            <a:off x="995680" y="2613664"/>
            <a:ext cx="1932064" cy="6096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1F2A44"/>
                </a:solidFill>
                <a:latin typeface="Georgia" pitchFamily="18" charset="0"/>
                <a:ea typeface="Georgia" pitchFamily="18" charset="-122"/>
                <a:cs typeface="Georgia" pitchFamily="18" charset="-120"/>
              </a:rPr>
              <a:t>Serious side effect</a:t>
            </a:r>
            <a:endParaRPr lang="en-US" sz="2000" dirty="0"/>
          </a:p>
        </p:txBody>
      </p:sp>
      <p:sp>
        <p:nvSpPr>
          <p:cNvPr id="9" name="Text 6"/>
          <p:cNvSpPr/>
          <p:nvPr/>
        </p:nvSpPr>
        <p:spPr>
          <a:xfrm>
            <a:off x="995680" y="3286764"/>
            <a:ext cx="1932064" cy="608330"/>
          </a:xfrm>
          <a:prstGeom prst="rect">
            <a:avLst/>
          </a:prstGeom>
          <a:noFill/>
          <a:ln/>
        </p:spPr>
        <p:txBody>
          <a:bodyPr wrap="square" lIns="0" tIns="0" rIns="0" bIns="0" rtlCol="0" anchor="t">
            <a:normAutofit/>
          </a:bodyPr>
          <a:lstStyle/>
          <a:p>
            <a:pPr algn="l" indent="0" marL="0">
              <a:lnSpc>
                <a:spcPts val="2295"/>
              </a:lnSpc>
              <a:buNone/>
            </a:pPr>
            <a:r>
              <a:rPr lang="en-US" sz="1700" dirty="0">
                <a:solidFill>
                  <a:srgbClr val="3F4A5E"/>
                </a:solidFill>
                <a:latin typeface="Arial" pitchFamily="34" charset="0"/>
                <a:ea typeface="Arial" pitchFamily="34" charset="-122"/>
                <a:cs typeface="Arial" pitchFamily="34" charset="-120"/>
              </a:rPr>
              <a:t>Reported to the board within days.</a:t>
            </a:r>
            <a:endParaRPr lang="en-US" sz="1700" dirty="0"/>
          </a:p>
        </p:txBody>
      </p:sp>
      <p:pic>
        <p:nvPicPr>
          <p:cNvPr id="10" name="Image 1" descr="arrow-right">    </p:cNvPr>
          <p:cNvPicPr>
            <a:picLocks noChangeAspect="1"/>
          </p:cNvPicPr>
          <p:nvPr/>
        </p:nvPicPr>
        <p:blipFill>
          <a:blip r:embed="rId2"/>
          <a:srcRect l="0" r="0" t="0" b="0"/>
          <a:stretch/>
        </p:blipFill>
        <p:spPr>
          <a:xfrm>
            <a:off x="3155950" y="3006409"/>
            <a:ext cx="330200" cy="190500"/>
          </a:xfrm>
          <a:prstGeom prst="rect">
            <a:avLst/>
          </a:prstGeom>
        </p:spPr>
      </p:pic>
      <p:sp>
        <p:nvSpPr>
          <p:cNvPr id="11" name="Shape 7"/>
          <p:cNvSpPr/>
          <p:nvPr/>
        </p:nvSpPr>
        <p:spPr>
          <a:xfrm>
            <a:off x="3590925" y="1862454"/>
            <a:ext cx="2235200" cy="2478405"/>
          </a:xfrm>
          <a:prstGeom prst="roundRect">
            <a:avLst>
              <a:gd name="adj" fmla="val 6676"/>
            </a:avLst>
          </a:prstGeom>
          <a:solidFill>
            <a:srgbClr val="FFFDF9"/>
          </a:solidFill>
          <a:ln w="6350">
            <a:solidFill>
              <a:srgbClr val="E4DED3"/>
            </a:solidFill>
            <a:prstDash val="solid"/>
          </a:ln>
        </p:spPr>
      </p:sp>
      <p:sp>
        <p:nvSpPr>
          <p:cNvPr id="12" name="Shape 8"/>
          <p:cNvSpPr/>
          <p:nvPr/>
        </p:nvSpPr>
        <p:spPr>
          <a:xfrm>
            <a:off x="3770630" y="2042164"/>
            <a:ext cx="482600" cy="482600"/>
          </a:xfrm>
          <a:prstGeom prst="roundRect">
            <a:avLst>
              <a:gd name="adj" fmla="val 50000"/>
            </a:avLst>
          </a:prstGeom>
          <a:solidFill>
            <a:srgbClr val="FCE9D6"/>
          </a:solidFill>
          <a:ln/>
        </p:spPr>
      </p:sp>
      <p:pic>
        <p:nvPicPr>
          <p:cNvPr id="13" name="Image 2" descr="Search">    </p:cNvPr>
          <p:cNvPicPr>
            <a:picLocks noChangeAspect="1"/>
          </p:cNvPicPr>
          <p:nvPr/>
        </p:nvPicPr>
        <p:blipFill>
          <a:blip r:embed="rId3"/>
          <a:srcRect l="0" r="0" t="0" b="0"/>
          <a:stretch/>
        </p:blipFill>
        <p:spPr>
          <a:xfrm>
            <a:off x="3888105" y="2159639"/>
            <a:ext cx="247650" cy="247650"/>
          </a:xfrm>
          <a:prstGeom prst="rect">
            <a:avLst/>
          </a:prstGeom>
        </p:spPr>
      </p:pic>
      <p:sp>
        <p:nvSpPr>
          <p:cNvPr id="14" name="Text 9"/>
          <p:cNvSpPr/>
          <p:nvPr/>
        </p:nvSpPr>
        <p:spPr>
          <a:xfrm>
            <a:off x="5420519" y="2087879"/>
            <a:ext cx="225901" cy="416560"/>
          </a:xfrm>
          <a:prstGeom prst="rect">
            <a:avLst/>
          </a:prstGeom>
          <a:noFill/>
          <a:ln/>
        </p:spPr>
        <p:txBody>
          <a:bodyPr wrap="square" lIns="0" tIns="0" rIns="0" bIns="0" rtlCol="0" anchor="t">
            <a:normAutofit/>
          </a:bodyPr>
          <a:lstStyle/>
          <a:p>
            <a:pPr algn="r" indent="0" marL="0">
              <a:lnSpc>
                <a:spcPts val="3080"/>
              </a:lnSpc>
              <a:buNone/>
            </a:pPr>
            <a:r>
              <a:rPr lang="en-US" sz="2200" b="1" dirty="0">
                <a:solidFill>
                  <a:srgbClr val="E8B98C"/>
                </a:solidFill>
                <a:latin typeface="Georgia" pitchFamily="18" charset="0"/>
                <a:ea typeface="Georgia" pitchFamily="18" charset="-122"/>
                <a:cs typeface="Georgia" pitchFamily="18" charset="-120"/>
              </a:rPr>
              <a:t>2</a:t>
            </a:r>
            <a:endParaRPr lang="en-US" sz="2200" dirty="0"/>
          </a:p>
        </p:txBody>
      </p:sp>
      <p:sp>
        <p:nvSpPr>
          <p:cNvPr id="15" name="Text 10"/>
          <p:cNvSpPr/>
          <p:nvPr/>
        </p:nvSpPr>
        <p:spPr>
          <a:xfrm>
            <a:off x="3770630" y="2613664"/>
            <a:ext cx="1932064" cy="6096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1F2A44"/>
                </a:solidFill>
                <a:latin typeface="Georgia" pitchFamily="18" charset="0"/>
                <a:ea typeface="Georgia" pitchFamily="18" charset="-122"/>
                <a:cs typeface="Georgia" pitchFamily="18" charset="-120"/>
              </a:rPr>
              <a:t>Board reassesses</a:t>
            </a:r>
            <a:endParaRPr lang="en-US" sz="2000" dirty="0"/>
          </a:p>
        </p:txBody>
      </p:sp>
      <p:sp>
        <p:nvSpPr>
          <p:cNvPr id="16" name="Text 11"/>
          <p:cNvSpPr/>
          <p:nvPr/>
        </p:nvSpPr>
        <p:spPr>
          <a:xfrm>
            <a:off x="3770630" y="3286764"/>
            <a:ext cx="1932064" cy="899795"/>
          </a:xfrm>
          <a:prstGeom prst="rect">
            <a:avLst/>
          </a:prstGeom>
          <a:noFill/>
          <a:ln/>
        </p:spPr>
        <p:txBody>
          <a:bodyPr wrap="square" lIns="0" tIns="0" rIns="0" bIns="0" rtlCol="0" anchor="t">
            <a:normAutofit/>
          </a:bodyPr>
          <a:lstStyle/>
          <a:p>
            <a:pPr algn="l" indent="0" marL="0">
              <a:lnSpc>
                <a:spcPts val="2295"/>
              </a:lnSpc>
              <a:buNone/>
            </a:pPr>
            <a:r>
              <a:rPr lang="en-US" sz="1700" dirty="0">
                <a:solidFill>
                  <a:srgbClr val="3F4A5E"/>
                </a:solidFill>
                <a:latin typeface="Arial" pitchFamily="34" charset="0"/>
                <a:ea typeface="Arial" pitchFamily="34" charset="-122"/>
                <a:cs typeface="Arial" pitchFamily="34" charset="-120"/>
              </a:rPr>
              <a:t>Also if a trial elsewhere stops for safety.</a:t>
            </a:r>
            <a:endParaRPr lang="en-US" sz="1700" dirty="0"/>
          </a:p>
        </p:txBody>
      </p:sp>
      <p:pic>
        <p:nvPicPr>
          <p:cNvPr id="17" name="Image 3" descr="arrow-right">    </p:cNvPr>
          <p:cNvPicPr>
            <a:picLocks noChangeAspect="1"/>
          </p:cNvPicPr>
          <p:nvPr/>
        </p:nvPicPr>
        <p:blipFill>
          <a:blip r:embed="rId4"/>
          <a:srcRect l="0" r="0" t="0" b="0"/>
          <a:stretch/>
        </p:blipFill>
        <p:spPr>
          <a:xfrm>
            <a:off x="5930900" y="3006409"/>
            <a:ext cx="330200" cy="190500"/>
          </a:xfrm>
          <a:prstGeom prst="rect">
            <a:avLst/>
          </a:prstGeom>
        </p:spPr>
      </p:pic>
      <p:sp>
        <p:nvSpPr>
          <p:cNvPr id="18" name="Shape 12"/>
          <p:cNvSpPr/>
          <p:nvPr/>
        </p:nvSpPr>
        <p:spPr>
          <a:xfrm>
            <a:off x="6365875" y="1862454"/>
            <a:ext cx="2235200" cy="2478405"/>
          </a:xfrm>
          <a:prstGeom prst="roundRect">
            <a:avLst>
              <a:gd name="adj" fmla="val 6676"/>
            </a:avLst>
          </a:prstGeom>
          <a:solidFill>
            <a:srgbClr val="FFFDF9"/>
          </a:solidFill>
          <a:ln w="6350">
            <a:solidFill>
              <a:srgbClr val="E4DED3"/>
            </a:solidFill>
            <a:prstDash val="solid"/>
          </a:ln>
        </p:spPr>
      </p:sp>
      <p:sp>
        <p:nvSpPr>
          <p:cNvPr id="19" name="Shape 13"/>
          <p:cNvSpPr/>
          <p:nvPr/>
        </p:nvSpPr>
        <p:spPr>
          <a:xfrm>
            <a:off x="6545580" y="2042164"/>
            <a:ext cx="482600" cy="482600"/>
          </a:xfrm>
          <a:prstGeom prst="roundRect">
            <a:avLst>
              <a:gd name="adj" fmla="val 50000"/>
            </a:avLst>
          </a:prstGeom>
          <a:solidFill>
            <a:srgbClr val="FCE9D6"/>
          </a:solidFill>
          <a:ln/>
        </p:spPr>
      </p:sp>
      <p:pic>
        <p:nvPicPr>
          <p:cNvPr id="20" name="Image 4" descr="Lock">    </p:cNvPr>
          <p:cNvPicPr>
            <a:picLocks noChangeAspect="1"/>
          </p:cNvPicPr>
          <p:nvPr/>
        </p:nvPicPr>
        <p:blipFill>
          <a:blip r:embed="rId5"/>
          <a:srcRect l="0" r="0" t="0" b="0"/>
          <a:stretch/>
        </p:blipFill>
        <p:spPr>
          <a:xfrm>
            <a:off x="6663055" y="2159639"/>
            <a:ext cx="247650" cy="247650"/>
          </a:xfrm>
          <a:prstGeom prst="rect">
            <a:avLst/>
          </a:prstGeom>
        </p:spPr>
      </p:pic>
      <p:sp>
        <p:nvSpPr>
          <p:cNvPr id="21" name="Text 14"/>
          <p:cNvSpPr/>
          <p:nvPr/>
        </p:nvSpPr>
        <p:spPr>
          <a:xfrm>
            <a:off x="8196025" y="2087879"/>
            <a:ext cx="225346" cy="416560"/>
          </a:xfrm>
          <a:prstGeom prst="rect">
            <a:avLst/>
          </a:prstGeom>
          <a:noFill/>
          <a:ln/>
        </p:spPr>
        <p:txBody>
          <a:bodyPr wrap="square" lIns="0" tIns="0" rIns="0" bIns="0" rtlCol="0" anchor="t">
            <a:normAutofit/>
          </a:bodyPr>
          <a:lstStyle/>
          <a:p>
            <a:pPr algn="r" indent="0" marL="0">
              <a:lnSpc>
                <a:spcPts val="3080"/>
              </a:lnSpc>
              <a:buNone/>
            </a:pPr>
            <a:r>
              <a:rPr lang="en-US" sz="2200" b="1" dirty="0">
                <a:solidFill>
                  <a:srgbClr val="E8B98C"/>
                </a:solidFill>
                <a:latin typeface="Georgia" pitchFamily="18" charset="0"/>
                <a:ea typeface="Georgia" pitchFamily="18" charset="-122"/>
                <a:cs typeface="Georgia" pitchFamily="18" charset="-120"/>
              </a:rPr>
              <a:t>3</a:t>
            </a:r>
            <a:endParaRPr lang="en-US" sz="2200" dirty="0"/>
          </a:p>
        </p:txBody>
      </p:sp>
      <p:sp>
        <p:nvSpPr>
          <p:cNvPr id="22" name="Text 15"/>
          <p:cNvSpPr/>
          <p:nvPr/>
        </p:nvSpPr>
        <p:spPr>
          <a:xfrm>
            <a:off x="6545580" y="2613664"/>
            <a:ext cx="1932064" cy="6096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1F2A44"/>
                </a:solidFill>
                <a:latin typeface="Georgia" pitchFamily="18" charset="0"/>
                <a:ea typeface="Georgia" pitchFamily="18" charset="-122"/>
                <a:cs typeface="Georgia" pitchFamily="18" charset="-120"/>
              </a:rPr>
              <a:t>New patients paused</a:t>
            </a:r>
            <a:endParaRPr lang="en-US" sz="2000" dirty="0"/>
          </a:p>
        </p:txBody>
      </p:sp>
      <p:sp>
        <p:nvSpPr>
          <p:cNvPr id="23" name="Text 16"/>
          <p:cNvSpPr/>
          <p:nvPr/>
        </p:nvSpPr>
        <p:spPr>
          <a:xfrm>
            <a:off x="6545580" y="3286764"/>
            <a:ext cx="1932064" cy="899795"/>
          </a:xfrm>
          <a:prstGeom prst="rect">
            <a:avLst/>
          </a:prstGeom>
          <a:noFill/>
          <a:ln/>
        </p:spPr>
        <p:txBody>
          <a:bodyPr wrap="square" lIns="0" tIns="0" rIns="0" bIns="0" rtlCol="0" anchor="t">
            <a:normAutofit/>
          </a:bodyPr>
          <a:lstStyle/>
          <a:p>
            <a:pPr algn="l" indent="0" marL="0">
              <a:lnSpc>
                <a:spcPts val="2295"/>
              </a:lnSpc>
              <a:buNone/>
            </a:pPr>
            <a:r>
              <a:rPr lang="en-US" sz="1700" dirty="0">
                <a:solidFill>
                  <a:srgbClr val="3F4A5E"/>
                </a:solidFill>
                <a:latin typeface="Arial" pitchFamily="34" charset="0"/>
                <a:ea typeface="Arial" pitchFamily="34" charset="-122"/>
                <a:cs typeface="Arial" pitchFamily="34" charset="-120"/>
              </a:rPr>
              <a:t>Unresolved serious toxicity halts new starts.</a:t>
            </a:r>
            <a:endParaRPr lang="en-US" sz="1700" dirty="0"/>
          </a:p>
        </p:txBody>
      </p:sp>
      <p:pic>
        <p:nvPicPr>
          <p:cNvPr id="24" name="Image 5" descr="arrow-right">    </p:cNvPr>
          <p:cNvPicPr>
            <a:picLocks noChangeAspect="1"/>
          </p:cNvPicPr>
          <p:nvPr/>
        </p:nvPicPr>
        <p:blipFill>
          <a:blip r:embed="rId6"/>
          <a:srcRect l="0" r="0" t="0" b="0"/>
          <a:stretch/>
        </p:blipFill>
        <p:spPr>
          <a:xfrm>
            <a:off x="8705850" y="3006409"/>
            <a:ext cx="330200" cy="190500"/>
          </a:xfrm>
          <a:prstGeom prst="rect">
            <a:avLst/>
          </a:prstGeom>
        </p:spPr>
      </p:pic>
      <p:sp>
        <p:nvSpPr>
          <p:cNvPr id="25" name="Shape 17"/>
          <p:cNvSpPr/>
          <p:nvPr/>
        </p:nvSpPr>
        <p:spPr>
          <a:xfrm>
            <a:off x="9140825" y="1862454"/>
            <a:ext cx="2235200" cy="2478405"/>
          </a:xfrm>
          <a:prstGeom prst="roundRect">
            <a:avLst>
              <a:gd name="adj" fmla="val 6676"/>
            </a:avLst>
          </a:prstGeom>
          <a:solidFill>
            <a:srgbClr val="FFFDF9"/>
          </a:solidFill>
          <a:ln w="6350">
            <a:solidFill>
              <a:srgbClr val="E4DED3"/>
            </a:solidFill>
            <a:prstDash val="solid"/>
          </a:ln>
        </p:spPr>
      </p:sp>
      <p:sp>
        <p:nvSpPr>
          <p:cNvPr id="26" name="Shape 18"/>
          <p:cNvSpPr/>
          <p:nvPr/>
        </p:nvSpPr>
        <p:spPr>
          <a:xfrm>
            <a:off x="9320530" y="2042164"/>
            <a:ext cx="482600" cy="482600"/>
          </a:xfrm>
          <a:prstGeom prst="roundRect">
            <a:avLst>
              <a:gd name="adj" fmla="val 50000"/>
            </a:avLst>
          </a:prstGeom>
          <a:solidFill>
            <a:srgbClr val="FCE9D6"/>
          </a:solidFill>
          <a:ln/>
        </p:spPr>
      </p:sp>
      <p:pic>
        <p:nvPicPr>
          <p:cNvPr id="27" name="Image 6" descr="Activity">    </p:cNvPr>
          <p:cNvPicPr>
            <a:picLocks noChangeAspect="1"/>
          </p:cNvPicPr>
          <p:nvPr/>
        </p:nvPicPr>
        <p:blipFill>
          <a:blip r:embed="rId7"/>
          <a:srcRect l="0" r="0" t="0" b="0"/>
          <a:stretch/>
        </p:blipFill>
        <p:spPr>
          <a:xfrm>
            <a:off x="9438005" y="2159639"/>
            <a:ext cx="247650" cy="247650"/>
          </a:xfrm>
          <a:prstGeom prst="rect">
            <a:avLst/>
          </a:prstGeom>
        </p:spPr>
      </p:pic>
      <p:sp>
        <p:nvSpPr>
          <p:cNvPr id="28" name="Text 19"/>
          <p:cNvSpPr/>
          <p:nvPr/>
        </p:nvSpPr>
        <p:spPr>
          <a:xfrm>
            <a:off x="10964069" y="2087879"/>
            <a:ext cx="232251" cy="416560"/>
          </a:xfrm>
          <a:prstGeom prst="rect">
            <a:avLst/>
          </a:prstGeom>
          <a:noFill/>
          <a:ln/>
        </p:spPr>
        <p:txBody>
          <a:bodyPr wrap="square" lIns="0" tIns="0" rIns="0" bIns="0" rtlCol="0" anchor="t">
            <a:normAutofit/>
          </a:bodyPr>
          <a:lstStyle/>
          <a:p>
            <a:pPr algn="r" indent="0" marL="0">
              <a:lnSpc>
                <a:spcPts val="3080"/>
              </a:lnSpc>
              <a:buNone/>
            </a:pPr>
            <a:r>
              <a:rPr lang="en-US" sz="2200" b="1" dirty="0">
                <a:solidFill>
                  <a:srgbClr val="E8B98C"/>
                </a:solidFill>
                <a:latin typeface="Georgia" pitchFamily="18" charset="0"/>
                <a:ea typeface="Georgia" pitchFamily="18" charset="-122"/>
                <a:cs typeface="Georgia" pitchFamily="18" charset="-120"/>
              </a:rPr>
              <a:t>4</a:t>
            </a:r>
            <a:endParaRPr lang="en-US" sz="2200" dirty="0"/>
          </a:p>
        </p:txBody>
      </p:sp>
      <p:sp>
        <p:nvSpPr>
          <p:cNvPr id="29" name="Text 20"/>
          <p:cNvSpPr/>
          <p:nvPr/>
        </p:nvSpPr>
        <p:spPr>
          <a:xfrm>
            <a:off x="9320530" y="2613664"/>
            <a:ext cx="1932064" cy="6096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1F2A44"/>
                </a:solidFill>
                <a:latin typeface="Georgia" pitchFamily="18" charset="0"/>
                <a:ea typeface="Georgia" pitchFamily="18" charset="-122"/>
                <a:cs typeface="Georgia" pitchFamily="18" charset="-120"/>
              </a:rPr>
              <a:t>Careful continuation</a:t>
            </a:r>
            <a:endParaRPr lang="en-US" sz="2000" dirty="0"/>
          </a:p>
        </p:txBody>
      </p:sp>
      <p:sp>
        <p:nvSpPr>
          <p:cNvPr id="30" name="Text 21"/>
          <p:cNvSpPr/>
          <p:nvPr/>
        </p:nvSpPr>
        <p:spPr>
          <a:xfrm>
            <a:off x="9320530" y="3286764"/>
            <a:ext cx="1932064" cy="899795"/>
          </a:xfrm>
          <a:prstGeom prst="rect">
            <a:avLst/>
          </a:prstGeom>
          <a:noFill/>
          <a:ln/>
        </p:spPr>
        <p:txBody>
          <a:bodyPr wrap="square" lIns="0" tIns="0" rIns="0" bIns="0" rtlCol="0" anchor="t">
            <a:normAutofit/>
          </a:bodyPr>
          <a:lstStyle/>
          <a:p>
            <a:pPr algn="l" indent="0" marL="0">
              <a:lnSpc>
                <a:spcPts val="2295"/>
              </a:lnSpc>
              <a:buNone/>
            </a:pPr>
            <a:r>
              <a:rPr lang="en-US" sz="1700" dirty="0">
                <a:solidFill>
                  <a:srgbClr val="3F4A5E"/>
                </a:solidFill>
                <a:latin typeface="Arial" pitchFamily="34" charset="0"/>
                <a:ea typeface="Arial" pitchFamily="34" charset="-122"/>
                <a:cs typeface="Arial" pitchFamily="34" charset="-120"/>
              </a:rPr>
              <a:t>Current patients may continue if safer.</a:t>
            </a:r>
            <a:endParaRPr lang="en-US" sz="1700" dirty="0"/>
          </a:p>
        </p:txBody>
      </p:sp>
      <p:sp>
        <p:nvSpPr>
          <p:cNvPr id="31" name="Shape 22"/>
          <p:cNvSpPr/>
          <p:nvPr/>
        </p:nvSpPr>
        <p:spPr>
          <a:xfrm>
            <a:off x="812800" y="4598039"/>
            <a:ext cx="10566400" cy="838200"/>
          </a:xfrm>
          <a:prstGeom prst="roundRect">
            <a:avLst>
              <a:gd name="adj" fmla="val 18182"/>
            </a:avLst>
          </a:prstGeom>
          <a:solidFill>
            <a:srgbClr val="1F2A44"/>
          </a:solidFill>
          <a:ln/>
        </p:spPr>
      </p:sp>
      <p:sp>
        <p:nvSpPr>
          <p:cNvPr id="32" name="Shape 23"/>
          <p:cNvSpPr/>
          <p:nvPr/>
        </p:nvSpPr>
        <p:spPr>
          <a:xfrm>
            <a:off x="1066800" y="4775839"/>
            <a:ext cx="482600" cy="482600"/>
          </a:xfrm>
          <a:prstGeom prst="roundRect">
            <a:avLst>
              <a:gd name="adj" fmla="val 50000"/>
            </a:avLst>
          </a:prstGeom>
          <a:solidFill>
            <a:srgbClr val="3A4766"/>
          </a:solidFill>
          <a:ln/>
        </p:spPr>
      </p:sp>
      <p:pic>
        <p:nvPicPr>
          <p:cNvPr id="33" name="Image 7" descr="Clock">    </p:cNvPr>
          <p:cNvPicPr>
            <a:picLocks noChangeAspect="1"/>
          </p:cNvPicPr>
          <p:nvPr/>
        </p:nvPicPr>
        <p:blipFill>
          <a:blip r:embed="rId8"/>
          <a:srcRect l="0" r="0" t="0" b="0"/>
          <a:stretch/>
        </p:blipFill>
        <p:spPr>
          <a:xfrm>
            <a:off x="1184275" y="4893314"/>
            <a:ext cx="247650" cy="247650"/>
          </a:xfrm>
          <a:prstGeom prst="rect">
            <a:avLst/>
          </a:prstGeom>
        </p:spPr>
      </p:pic>
      <p:sp>
        <p:nvSpPr>
          <p:cNvPr id="34" name="Text 24"/>
          <p:cNvSpPr/>
          <p:nvPr/>
        </p:nvSpPr>
        <p:spPr>
          <a:xfrm>
            <a:off x="1727200" y="4823141"/>
            <a:ext cx="9679940" cy="413385"/>
          </a:xfrm>
          <a:prstGeom prst="rect">
            <a:avLst/>
          </a:prstGeom>
          <a:noFill/>
          <a:ln/>
        </p:spPr>
        <p:txBody>
          <a:bodyPr wrap="square" lIns="0" tIns="0" rIns="0" bIns="0" rtlCol="0" anchor="t">
            <a:normAutofit/>
          </a:bodyPr>
          <a:lstStyle/>
          <a:p>
            <a:pPr algn="l" indent="0" marL="0">
              <a:lnSpc>
                <a:spcPts val="3055"/>
              </a:lnSpc>
              <a:buNone/>
            </a:pPr>
            <a:r>
              <a:rPr lang="en-US" sz="2350" dirty="0">
                <a:solidFill>
                  <a:srgbClr val="FAF7F2"/>
                </a:solidFill>
                <a:latin typeface="Arial" pitchFamily="34" charset="0"/>
                <a:ea typeface="Arial" pitchFamily="34" charset="-122"/>
                <a:cs typeface="Arial" pitchFamily="34" charset="-120"/>
              </a:rPr>
              <a:t>Every protocol is also reviewed at least once a year.</a:t>
            </a:r>
            <a:endParaRPr lang="en-US" sz="2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5B47D6"/>
                </a:solidFill>
                <a:latin typeface="Arial" pitchFamily="34" charset="0"/>
                <a:ea typeface="Arial" pitchFamily="34" charset="-122"/>
                <a:cs typeface="Arial" pitchFamily="34" charset="-120"/>
              </a:rPr>
              <a:t>STEP 6 · RESULTS GO PUBLIC</a:t>
            </a:r>
            <a:endParaRPr lang="en-US" sz="1400" dirty="0"/>
          </a:p>
        </p:txBody>
      </p:sp>
      <p:sp>
        <p:nvSpPr>
          <p:cNvPr id="3" name="Text 1"/>
          <p:cNvSpPr/>
          <p:nvPr/>
        </p:nvSpPr>
        <p:spPr>
          <a:xfrm>
            <a:off x="812800" y="1137921"/>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F2A44"/>
                </a:solidFill>
                <a:latin typeface="Georgia" pitchFamily="18" charset="0"/>
                <a:ea typeface="Georgia" pitchFamily="18" charset="-122"/>
                <a:cs typeface="Georgia" pitchFamily="18" charset="-120"/>
              </a:rPr>
              <a:t>Every result is published</a:t>
            </a:r>
            <a:endParaRPr lang="en-US" sz="3200" dirty="0"/>
          </a:p>
        </p:txBody>
      </p:sp>
      <p:sp>
        <p:nvSpPr>
          <p:cNvPr id="4" name="Shape 2"/>
          <p:cNvSpPr/>
          <p:nvPr/>
        </p:nvSpPr>
        <p:spPr>
          <a:xfrm>
            <a:off x="815975" y="1862460"/>
            <a:ext cx="6851650" cy="3503295"/>
          </a:xfrm>
          <a:prstGeom prst="roundRect">
            <a:avLst>
              <a:gd name="adj" fmla="val 4260"/>
            </a:avLst>
          </a:prstGeom>
          <a:solidFill>
            <a:srgbClr val="FFFDF9"/>
          </a:solidFill>
          <a:ln w="6350">
            <a:solidFill>
              <a:srgbClr val="E4DED3"/>
            </a:solidFill>
            <a:prstDash val="solid"/>
          </a:ln>
        </p:spPr>
      </p:sp>
      <p:sp>
        <p:nvSpPr>
          <p:cNvPr id="5" name="Text 3"/>
          <p:cNvSpPr/>
          <p:nvPr/>
        </p:nvSpPr>
        <p:spPr>
          <a:xfrm>
            <a:off x="1046480" y="2092958"/>
            <a:ext cx="4848892" cy="248285"/>
          </a:xfrm>
          <a:prstGeom prst="rect">
            <a:avLst/>
          </a:prstGeom>
          <a:noFill/>
          <a:ln/>
        </p:spPr>
        <p:txBody>
          <a:bodyPr wrap="square" lIns="0" tIns="0" rIns="0" bIns="0" rtlCol="0" anchor="t">
            <a:normAutofit/>
          </a:bodyPr>
          <a:lstStyle/>
          <a:p>
            <a:pPr algn="l" indent="0" marL="0">
              <a:lnSpc>
                <a:spcPts val="1755"/>
              </a:lnSpc>
              <a:buNone/>
            </a:pPr>
            <a:r>
              <a:rPr lang="en-US" sz="1300" b="1" spc="100" kern="0" dirty="0">
                <a:solidFill>
                  <a:srgbClr val="5B47D6"/>
                </a:solidFill>
                <a:latin typeface="Arial" pitchFamily="34" charset="0"/>
                <a:ea typeface="Arial" pitchFamily="34" charset="-122"/>
                <a:cs typeface="Arial" pitchFamily="34" charset="-120"/>
              </a:rPr>
              <a:t>ANNUAL BOARD REPORT · 48 PATIENTS</a:t>
            </a:r>
            <a:endParaRPr lang="en-US" sz="1300" dirty="0"/>
          </a:p>
        </p:txBody>
      </p:sp>
      <p:sp>
        <p:nvSpPr>
          <p:cNvPr id="6" name="Text 4"/>
          <p:cNvSpPr/>
          <p:nvPr/>
        </p:nvSpPr>
        <p:spPr>
          <a:xfrm>
            <a:off x="1046480" y="2404752"/>
            <a:ext cx="2485390" cy="32766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F2A44"/>
                </a:solidFill>
                <a:latin typeface="Arial" pitchFamily="34" charset="0"/>
                <a:ea typeface="Arial" pitchFamily="34" charset="-122"/>
                <a:cs typeface="Arial" pitchFamily="34" charset="-120"/>
              </a:rPr>
              <a:t>Improved</a:t>
            </a:r>
            <a:endParaRPr lang="en-US" sz="1700" dirty="0"/>
          </a:p>
        </p:txBody>
      </p:sp>
      <p:sp>
        <p:nvSpPr>
          <p:cNvPr id="7" name="Shape 5"/>
          <p:cNvSpPr/>
          <p:nvPr/>
        </p:nvSpPr>
        <p:spPr>
          <a:xfrm>
            <a:off x="3586480" y="2447925"/>
            <a:ext cx="2667000" cy="215900"/>
          </a:xfrm>
          <a:prstGeom prst="roundRect">
            <a:avLst>
              <a:gd name="adj" fmla="val 23529"/>
            </a:avLst>
          </a:prstGeom>
          <a:solidFill>
            <a:srgbClr val="5B47D6"/>
          </a:solidFill>
          <a:ln/>
        </p:spPr>
      </p:sp>
      <p:sp>
        <p:nvSpPr>
          <p:cNvPr id="8" name="Text 6"/>
          <p:cNvSpPr/>
          <p:nvPr/>
        </p:nvSpPr>
        <p:spPr>
          <a:xfrm>
            <a:off x="6380480" y="2404752"/>
            <a:ext cx="1036987" cy="32766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3F4A5E"/>
                </a:solidFill>
                <a:latin typeface="Arial" pitchFamily="34" charset="0"/>
                <a:ea typeface="Arial" pitchFamily="34" charset="-122"/>
                <a:cs typeface="Arial" pitchFamily="34" charset="-120"/>
              </a:rPr>
              <a:t>21 · 44%</a:t>
            </a:r>
            <a:endParaRPr lang="en-US" sz="1700" dirty="0"/>
          </a:p>
        </p:txBody>
      </p:sp>
      <p:sp>
        <p:nvSpPr>
          <p:cNvPr id="9" name="Text 7"/>
          <p:cNvSpPr/>
          <p:nvPr/>
        </p:nvSpPr>
        <p:spPr>
          <a:xfrm>
            <a:off x="1046480" y="2795910"/>
            <a:ext cx="2485390" cy="32766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F2A44"/>
                </a:solidFill>
                <a:latin typeface="Arial" pitchFamily="34" charset="0"/>
                <a:ea typeface="Arial" pitchFamily="34" charset="-122"/>
                <a:cs typeface="Arial" pitchFamily="34" charset="-120"/>
              </a:rPr>
              <a:t>No real change</a:t>
            </a:r>
            <a:endParaRPr lang="en-US" sz="1700" dirty="0"/>
          </a:p>
        </p:txBody>
      </p:sp>
      <p:sp>
        <p:nvSpPr>
          <p:cNvPr id="10" name="Shape 8"/>
          <p:cNvSpPr/>
          <p:nvPr/>
        </p:nvSpPr>
        <p:spPr>
          <a:xfrm>
            <a:off x="3586480" y="2839083"/>
            <a:ext cx="1778000" cy="215900"/>
          </a:xfrm>
          <a:prstGeom prst="roundRect">
            <a:avLst>
              <a:gd name="adj" fmla="val 23529"/>
            </a:avLst>
          </a:prstGeom>
          <a:solidFill>
            <a:srgbClr val="8E80E2"/>
          </a:solidFill>
          <a:ln/>
        </p:spPr>
      </p:sp>
      <p:sp>
        <p:nvSpPr>
          <p:cNvPr id="11" name="Text 9"/>
          <p:cNvSpPr/>
          <p:nvPr/>
        </p:nvSpPr>
        <p:spPr>
          <a:xfrm>
            <a:off x="5491480" y="2795910"/>
            <a:ext cx="1036987" cy="32766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3F4A5E"/>
                </a:solidFill>
                <a:latin typeface="Arial" pitchFamily="34" charset="0"/>
                <a:ea typeface="Arial" pitchFamily="34" charset="-122"/>
                <a:cs typeface="Arial" pitchFamily="34" charset="-120"/>
              </a:rPr>
              <a:t>14 · 29%</a:t>
            </a:r>
            <a:endParaRPr lang="en-US" sz="1700" dirty="0"/>
          </a:p>
        </p:txBody>
      </p:sp>
      <p:sp>
        <p:nvSpPr>
          <p:cNvPr id="12" name="Text 10"/>
          <p:cNvSpPr/>
          <p:nvPr/>
        </p:nvSpPr>
        <p:spPr>
          <a:xfrm>
            <a:off x="1046480" y="3187067"/>
            <a:ext cx="2485390" cy="32766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F2A44"/>
                </a:solidFill>
                <a:latin typeface="Arial" pitchFamily="34" charset="0"/>
                <a:ea typeface="Arial" pitchFamily="34" charset="-122"/>
                <a:cs typeface="Arial" pitchFamily="34" charset="-120"/>
              </a:rPr>
              <a:t>Worsened</a:t>
            </a:r>
            <a:endParaRPr lang="en-US" sz="1700" dirty="0"/>
          </a:p>
        </p:txBody>
      </p:sp>
      <p:sp>
        <p:nvSpPr>
          <p:cNvPr id="13" name="Shape 11"/>
          <p:cNvSpPr/>
          <p:nvPr/>
        </p:nvSpPr>
        <p:spPr>
          <a:xfrm>
            <a:off x="3586480" y="3230252"/>
            <a:ext cx="762000" cy="215900"/>
          </a:xfrm>
          <a:prstGeom prst="roundRect">
            <a:avLst>
              <a:gd name="adj" fmla="val 23529"/>
            </a:avLst>
          </a:prstGeom>
          <a:solidFill>
            <a:srgbClr val="F2A65A"/>
          </a:solidFill>
          <a:ln/>
        </p:spPr>
      </p:sp>
      <p:sp>
        <p:nvSpPr>
          <p:cNvPr id="14" name="Text 12"/>
          <p:cNvSpPr/>
          <p:nvPr/>
        </p:nvSpPr>
        <p:spPr>
          <a:xfrm>
            <a:off x="4475480" y="3187067"/>
            <a:ext cx="892874" cy="32766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3F4A5E"/>
                </a:solidFill>
                <a:latin typeface="Arial" pitchFamily="34" charset="0"/>
                <a:ea typeface="Arial" pitchFamily="34" charset="-122"/>
                <a:cs typeface="Arial" pitchFamily="34" charset="-120"/>
              </a:rPr>
              <a:t>6 · 13%</a:t>
            </a:r>
            <a:endParaRPr lang="en-US" sz="1700" dirty="0"/>
          </a:p>
        </p:txBody>
      </p:sp>
      <p:sp>
        <p:nvSpPr>
          <p:cNvPr id="15" name="Text 13"/>
          <p:cNvSpPr/>
          <p:nvPr/>
        </p:nvSpPr>
        <p:spPr>
          <a:xfrm>
            <a:off x="1046480" y="3578225"/>
            <a:ext cx="2485390" cy="32766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F2A44"/>
                </a:solidFill>
                <a:latin typeface="Arial" pitchFamily="34" charset="0"/>
                <a:ea typeface="Arial" pitchFamily="34" charset="-122"/>
                <a:cs typeface="Arial" pitchFamily="34" charset="-120"/>
              </a:rPr>
              <a:t>Stopped</a:t>
            </a:r>
            <a:endParaRPr lang="en-US" sz="1700" dirty="0"/>
          </a:p>
        </p:txBody>
      </p:sp>
      <p:sp>
        <p:nvSpPr>
          <p:cNvPr id="16" name="Shape 14"/>
          <p:cNvSpPr/>
          <p:nvPr/>
        </p:nvSpPr>
        <p:spPr>
          <a:xfrm>
            <a:off x="3586480" y="3621410"/>
            <a:ext cx="508000" cy="215900"/>
          </a:xfrm>
          <a:prstGeom prst="roundRect">
            <a:avLst>
              <a:gd name="adj" fmla="val 23529"/>
            </a:avLst>
          </a:prstGeom>
          <a:solidFill>
            <a:srgbClr val="B4561B"/>
          </a:solidFill>
          <a:ln/>
        </p:spPr>
      </p:sp>
      <p:sp>
        <p:nvSpPr>
          <p:cNvPr id="17" name="Text 15"/>
          <p:cNvSpPr/>
          <p:nvPr/>
        </p:nvSpPr>
        <p:spPr>
          <a:xfrm>
            <a:off x="4221480" y="3578225"/>
            <a:ext cx="748856" cy="32766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3F4A5E"/>
                </a:solidFill>
                <a:latin typeface="Arial" pitchFamily="34" charset="0"/>
                <a:ea typeface="Arial" pitchFamily="34" charset="-122"/>
                <a:cs typeface="Arial" pitchFamily="34" charset="-120"/>
              </a:rPr>
              <a:t>4 · 8%</a:t>
            </a:r>
            <a:endParaRPr lang="en-US" sz="1700" dirty="0"/>
          </a:p>
        </p:txBody>
      </p:sp>
      <p:sp>
        <p:nvSpPr>
          <p:cNvPr id="18" name="Text 16"/>
          <p:cNvSpPr/>
          <p:nvPr/>
        </p:nvSpPr>
        <p:spPr>
          <a:xfrm>
            <a:off x="1046480" y="3969383"/>
            <a:ext cx="2485390" cy="32766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F2A44"/>
                </a:solidFill>
                <a:latin typeface="Arial" pitchFamily="34" charset="0"/>
                <a:ea typeface="Arial" pitchFamily="34" charset="-122"/>
                <a:cs typeface="Arial" pitchFamily="34" charset="-120"/>
              </a:rPr>
              <a:t>Died</a:t>
            </a:r>
            <a:endParaRPr lang="en-US" sz="1700" dirty="0"/>
          </a:p>
        </p:txBody>
      </p:sp>
      <p:sp>
        <p:nvSpPr>
          <p:cNvPr id="19" name="Shape 17"/>
          <p:cNvSpPr/>
          <p:nvPr/>
        </p:nvSpPr>
        <p:spPr>
          <a:xfrm>
            <a:off x="3586480" y="4012567"/>
            <a:ext cx="38100" cy="215900"/>
          </a:xfrm>
          <a:prstGeom prst="roundRect">
            <a:avLst>
              <a:gd name="adj" fmla="val 50000"/>
            </a:avLst>
          </a:prstGeom>
          <a:solidFill>
            <a:srgbClr val="1F2A44"/>
          </a:solidFill>
          <a:ln/>
        </p:spPr>
      </p:sp>
      <p:sp>
        <p:nvSpPr>
          <p:cNvPr id="20" name="Text 18"/>
          <p:cNvSpPr/>
          <p:nvPr/>
        </p:nvSpPr>
        <p:spPr>
          <a:xfrm>
            <a:off x="3751580" y="3969383"/>
            <a:ext cx="748856" cy="32766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3F4A5E"/>
                </a:solidFill>
                <a:latin typeface="Arial" pitchFamily="34" charset="0"/>
                <a:ea typeface="Arial" pitchFamily="34" charset="-122"/>
                <a:cs typeface="Arial" pitchFamily="34" charset="-120"/>
              </a:rPr>
              <a:t>0 · 0%</a:t>
            </a:r>
            <a:endParaRPr lang="en-US" sz="1700" dirty="0"/>
          </a:p>
        </p:txBody>
      </p:sp>
      <p:sp>
        <p:nvSpPr>
          <p:cNvPr id="21" name="Text 19"/>
          <p:cNvSpPr/>
          <p:nvPr/>
        </p:nvSpPr>
        <p:spPr>
          <a:xfrm>
            <a:off x="1046480" y="4360552"/>
            <a:ext cx="2485390" cy="32766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F2A44"/>
                </a:solidFill>
                <a:latin typeface="Arial" pitchFamily="34" charset="0"/>
                <a:ea typeface="Arial" pitchFamily="34" charset="-122"/>
                <a:cs typeface="Arial" pitchFamily="34" charset="-120"/>
              </a:rPr>
              <a:t>Lost to follow-up</a:t>
            </a:r>
            <a:endParaRPr lang="en-US" sz="1700" dirty="0"/>
          </a:p>
        </p:txBody>
      </p:sp>
      <p:sp>
        <p:nvSpPr>
          <p:cNvPr id="22" name="Shape 20"/>
          <p:cNvSpPr/>
          <p:nvPr/>
        </p:nvSpPr>
        <p:spPr>
          <a:xfrm>
            <a:off x="3586480" y="4403725"/>
            <a:ext cx="381000" cy="215900"/>
          </a:xfrm>
          <a:prstGeom prst="roundRect">
            <a:avLst>
              <a:gd name="adj" fmla="val 23529"/>
            </a:avLst>
          </a:prstGeom>
          <a:solidFill>
            <a:srgbClr val="A79F92"/>
          </a:solidFill>
          <a:ln/>
        </p:spPr>
      </p:sp>
      <p:sp>
        <p:nvSpPr>
          <p:cNvPr id="23" name="Text 21"/>
          <p:cNvSpPr/>
          <p:nvPr/>
        </p:nvSpPr>
        <p:spPr>
          <a:xfrm>
            <a:off x="4094480" y="4360552"/>
            <a:ext cx="748856" cy="32766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3F4A5E"/>
                </a:solidFill>
                <a:latin typeface="Arial" pitchFamily="34" charset="0"/>
                <a:ea typeface="Arial" pitchFamily="34" charset="-122"/>
                <a:cs typeface="Arial" pitchFamily="34" charset="-120"/>
              </a:rPr>
              <a:t>3 · 6%</a:t>
            </a:r>
            <a:endParaRPr lang="en-US" sz="1700" dirty="0"/>
          </a:p>
        </p:txBody>
      </p:sp>
      <p:sp>
        <p:nvSpPr>
          <p:cNvPr id="24" name="Shape 22"/>
          <p:cNvSpPr/>
          <p:nvPr/>
        </p:nvSpPr>
        <p:spPr>
          <a:xfrm>
            <a:off x="1046480" y="4754885"/>
            <a:ext cx="6390640" cy="0"/>
          </a:xfrm>
          <a:prstGeom prst="line">
            <a:avLst/>
          </a:prstGeom>
          <a:noFill/>
          <a:ln w="6350">
            <a:solidFill>
              <a:srgbClr val="E4DED3"/>
            </a:solidFill>
            <a:prstDash val="solid"/>
          </a:ln>
        </p:spPr>
      </p:sp>
      <p:sp>
        <p:nvSpPr>
          <p:cNvPr id="25" name="Text 23"/>
          <p:cNvSpPr/>
          <p:nvPr/>
        </p:nvSpPr>
        <p:spPr>
          <a:xfrm>
            <a:off x="1046480" y="4832983"/>
            <a:ext cx="2485390" cy="32766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F2A44"/>
                </a:solidFill>
                <a:latin typeface="Arial" pitchFamily="34" charset="0"/>
                <a:ea typeface="Arial" pitchFamily="34" charset="-122"/>
                <a:cs typeface="Arial" pitchFamily="34" charset="-120"/>
              </a:rPr>
              <a:t>Serious side effects</a:t>
            </a:r>
            <a:endParaRPr lang="en-US" sz="1700" dirty="0"/>
          </a:p>
        </p:txBody>
      </p:sp>
      <p:sp>
        <p:nvSpPr>
          <p:cNvPr id="26" name="Shape 24"/>
          <p:cNvSpPr/>
          <p:nvPr/>
        </p:nvSpPr>
        <p:spPr>
          <a:xfrm>
            <a:off x="3586480" y="4876167"/>
            <a:ext cx="254000" cy="215900"/>
          </a:xfrm>
          <a:prstGeom prst="roundRect">
            <a:avLst>
              <a:gd name="adj" fmla="val 23529"/>
            </a:avLst>
          </a:prstGeom>
          <a:solidFill>
            <a:srgbClr val="B4561B"/>
          </a:solidFill>
          <a:ln/>
        </p:spPr>
      </p:sp>
      <p:sp>
        <p:nvSpPr>
          <p:cNvPr id="27" name="Text 25"/>
          <p:cNvSpPr/>
          <p:nvPr/>
        </p:nvSpPr>
        <p:spPr>
          <a:xfrm>
            <a:off x="3967480" y="4832983"/>
            <a:ext cx="748856" cy="32766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3F4A5E"/>
                </a:solidFill>
                <a:latin typeface="Arial" pitchFamily="34" charset="0"/>
                <a:ea typeface="Arial" pitchFamily="34" charset="-122"/>
                <a:cs typeface="Arial" pitchFamily="34" charset="-120"/>
              </a:rPr>
              <a:t>2 · 4%</a:t>
            </a:r>
            <a:endParaRPr lang="en-US" sz="1700" dirty="0"/>
          </a:p>
        </p:txBody>
      </p:sp>
      <p:sp>
        <p:nvSpPr>
          <p:cNvPr id="28" name="Shape 26"/>
          <p:cNvSpPr/>
          <p:nvPr/>
        </p:nvSpPr>
        <p:spPr>
          <a:xfrm>
            <a:off x="7877175" y="1862460"/>
            <a:ext cx="3498850" cy="1549400"/>
          </a:xfrm>
          <a:prstGeom prst="roundRect">
            <a:avLst>
              <a:gd name="adj" fmla="val 9631"/>
            </a:avLst>
          </a:prstGeom>
          <a:solidFill>
            <a:srgbClr val="FFFDF9"/>
          </a:solidFill>
          <a:ln w="6350">
            <a:solidFill>
              <a:srgbClr val="E4DED3"/>
            </a:solidFill>
            <a:prstDash val="solid"/>
          </a:ln>
        </p:spPr>
      </p:sp>
      <p:sp>
        <p:nvSpPr>
          <p:cNvPr id="29" name="Shape 27"/>
          <p:cNvSpPr/>
          <p:nvPr/>
        </p:nvSpPr>
        <p:spPr>
          <a:xfrm>
            <a:off x="8056880" y="2042158"/>
            <a:ext cx="508000" cy="508000"/>
          </a:xfrm>
          <a:prstGeom prst="roundRect">
            <a:avLst>
              <a:gd name="adj" fmla="val 50000"/>
            </a:avLst>
          </a:prstGeom>
          <a:solidFill>
            <a:srgbClr val="ECE9FB"/>
          </a:solidFill>
          <a:ln/>
        </p:spPr>
      </p:sp>
      <p:pic>
        <p:nvPicPr>
          <p:cNvPr id="30" name="Image 0" descr="Verified">    </p:cNvPr>
          <p:cNvPicPr>
            <a:picLocks noChangeAspect="1"/>
          </p:cNvPicPr>
          <p:nvPr/>
        </p:nvPicPr>
        <p:blipFill>
          <a:blip r:embed="rId1"/>
          <a:srcRect l="0" r="0" t="0" b="0"/>
          <a:stretch/>
        </p:blipFill>
        <p:spPr>
          <a:xfrm>
            <a:off x="8180705" y="2165983"/>
            <a:ext cx="260350" cy="260350"/>
          </a:xfrm>
          <a:prstGeom prst="rect">
            <a:avLst/>
          </a:prstGeom>
        </p:spPr>
      </p:pic>
      <p:sp>
        <p:nvSpPr>
          <p:cNvPr id="31" name="Text 28"/>
          <p:cNvSpPr/>
          <p:nvPr/>
        </p:nvSpPr>
        <p:spPr>
          <a:xfrm>
            <a:off x="8691880" y="2042158"/>
            <a:ext cx="2579573" cy="302895"/>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1F2A44"/>
                </a:solidFill>
                <a:latin typeface="Georgia" pitchFamily="18" charset="0"/>
                <a:ea typeface="Georgia" pitchFamily="18" charset="-122"/>
                <a:cs typeface="Georgia" pitchFamily="18" charset="-120"/>
              </a:rPr>
              <a:t>Nothing hidden</a:t>
            </a:r>
            <a:endParaRPr lang="en-US" sz="1900" dirty="0"/>
          </a:p>
        </p:txBody>
      </p:sp>
      <p:sp>
        <p:nvSpPr>
          <p:cNvPr id="32" name="Text 29"/>
          <p:cNvSpPr/>
          <p:nvPr/>
        </p:nvSpPr>
        <p:spPr>
          <a:xfrm>
            <a:off x="8691880" y="2357760"/>
            <a:ext cx="2579573" cy="899795"/>
          </a:xfrm>
          <a:prstGeom prst="rect">
            <a:avLst/>
          </a:prstGeom>
          <a:noFill/>
          <a:ln/>
        </p:spPr>
        <p:txBody>
          <a:bodyPr wrap="square" lIns="0" tIns="0" rIns="0" bIns="0" rtlCol="0" anchor="t">
            <a:normAutofit/>
          </a:bodyPr>
          <a:lstStyle/>
          <a:p>
            <a:pPr algn="l" indent="0" marL="0">
              <a:lnSpc>
                <a:spcPts val="2295"/>
              </a:lnSpc>
              <a:buNone/>
            </a:pPr>
            <a:r>
              <a:rPr lang="en-US" sz="1700" dirty="0">
                <a:solidFill>
                  <a:srgbClr val="3F4A5E"/>
                </a:solidFill>
                <a:latin typeface="Arial" pitchFamily="34" charset="0"/>
                <a:ea typeface="Arial" pitchFamily="34" charset="-122"/>
                <a:cs typeface="Arial" pitchFamily="34" charset="-120"/>
              </a:rPr>
              <a:t>Bad, null and unclear results must be published.</a:t>
            </a:r>
            <a:endParaRPr lang="en-US" sz="1700" dirty="0"/>
          </a:p>
        </p:txBody>
      </p:sp>
      <p:sp>
        <p:nvSpPr>
          <p:cNvPr id="33" name="Shape 30"/>
          <p:cNvSpPr/>
          <p:nvPr/>
        </p:nvSpPr>
        <p:spPr>
          <a:xfrm>
            <a:off x="7877175" y="3532510"/>
            <a:ext cx="3498850" cy="1257935"/>
          </a:xfrm>
          <a:prstGeom prst="roundRect">
            <a:avLst>
              <a:gd name="adj" fmla="val 11863"/>
            </a:avLst>
          </a:prstGeom>
          <a:solidFill>
            <a:srgbClr val="FFFDF9"/>
          </a:solidFill>
          <a:ln w="6350">
            <a:solidFill>
              <a:srgbClr val="E4DED3"/>
            </a:solidFill>
            <a:prstDash val="solid"/>
          </a:ln>
        </p:spPr>
      </p:sp>
      <p:sp>
        <p:nvSpPr>
          <p:cNvPr id="34" name="Shape 31"/>
          <p:cNvSpPr/>
          <p:nvPr/>
        </p:nvSpPr>
        <p:spPr>
          <a:xfrm>
            <a:off x="8056880" y="3712208"/>
            <a:ext cx="508000" cy="508000"/>
          </a:xfrm>
          <a:prstGeom prst="roundRect">
            <a:avLst>
              <a:gd name="adj" fmla="val 50000"/>
            </a:avLst>
          </a:prstGeom>
          <a:solidFill>
            <a:srgbClr val="ECE9FB"/>
          </a:solidFill>
          <a:ln/>
        </p:spPr>
      </p:sp>
      <p:pic>
        <p:nvPicPr>
          <p:cNvPr id="35" name="Image 1" descr="Lock">    </p:cNvPr>
          <p:cNvPicPr>
            <a:picLocks noChangeAspect="1"/>
          </p:cNvPicPr>
          <p:nvPr/>
        </p:nvPicPr>
        <p:blipFill>
          <a:blip r:embed="rId2"/>
          <a:srcRect l="0" r="0" t="0" b="0"/>
          <a:stretch/>
        </p:blipFill>
        <p:spPr>
          <a:xfrm>
            <a:off x="8180705" y="3836033"/>
            <a:ext cx="260350" cy="260350"/>
          </a:xfrm>
          <a:prstGeom prst="rect">
            <a:avLst/>
          </a:prstGeom>
        </p:spPr>
      </p:pic>
      <p:sp>
        <p:nvSpPr>
          <p:cNvPr id="36" name="Text 32"/>
          <p:cNvSpPr/>
          <p:nvPr/>
        </p:nvSpPr>
        <p:spPr>
          <a:xfrm>
            <a:off x="8691880" y="3712208"/>
            <a:ext cx="2579573" cy="302895"/>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1F2A44"/>
                </a:solidFill>
                <a:latin typeface="Georgia" pitchFamily="18" charset="0"/>
                <a:ea typeface="Georgia" pitchFamily="18" charset="-122"/>
                <a:cs typeface="Georgia" pitchFamily="18" charset="-120"/>
              </a:rPr>
              <a:t>Privacy first</a:t>
            </a:r>
            <a:endParaRPr lang="en-US" sz="1900" dirty="0"/>
          </a:p>
        </p:txBody>
      </p:sp>
      <p:sp>
        <p:nvSpPr>
          <p:cNvPr id="37" name="Text 33"/>
          <p:cNvSpPr/>
          <p:nvPr/>
        </p:nvSpPr>
        <p:spPr>
          <a:xfrm>
            <a:off x="8691880" y="4027810"/>
            <a:ext cx="2579573" cy="608330"/>
          </a:xfrm>
          <a:prstGeom prst="rect">
            <a:avLst/>
          </a:prstGeom>
          <a:noFill/>
          <a:ln/>
        </p:spPr>
        <p:txBody>
          <a:bodyPr wrap="square" lIns="0" tIns="0" rIns="0" bIns="0" rtlCol="0" anchor="t">
            <a:normAutofit/>
          </a:bodyPr>
          <a:lstStyle/>
          <a:p>
            <a:pPr algn="l" indent="0" marL="0">
              <a:lnSpc>
                <a:spcPts val="2295"/>
              </a:lnSpc>
              <a:buNone/>
            </a:pPr>
            <a:r>
              <a:rPr lang="en-US" sz="1700" dirty="0">
                <a:solidFill>
                  <a:srgbClr val="3F4A5E"/>
                </a:solidFill>
                <a:latin typeface="Arial" pitchFamily="34" charset="0"/>
                <a:ea typeface="Arial" pitchFamily="34" charset="-122"/>
                <a:cs typeface="Arial" pitchFamily="34" charset="-120"/>
              </a:rPr>
              <a:t>Tiny groups combined for privacy.</a:t>
            </a:r>
            <a:endParaRPr lang="en-US" sz="1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5B47D6"/>
                </a:solidFill>
                <a:latin typeface="Arial" pitchFamily="34" charset="0"/>
                <a:ea typeface="Arial" pitchFamily="34" charset="-122"/>
                <a:cs typeface="Arial" pitchFamily="34" charset="-120"/>
              </a:rPr>
              <a:t>STEP 7 · FROM REPORTS TO OUTCOME LABELS AND TREATMENT RANKINGS</a:t>
            </a:r>
            <a:endParaRPr lang="en-US" sz="1400" dirty="0"/>
          </a:p>
        </p:txBody>
      </p:sp>
      <p:sp>
        <p:nvSpPr>
          <p:cNvPr id="3" name="Text 1"/>
          <p:cNvSpPr/>
          <p:nvPr/>
        </p:nvSpPr>
        <p:spPr>
          <a:xfrm>
            <a:off x="812800" y="1137927"/>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F2A44"/>
                </a:solidFill>
                <a:latin typeface="Georgia" pitchFamily="18" charset="0"/>
                <a:ea typeface="Georgia" pitchFamily="18" charset="-122"/>
                <a:cs typeface="Georgia" pitchFamily="18" charset="-120"/>
              </a:rPr>
              <a:t>How one result becomes shared evidence</a:t>
            </a:r>
            <a:endParaRPr lang="en-US" sz="3200" dirty="0"/>
          </a:p>
        </p:txBody>
      </p:sp>
      <p:sp>
        <p:nvSpPr>
          <p:cNvPr id="4" name="Shape 2"/>
          <p:cNvSpPr/>
          <p:nvPr/>
        </p:nvSpPr>
        <p:spPr>
          <a:xfrm>
            <a:off x="815975" y="1908175"/>
            <a:ext cx="1771650" cy="2406650"/>
          </a:xfrm>
          <a:prstGeom prst="roundRect">
            <a:avLst>
              <a:gd name="adj" fmla="val 8423"/>
            </a:avLst>
          </a:prstGeom>
          <a:solidFill>
            <a:srgbClr val="FFFDF9"/>
          </a:solidFill>
          <a:ln w="6350">
            <a:solidFill>
              <a:srgbClr val="E4DED3"/>
            </a:solidFill>
            <a:prstDash val="solid"/>
          </a:ln>
        </p:spPr>
      </p:sp>
      <p:sp>
        <p:nvSpPr>
          <p:cNvPr id="5" name="Shape 3"/>
          <p:cNvSpPr/>
          <p:nvPr/>
        </p:nvSpPr>
        <p:spPr>
          <a:xfrm>
            <a:off x="995680" y="2087885"/>
            <a:ext cx="482600" cy="482600"/>
          </a:xfrm>
          <a:prstGeom prst="roundRect">
            <a:avLst>
              <a:gd name="adj" fmla="val 50000"/>
            </a:avLst>
          </a:prstGeom>
          <a:solidFill>
            <a:srgbClr val="ECE9FB"/>
          </a:solidFill>
          <a:ln/>
        </p:spPr>
      </p:sp>
      <p:pic>
        <p:nvPicPr>
          <p:cNvPr id="6" name="Image 0" descr="Home">    </p:cNvPr>
          <p:cNvPicPr>
            <a:picLocks noChangeAspect="1"/>
          </p:cNvPicPr>
          <p:nvPr/>
        </p:nvPicPr>
        <p:blipFill>
          <a:blip r:embed="rId1"/>
          <a:srcRect l="0" r="0" t="0" b="0"/>
          <a:stretch/>
        </p:blipFill>
        <p:spPr>
          <a:xfrm>
            <a:off x="1113155" y="2205360"/>
            <a:ext cx="247650" cy="247650"/>
          </a:xfrm>
          <a:prstGeom prst="rect">
            <a:avLst/>
          </a:prstGeom>
        </p:spPr>
      </p:pic>
      <p:sp>
        <p:nvSpPr>
          <p:cNvPr id="7" name="Text 4"/>
          <p:cNvSpPr/>
          <p:nvPr/>
        </p:nvSpPr>
        <p:spPr>
          <a:xfrm>
            <a:off x="995680" y="2646685"/>
            <a:ext cx="1463040" cy="288290"/>
          </a:xfrm>
          <a:prstGeom prst="rect">
            <a:avLst/>
          </a:prstGeom>
          <a:noFill/>
          <a:ln/>
        </p:spPr>
        <p:txBody>
          <a:bodyPr wrap="square" lIns="0" tIns="0" rIns="0" bIns="0" rtlCol="0" anchor="t">
            <a:normAutofit/>
          </a:bodyPr>
          <a:lstStyle/>
          <a:p>
            <a:pPr algn="l" indent="0" marL="0">
              <a:lnSpc>
                <a:spcPts val="2070"/>
              </a:lnSpc>
              <a:buNone/>
            </a:pPr>
            <a:r>
              <a:rPr lang="en-US" sz="1800" b="1" dirty="0">
                <a:solidFill>
                  <a:srgbClr val="1F2A44"/>
                </a:solidFill>
                <a:latin typeface="Georgia" pitchFamily="18" charset="0"/>
                <a:ea typeface="Georgia" pitchFamily="18" charset="-122"/>
                <a:cs typeface="Georgia" pitchFamily="18" charset="-120"/>
              </a:rPr>
              <a:t>Her clinic</a:t>
            </a:r>
            <a:endParaRPr lang="en-US" sz="1800" dirty="0"/>
          </a:p>
        </p:txBody>
      </p:sp>
      <p:sp>
        <p:nvSpPr>
          <p:cNvPr id="8" name="Text 5"/>
          <p:cNvSpPr/>
          <p:nvPr/>
        </p:nvSpPr>
        <p:spPr>
          <a:xfrm>
            <a:off x="995680" y="2985777"/>
            <a:ext cx="1463040" cy="5537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3F4A5E"/>
                </a:solidFill>
                <a:latin typeface="Arial" pitchFamily="34" charset="0"/>
                <a:ea typeface="Arial" pitchFamily="34" charset="-122"/>
                <a:cs typeface="Arial" pitchFamily="34" charset="-120"/>
              </a:rPr>
              <a:t>Data stays with her doctor</a:t>
            </a:r>
            <a:endParaRPr lang="en-US" sz="1600" dirty="0"/>
          </a:p>
        </p:txBody>
      </p:sp>
      <p:pic>
        <p:nvPicPr>
          <p:cNvPr id="9" name="Image 1" descr="connector">    </p:cNvPr>
          <p:cNvPicPr>
            <a:picLocks noChangeAspect="1"/>
          </p:cNvPicPr>
          <p:nvPr/>
        </p:nvPicPr>
        <p:blipFill>
          <a:blip r:embed="rId2"/>
          <a:srcRect l="0" r="0" t="0" b="0"/>
          <a:stretch/>
        </p:blipFill>
        <p:spPr>
          <a:xfrm>
            <a:off x="2552700" y="3035300"/>
            <a:ext cx="495300" cy="152400"/>
          </a:xfrm>
          <a:prstGeom prst="rect">
            <a:avLst/>
          </a:prstGeom>
        </p:spPr>
      </p:pic>
      <p:sp>
        <p:nvSpPr>
          <p:cNvPr id="10" name="Shape 6"/>
          <p:cNvSpPr/>
          <p:nvPr/>
        </p:nvSpPr>
        <p:spPr>
          <a:xfrm>
            <a:off x="3013075" y="1908175"/>
            <a:ext cx="1771650" cy="2406650"/>
          </a:xfrm>
          <a:prstGeom prst="roundRect">
            <a:avLst>
              <a:gd name="adj" fmla="val 8423"/>
            </a:avLst>
          </a:prstGeom>
          <a:solidFill>
            <a:srgbClr val="FFFDF9"/>
          </a:solidFill>
          <a:ln w="6350">
            <a:solidFill>
              <a:srgbClr val="E4DED3"/>
            </a:solidFill>
            <a:prstDash val="solid"/>
          </a:ln>
        </p:spPr>
      </p:sp>
      <p:sp>
        <p:nvSpPr>
          <p:cNvPr id="11" name="Shape 7"/>
          <p:cNvSpPr/>
          <p:nvPr/>
        </p:nvSpPr>
        <p:spPr>
          <a:xfrm>
            <a:off x="3192780" y="2087885"/>
            <a:ext cx="482600" cy="482600"/>
          </a:xfrm>
          <a:prstGeom prst="roundRect">
            <a:avLst>
              <a:gd name="adj" fmla="val 50000"/>
            </a:avLst>
          </a:prstGeom>
          <a:solidFill>
            <a:srgbClr val="ECE9FB"/>
          </a:solidFill>
          <a:ln/>
        </p:spPr>
      </p:sp>
      <p:pic>
        <p:nvPicPr>
          <p:cNvPr id="12" name="Image 2" descr="Activity">    </p:cNvPr>
          <p:cNvPicPr>
            <a:picLocks noChangeAspect="1"/>
          </p:cNvPicPr>
          <p:nvPr/>
        </p:nvPicPr>
        <p:blipFill>
          <a:blip r:embed="rId3"/>
          <a:srcRect l="0" r="0" t="0" b="0"/>
          <a:stretch/>
        </p:blipFill>
        <p:spPr>
          <a:xfrm>
            <a:off x="3310255" y="2205360"/>
            <a:ext cx="247650" cy="247650"/>
          </a:xfrm>
          <a:prstGeom prst="rect">
            <a:avLst/>
          </a:prstGeom>
        </p:spPr>
      </p:pic>
      <p:sp>
        <p:nvSpPr>
          <p:cNvPr id="13" name="Text 8"/>
          <p:cNvSpPr/>
          <p:nvPr/>
        </p:nvSpPr>
        <p:spPr>
          <a:xfrm>
            <a:off x="3192780" y="2646685"/>
            <a:ext cx="1463040" cy="551180"/>
          </a:xfrm>
          <a:prstGeom prst="rect">
            <a:avLst/>
          </a:prstGeom>
          <a:noFill/>
          <a:ln/>
        </p:spPr>
        <p:txBody>
          <a:bodyPr wrap="square" lIns="0" tIns="0" rIns="0" bIns="0" rtlCol="0" anchor="t">
            <a:normAutofit/>
          </a:bodyPr>
          <a:lstStyle/>
          <a:p>
            <a:pPr algn="l" indent="0" marL="0">
              <a:lnSpc>
                <a:spcPts val="2070"/>
              </a:lnSpc>
              <a:buNone/>
            </a:pPr>
            <a:r>
              <a:rPr lang="en-US" sz="1800" b="1" dirty="0">
                <a:solidFill>
                  <a:srgbClr val="1F2A44"/>
                </a:solidFill>
                <a:latin typeface="Georgia" pitchFamily="18" charset="0"/>
                <a:ea typeface="Georgia" pitchFamily="18" charset="-122"/>
                <a:cs typeface="Georgia" pitchFamily="18" charset="-120"/>
              </a:rPr>
              <a:t>Outcome report</a:t>
            </a:r>
            <a:endParaRPr lang="en-US" sz="1800" dirty="0"/>
          </a:p>
        </p:txBody>
      </p:sp>
      <p:sp>
        <p:nvSpPr>
          <p:cNvPr id="14" name="Text 9"/>
          <p:cNvSpPr/>
          <p:nvPr/>
        </p:nvSpPr>
        <p:spPr>
          <a:xfrm>
            <a:off x="3192780" y="3248658"/>
            <a:ext cx="1463040" cy="5537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3F4A5E"/>
                </a:solidFill>
                <a:latin typeface="Arial" pitchFamily="34" charset="0"/>
                <a:ea typeface="Arial" pitchFamily="34" charset="-122"/>
                <a:cs typeface="Arial" pitchFamily="34" charset="-120"/>
              </a:rPr>
              <a:t>Coded and de-identified</a:t>
            </a:r>
            <a:endParaRPr lang="en-US" sz="1600" dirty="0"/>
          </a:p>
        </p:txBody>
      </p:sp>
      <p:pic>
        <p:nvPicPr>
          <p:cNvPr id="15" name="Image 3" descr="connector">    </p:cNvPr>
          <p:cNvPicPr>
            <a:picLocks noChangeAspect="1"/>
          </p:cNvPicPr>
          <p:nvPr/>
        </p:nvPicPr>
        <p:blipFill>
          <a:blip r:embed="rId4"/>
          <a:srcRect l="0" r="0" t="0" b="0"/>
          <a:stretch/>
        </p:blipFill>
        <p:spPr>
          <a:xfrm>
            <a:off x="4749800" y="3035300"/>
            <a:ext cx="495300" cy="152400"/>
          </a:xfrm>
          <a:prstGeom prst="rect">
            <a:avLst/>
          </a:prstGeom>
        </p:spPr>
      </p:pic>
      <p:sp>
        <p:nvSpPr>
          <p:cNvPr id="16" name="Shape 10"/>
          <p:cNvSpPr/>
          <p:nvPr/>
        </p:nvSpPr>
        <p:spPr>
          <a:xfrm>
            <a:off x="5210175" y="1908175"/>
            <a:ext cx="1771650" cy="2406650"/>
          </a:xfrm>
          <a:prstGeom prst="roundRect">
            <a:avLst>
              <a:gd name="adj" fmla="val 8423"/>
            </a:avLst>
          </a:prstGeom>
          <a:solidFill>
            <a:srgbClr val="FFFDF9"/>
          </a:solidFill>
          <a:ln w="6350">
            <a:solidFill>
              <a:srgbClr val="E4DED3"/>
            </a:solidFill>
            <a:prstDash val="solid"/>
          </a:ln>
        </p:spPr>
      </p:sp>
      <p:sp>
        <p:nvSpPr>
          <p:cNvPr id="17" name="Shape 11"/>
          <p:cNvSpPr/>
          <p:nvPr/>
        </p:nvSpPr>
        <p:spPr>
          <a:xfrm>
            <a:off x="5389880" y="2087885"/>
            <a:ext cx="482600" cy="482600"/>
          </a:xfrm>
          <a:prstGeom prst="roundRect">
            <a:avLst>
              <a:gd name="adj" fmla="val 50000"/>
            </a:avLst>
          </a:prstGeom>
          <a:solidFill>
            <a:srgbClr val="ECE9FB"/>
          </a:solidFill>
          <a:ln/>
        </p:spPr>
      </p:sp>
      <p:pic>
        <p:nvPicPr>
          <p:cNvPr id="18" name="Image 4" descr="Book">    </p:cNvPr>
          <p:cNvPicPr>
            <a:picLocks noChangeAspect="1"/>
          </p:cNvPicPr>
          <p:nvPr/>
        </p:nvPicPr>
        <p:blipFill>
          <a:blip r:embed="rId5"/>
          <a:srcRect l="0" r="0" t="0" b="0"/>
          <a:stretch/>
        </p:blipFill>
        <p:spPr>
          <a:xfrm>
            <a:off x="5507355" y="2205360"/>
            <a:ext cx="247650" cy="247650"/>
          </a:xfrm>
          <a:prstGeom prst="rect">
            <a:avLst/>
          </a:prstGeom>
        </p:spPr>
      </p:pic>
      <p:sp>
        <p:nvSpPr>
          <p:cNvPr id="19" name="Text 12"/>
          <p:cNvSpPr/>
          <p:nvPr/>
        </p:nvSpPr>
        <p:spPr>
          <a:xfrm>
            <a:off x="5389880" y="2646685"/>
            <a:ext cx="1463040" cy="551180"/>
          </a:xfrm>
          <a:prstGeom prst="rect">
            <a:avLst/>
          </a:prstGeom>
          <a:noFill/>
          <a:ln/>
        </p:spPr>
        <p:txBody>
          <a:bodyPr wrap="square" lIns="0" tIns="0" rIns="0" bIns="0" rtlCol="0" anchor="t">
            <a:normAutofit/>
          </a:bodyPr>
          <a:lstStyle/>
          <a:p>
            <a:pPr algn="l" indent="0" marL="0">
              <a:lnSpc>
                <a:spcPts val="2070"/>
              </a:lnSpc>
              <a:buNone/>
            </a:pPr>
            <a:r>
              <a:rPr lang="en-US" sz="1800" b="1" dirty="0">
                <a:solidFill>
                  <a:srgbClr val="1F2A44"/>
                </a:solidFill>
                <a:latin typeface="Georgia" pitchFamily="18" charset="0"/>
                <a:ea typeface="Georgia" pitchFamily="18" charset="-122"/>
                <a:cs typeface="Georgia" pitchFamily="18" charset="-120"/>
              </a:rPr>
              <a:t>Board report</a:t>
            </a:r>
            <a:endParaRPr lang="en-US" sz="1800" dirty="0"/>
          </a:p>
        </p:txBody>
      </p:sp>
      <p:sp>
        <p:nvSpPr>
          <p:cNvPr id="20" name="Text 13"/>
          <p:cNvSpPr/>
          <p:nvPr/>
        </p:nvSpPr>
        <p:spPr>
          <a:xfrm>
            <a:off x="5389880" y="3248658"/>
            <a:ext cx="1463040" cy="5537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3F4A5E"/>
                </a:solidFill>
                <a:latin typeface="Arial" pitchFamily="34" charset="0"/>
                <a:ea typeface="Arial" pitchFamily="34" charset="-122"/>
                <a:cs typeface="Arial" pitchFamily="34" charset="-120"/>
              </a:rPr>
              <a:t>Yearly public results</a:t>
            </a:r>
            <a:endParaRPr lang="en-US" sz="1600" dirty="0"/>
          </a:p>
        </p:txBody>
      </p:sp>
      <p:pic>
        <p:nvPicPr>
          <p:cNvPr id="21" name="Image 5" descr="connector">    </p:cNvPr>
          <p:cNvPicPr>
            <a:picLocks noChangeAspect="1"/>
          </p:cNvPicPr>
          <p:nvPr/>
        </p:nvPicPr>
        <p:blipFill>
          <a:blip r:embed="rId6"/>
          <a:srcRect l="0" r="0" t="0" b="0"/>
          <a:stretch/>
        </p:blipFill>
        <p:spPr>
          <a:xfrm>
            <a:off x="6946900" y="3035300"/>
            <a:ext cx="495300" cy="152400"/>
          </a:xfrm>
          <a:prstGeom prst="rect">
            <a:avLst/>
          </a:prstGeom>
        </p:spPr>
      </p:pic>
      <p:sp>
        <p:nvSpPr>
          <p:cNvPr id="22" name="Shape 14"/>
          <p:cNvSpPr/>
          <p:nvPr/>
        </p:nvSpPr>
        <p:spPr>
          <a:xfrm>
            <a:off x="7407275" y="1908175"/>
            <a:ext cx="1771650" cy="2406650"/>
          </a:xfrm>
          <a:prstGeom prst="roundRect">
            <a:avLst>
              <a:gd name="adj" fmla="val 8423"/>
            </a:avLst>
          </a:prstGeom>
          <a:solidFill>
            <a:srgbClr val="FFFDF9"/>
          </a:solidFill>
          <a:ln w="6350">
            <a:solidFill>
              <a:srgbClr val="E4DED3"/>
            </a:solidFill>
            <a:prstDash val="solid"/>
          </a:ln>
        </p:spPr>
      </p:sp>
      <p:sp>
        <p:nvSpPr>
          <p:cNvPr id="23" name="Shape 15"/>
          <p:cNvSpPr/>
          <p:nvPr/>
        </p:nvSpPr>
        <p:spPr>
          <a:xfrm>
            <a:off x="7586980" y="2087885"/>
            <a:ext cx="482600" cy="482600"/>
          </a:xfrm>
          <a:prstGeom prst="roundRect">
            <a:avLst>
              <a:gd name="adj" fmla="val 50000"/>
            </a:avLst>
          </a:prstGeom>
          <a:solidFill>
            <a:srgbClr val="ECE9FB"/>
          </a:solidFill>
          <a:ln/>
        </p:spPr>
      </p:sp>
      <p:pic>
        <p:nvPicPr>
          <p:cNvPr id="24" name="Image 6" descr="Database">    </p:cNvPr>
          <p:cNvPicPr>
            <a:picLocks noChangeAspect="1"/>
          </p:cNvPicPr>
          <p:nvPr/>
        </p:nvPicPr>
        <p:blipFill>
          <a:blip r:embed="rId7"/>
          <a:srcRect l="0" r="0" t="0" b="0"/>
          <a:stretch/>
        </p:blipFill>
        <p:spPr>
          <a:xfrm>
            <a:off x="7704455" y="2205360"/>
            <a:ext cx="247650" cy="247650"/>
          </a:xfrm>
          <a:prstGeom prst="rect">
            <a:avLst/>
          </a:prstGeom>
        </p:spPr>
      </p:pic>
      <p:sp>
        <p:nvSpPr>
          <p:cNvPr id="25" name="Text 16"/>
          <p:cNvSpPr/>
          <p:nvPr/>
        </p:nvSpPr>
        <p:spPr>
          <a:xfrm>
            <a:off x="7586980" y="2646685"/>
            <a:ext cx="1463040" cy="551180"/>
          </a:xfrm>
          <a:prstGeom prst="rect">
            <a:avLst/>
          </a:prstGeom>
          <a:noFill/>
          <a:ln/>
        </p:spPr>
        <p:txBody>
          <a:bodyPr wrap="square" lIns="0" tIns="0" rIns="0" bIns="0" rtlCol="0" anchor="t">
            <a:normAutofit/>
          </a:bodyPr>
          <a:lstStyle/>
          <a:p>
            <a:pPr algn="l" indent="0" marL="0">
              <a:lnSpc>
                <a:spcPts val="2070"/>
              </a:lnSpc>
              <a:buNone/>
            </a:pPr>
            <a:r>
              <a:rPr lang="en-US" sz="1800" b="1" dirty="0">
                <a:solidFill>
                  <a:srgbClr val="1F2A44"/>
                </a:solidFill>
                <a:latin typeface="Georgia" pitchFamily="18" charset="0"/>
                <a:ea typeface="Georgia" pitchFamily="18" charset="-122"/>
                <a:cs typeface="Georgia" pitchFamily="18" charset="-120"/>
              </a:rPr>
              <a:t>Evidence system</a:t>
            </a:r>
            <a:endParaRPr lang="en-US" sz="1800" dirty="0"/>
          </a:p>
        </p:txBody>
      </p:sp>
      <p:sp>
        <p:nvSpPr>
          <p:cNvPr id="26" name="Text 17"/>
          <p:cNvSpPr/>
          <p:nvPr/>
        </p:nvSpPr>
        <p:spPr>
          <a:xfrm>
            <a:off x="7586980" y="3248658"/>
            <a:ext cx="1463040" cy="5537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3F4A5E"/>
                </a:solidFill>
                <a:latin typeface="Arial" pitchFamily="34" charset="0"/>
                <a:ea typeface="Arial" pitchFamily="34" charset="-122"/>
                <a:cs typeface="Arial" pitchFamily="34" charset="-120"/>
              </a:rPr>
              <a:t>Combines all clinics</a:t>
            </a:r>
            <a:endParaRPr lang="en-US" sz="1600" dirty="0"/>
          </a:p>
        </p:txBody>
      </p:sp>
      <p:pic>
        <p:nvPicPr>
          <p:cNvPr id="27" name="Image 7" descr="connector">    </p:cNvPr>
          <p:cNvPicPr>
            <a:picLocks noChangeAspect="1"/>
          </p:cNvPicPr>
          <p:nvPr/>
        </p:nvPicPr>
        <p:blipFill>
          <a:blip r:embed="rId8"/>
          <a:srcRect l="0" r="0" t="0" b="0"/>
          <a:stretch/>
        </p:blipFill>
        <p:spPr>
          <a:xfrm>
            <a:off x="9144000" y="3035300"/>
            <a:ext cx="495300" cy="152400"/>
          </a:xfrm>
          <a:prstGeom prst="rect">
            <a:avLst/>
          </a:prstGeom>
        </p:spPr>
      </p:pic>
      <p:sp>
        <p:nvSpPr>
          <p:cNvPr id="28" name="Shape 18"/>
          <p:cNvSpPr/>
          <p:nvPr/>
        </p:nvSpPr>
        <p:spPr>
          <a:xfrm>
            <a:off x="9604375" y="1908175"/>
            <a:ext cx="1771650" cy="2406650"/>
          </a:xfrm>
          <a:prstGeom prst="roundRect">
            <a:avLst>
              <a:gd name="adj" fmla="val 8423"/>
            </a:avLst>
          </a:prstGeom>
          <a:solidFill>
            <a:srgbClr val="5B47D6"/>
          </a:solidFill>
          <a:ln w="6350">
            <a:solidFill>
              <a:srgbClr val="5B47D6"/>
            </a:solidFill>
            <a:prstDash val="solid"/>
          </a:ln>
        </p:spPr>
      </p:sp>
      <p:sp>
        <p:nvSpPr>
          <p:cNvPr id="29" name="Shape 19"/>
          <p:cNvSpPr/>
          <p:nvPr/>
        </p:nvSpPr>
        <p:spPr>
          <a:xfrm>
            <a:off x="9784080" y="2087885"/>
            <a:ext cx="482600" cy="482600"/>
          </a:xfrm>
          <a:prstGeom prst="roundRect">
            <a:avLst>
              <a:gd name="adj" fmla="val 50000"/>
            </a:avLst>
          </a:prstGeom>
          <a:solidFill>
            <a:srgbClr val="F2A65A"/>
          </a:solidFill>
          <a:ln/>
        </p:spPr>
      </p:sp>
      <p:pic>
        <p:nvPicPr>
          <p:cNvPr id="30" name="Image 8" descr="Star">    </p:cNvPr>
          <p:cNvPicPr>
            <a:picLocks noChangeAspect="1"/>
          </p:cNvPicPr>
          <p:nvPr/>
        </p:nvPicPr>
        <p:blipFill>
          <a:blip r:embed="rId9"/>
          <a:srcRect l="0" r="0" t="0" b="0"/>
          <a:stretch/>
        </p:blipFill>
        <p:spPr>
          <a:xfrm>
            <a:off x="9901555" y="2205360"/>
            <a:ext cx="247650" cy="247650"/>
          </a:xfrm>
          <a:prstGeom prst="rect">
            <a:avLst/>
          </a:prstGeom>
        </p:spPr>
      </p:pic>
      <p:sp>
        <p:nvSpPr>
          <p:cNvPr id="31" name="Text 20"/>
          <p:cNvSpPr/>
          <p:nvPr/>
        </p:nvSpPr>
        <p:spPr>
          <a:xfrm>
            <a:off x="9784080" y="2646685"/>
            <a:ext cx="1463040" cy="830739"/>
          </a:xfrm>
          <a:prstGeom prst="rect">
            <a:avLst/>
          </a:prstGeom>
          <a:noFill/>
          <a:ln/>
        </p:spPr>
        <p:txBody>
          <a:bodyPr wrap="square" lIns="0" tIns="0" rIns="0" bIns="0" rtlCol="0" anchor="t">
            <a:normAutofit/>
          </a:bodyPr>
          <a:lstStyle/>
          <a:p>
            <a:pPr algn="l" indent="0" marL="0">
              <a:lnSpc>
                <a:spcPts val="1863"/>
              </a:lnSpc>
              <a:buNone/>
            </a:pPr>
            <a:r>
              <a:rPr lang="en-US" sz="1620" b="1" dirty="0">
                <a:solidFill>
                  <a:srgbClr val="FAF7F2"/>
                </a:solidFill>
                <a:latin typeface="Georgia" pitchFamily="18" charset="0"/>
                <a:ea typeface="Georgia" pitchFamily="18" charset="-122"/>
                <a:cs typeface="Georgia" pitchFamily="18" charset="-120"/>
              </a:rPr>
              <a:t>Rankings and Outcome labels</a:t>
            </a:r>
            <a:endParaRPr lang="en-US" sz="1620" dirty="0"/>
          </a:p>
        </p:txBody>
      </p:sp>
      <p:sp>
        <p:nvSpPr>
          <p:cNvPr id="32" name="Text 21"/>
          <p:cNvSpPr/>
          <p:nvPr/>
        </p:nvSpPr>
        <p:spPr>
          <a:xfrm>
            <a:off x="9784080" y="3528219"/>
            <a:ext cx="1463040" cy="632301"/>
          </a:xfrm>
          <a:prstGeom prst="rect">
            <a:avLst/>
          </a:prstGeom>
          <a:noFill/>
          <a:ln/>
        </p:spPr>
        <p:txBody>
          <a:bodyPr wrap="square" lIns="0" tIns="0" rIns="0" bIns="0" rtlCol="0" anchor="t">
            <a:normAutofit/>
          </a:bodyPr>
          <a:lstStyle/>
          <a:p>
            <a:pPr algn="l" indent="0" marL="0">
              <a:lnSpc>
                <a:spcPts val="1827"/>
              </a:lnSpc>
              <a:buNone/>
            </a:pPr>
            <a:r>
              <a:rPr lang="en-US" sz="1405" dirty="0">
                <a:solidFill>
                  <a:srgbClr val="E4E0FA"/>
                </a:solidFill>
                <a:latin typeface="Arial" pitchFamily="34" charset="0"/>
                <a:ea typeface="Arial" pitchFamily="34" charset="-122"/>
                <a:cs typeface="Arial" pitchFamily="34" charset="-120"/>
              </a:rPr>
              <a:t>Compare benefits and harms</a:t>
            </a:r>
            <a:endParaRPr lang="en-US" sz="1405" dirty="0"/>
          </a:p>
        </p:txBody>
      </p:sp>
      <p:pic>
        <p:nvPicPr>
          <p:cNvPr id="33" name="Image 9" descr="connector">    </p:cNvPr>
          <p:cNvPicPr>
            <a:picLocks noChangeAspect="1"/>
          </p:cNvPicPr>
          <p:nvPr/>
        </p:nvPicPr>
        <p:blipFill>
          <a:blip r:embed="rId10"/>
          <a:srcRect l="0" r="0" t="0" b="0"/>
          <a:stretch/>
        </p:blipFill>
        <p:spPr>
          <a:xfrm>
            <a:off x="1625600" y="4267200"/>
            <a:ext cx="8940800" cy="508000"/>
          </a:xfrm>
          <a:prstGeom prst="rect">
            <a:avLst/>
          </a:prstGeom>
        </p:spPr>
      </p:pic>
      <p:pic>
        <p:nvPicPr>
          <p:cNvPr id="34" name="Image 10" descr="connector">    </p:cNvPr>
          <p:cNvPicPr>
            <a:picLocks noChangeAspect="1"/>
          </p:cNvPicPr>
          <p:nvPr/>
        </p:nvPicPr>
        <p:blipFill>
          <a:blip r:embed="rId11"/>
          <a:srcRect l="0" r="0" t="0" b="0"/>
          <a:stretch/>
        </p:blipFill>
        <p:spPr>
          <a:xfrm>
            <a:off x="1625600" y="4267200"/>
            <a:ext cx="152400" cy="508000"/>
          </a:xfrm>
          <a:prstGeom prst="rect">
            <a:avLst/>
          </a:prstGeom>
        </p:spPr>
      </p:pic>
      <p:sp>
        <p:nvSpPr>
          <p:cNvPr id="35" name="Text 22"/>
          <p:cNvSpPr/>
          <p:nvPr/>
        </p:nvSpPr>
        <p:spPr>
          <a:xfrm>
            <a:off x="2825750" y="4775200"/>
            <a:ext cx="6540500" cy="345440"/>
          </a:xfrm>
          <a:prstGeom prst="rect">
            <a:avLst/>
          </a:prstGeom>
          <a:noFill/>
          <a:ln/>
        </p:spPr>
        <p:txBody>
          <a:bodyPr wrap="square" lIns="0" tIns="0" rIns="0" bIns="0" rtlCol="0" anchor="t">
            <a:normAutofit/>
          </a:bodyPr>
          <a:lstStyle/>
          <a:p>
            <a:pPr algn="ctr" indent="0" marL="0">
              <a:lnSpc>
                <a:spcPts val="2520"/>
              </a:lnSpc>
              <a:buNone/>
            </a:pPr>
            <a:r>
              <a:rPr lang="en-US" sz="1800" b="1" dirty="0">
                <a:solidFill>
                  <a:srgbClr val="A64E16"/>
                </a:solidFill>
                <a:latin typeface="Arial" pitchFamily="34" charset="0"/>
                <a:ea typeface="Arial" pitchFamily="34" charset="-122"/>
                <a:cs typeface="Arial" pitchFamily="34" charset="-120"/>
              </a:rPr>
              <a:t>Her result improve the next patient's decision</a:t>
            </a:r>
            <a:endParaRPr lang="en-US" sz="1800" dirty="0"/>
          </a:p>
        </p:txBody>
      </p:sp>
      <p:sp>
        <p:nvSpPr>
          <p:cNvPr id="36" name="Text 23"/>
          <p:cNvSpPr/>
          <p:nvPr/>
        </p:nvSpPr>
        <p:spPr>
          <a:xfrm>
            <a:off x="812800" y="5270500"/>
            <a:ext cx="10883392"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3F4A5E"/>
                </a:solidFill>
                <a:latin typeface="Arial" pitchFamily="34" charset="0"/>
                <a:ea typeface="Arial" pitchFamily="34" charset="-122"/>
                <a:cs typeface="Arial" pitchFamily="34" charset="-120"/>
              </a:rPr>
              <a:t>Every clinic reports in one open format, so any evidence system can combine the results.</a:t>
            </a:r>
            <a:endParaRPr 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5B47D6"/>
                </a:solidFill>
                <a:latin typeface="Arial" pitchFamily="34" charset="0"/>
                <a:ea typeface="Arial" pitchFamily="34" charset="-122"/>
                <a:cs typeface="Arial" pitchFamily="34" charset="-120"/>
              </a:rPr>
              <a:t>MARGARET'S FIRST YEAR</a:t>
            </a:r>
            <a:endParaRPr lang="en-US" sz="1400" dirty="0"/>
          </a:p>
        </p:txBody>
      </p:sp>
      <p:sp>
        <p:nvSpPr>
          <p:cNvPr id="3" name="Text 1"/>
          <p:cNvSpPr/>
          <p:nvPr/>
        </p:nvSpPr>
        <p:spPr>
          <a:xfrm>
            <a:off x="812800" y="1137927"/>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F2A44"/>
                </a:solidFill>
                <a:latin typeface="Georgia" pitchFamily="18" charset="0"/>
                <a:ea typeface="Georgia" pitchFamily="18" charset="-122"/>
                <a:cs typeface="Georgia" pitchFamily="18" charset="-120"/>
              </a:rPr>
              <a:t>One patient's path, start to finish</a:t>
            </a:r>
            <a:endParaRPr lang="en-US" sz="3200" dirty="0"/>
          </a:p>
        </p:txBody>
      </p:sp>
      <p:sp>
        <p:nvSpPr>
          <p:cNvPr id="4" name="Shape 2"/>
          <p:cNvSpPr/>
          <p:nvPr/>
        </p:nvSpPr>
        <p:spPr>
          <a:xfrm>
            <a:off x="812800" y="1878335"/>
            <a:ext cx="1761014" cy="0"/>
          </a:xfrm>
          <a:prstGeom prst="line">
            <a:avLst/>
          </a:prstGeom>
          <a:noFill/>
          <a:ln w="38100">
            <a:solidFill>
              <a:srgbClr val="5B47D6"/>
            </a:solidFill>
            <a:prstDash val="solid"/>
          </a:ln>
        </p:spPr>
      </p:sp>
      <p:sp>
        <p:nvSpPr>
          <p:cNvPr id="5" name="Shape 3"/>
          <p:cNvSpPr/>
          <p:nvPr/>
        </p:nvSpPr>
        <p:spPr>
          <a:xfrm>
            <a:off x="812800" y="2047242"/>
            <a:ext cx="508000" cy="508000"/>
          </a:xfrm>
          <a:prstGeom prst="roundRect">
            <a:avLst>
              <a:gd name="adj" fmla="val 50000"/>
            </a:avLst>
          </a:prstGeom>
          <a:solidFill>
            <a:srgbClr val="ECE9FB"/>
          </a:solidFill>
          <a:ln/>
        </p:spPr>
      </p:sp>
      <p:pic>
        <p:nvPicPr>
          <p:cNvPr id="6" name="Image 0" descr="Search">    </p:cNvPr>
          <p:cNvPicPr>
            <a:picLocks noChangeAspect="1"/>
          </p:cNvPicPr>
          <p:nvPr/>
        </p:nvPicPr>
        <p:blipFill>
          <a:blip r:embed="rId1"/>
          <a:srcRect l="0" r="0" t="0" b="0"/>
          <a:stretch/>
        </p:blipFill>
        <p:spPr>
          <a:xfrm>
            <a:off x="936625" y="2171067"/>
            <a:ext cx="260350" cy="260350"/>
          </a:xfrm>
          <a:prstGeom prst="rect">
            <a:avLst/>
          </a:prstGeom>
        </p:spPr>
      </p:pic>
      <p:sp>
        <p:nvSpPr>
          <p:cNvPr id="7" name="Text 4"/>
          <p:cNvSpPr/>
          <p:nvPr/>
        </p:nvSpPr>
        <p:spPr>
          <a:xfrm>
            <a:off x="812800" y="2631442"/>
            <a:ext cx="1659414" cy="282575"/>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5B47D6"/>
                </a:solidFill>
                <a:latin typeface="Arial" pitchFamily="34" charset="0"/>
                <a:ea typeface="Arial" pitchFamily="34" charset="-122"/>
                <a:cs typeface="Arial" pitchFamily="34" charset="-120"/>
              </a:rPr>
              <a:t>Week 0</a:t>
            </a:r>
            <a:endParaRPr lang="en-US" sz="1500" dirty="0"/>
          </a:p>
        </p:txBody>
      </p:sp>
      <p:sp>
        <p:nvSpPr>
          <p:cNvPr id="8" name="Text 5"/>
          <p:cNvSpPr/>
          <p:nvPr/>
        </p:nvSpPr>
        <p:spPr>
          <a:xfrm>
            <a:off x="812800" y="2964817"/>
            <a:ext cx="1659414"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1F2A44"/>
                </a:solidFill>
                <a:latin typeface="Georgia" pitchFamily="18" charset="0"/>
                <a:ea typeface="Georgia" pitchFamily="18" charset="-122"/>
                <a:cs typeface="Georgia" pitchFamily="18" charset="-120"/>
              </a:rPr>
              <a:t>Explores</a:t>
            </a:r>
            <a:endParaRPr lang="en-US" sz="2000" dirty="0"/>
          </a:p>
        </p:txBody>
      </p:sp>
      <p:sp>
        <p:nvSpPr>
          <p:cNvPr id="9" name="Text 6"/>
          <p:cNvSpPr/>
          <p:nvPr/>
        </p:nvSpPr>
        <p:spPr>
          <a:xfrm>
            <a:off x="812800" y="3333117"/>
            <a:ext cx="1659414" cy="1191260"/>
          </a:xfrm>
          <a:prstGeom prst="rect">
            <a:avLst/>
          </a:prstGeom>
          <a:noFill/>
          <a:ln/>
        </p:spPr>
        <p:txBody>
          <a:bodyPr wrap="square" lIns="0" tIns="0" rIns="0" bIns="0" rtlCol="0" anchor="t">
            <a:normAutofit/>
          </a:bodyPr>
          <a:lstStyle/>
          <a:p>
            <a:pPr algn="l" indent="0" marL="0">
              <a:lnSpc>
                <a:spcPts val="2295"/>
              </a:lnSpc>
              <a:buNone/>
            </a:pPr>
            <a:r>
              <a:rPr lang="en-US" sz="1700" dirty="0">
                <a:solidFill>
                  <a:srgbClr val="3F4A5E"/>
                </a:solidFill>
                <a:latin typeface="Arial" pitchFamily="34" charset="0"/>
                <a:ea typeface="Arial" pitchFamily="34" charset="-122"/>
                <a:cs typeface="Arial" pitchFamily="34" charset="-120"/>
              </a:rPr>
              <a:t>Compares labels; video visit with her doctor.</a:t>
            </a:r>
            <a:endParaRPr lang="en-US" sz="1700" dirty="0"/>
          </a:p>
        </p:txBody>
      </p:sp>
      <p:sp>
        <p:nvSpPr>
          <p:cNvPr id="10" name="Shape 7"/>
          <p:cNvSpPr/>
          <p:nvPr/>
        </p:nvSpPr>
        <p:spPr>
          <a:xfrm>
            <a:off x="2573814" y="1878335"/>
            <a:ext cx="1761093" cy="0"/>
          </a:xfrm>
          <a:prstGeom prst="line">
            <a:avLst/>
          </a:prstGeom>
          <a:noFill/>
          <a:ln w="38100">
            <a:solidFill>
              <a:srgbClr val="5B47D6"/>
            </a:solidFill>
            <a:prstDash val="solid"/>
          </a:ln>
        </p:spPr>
      </p:sp>
      <p:sp>
        <p:nvSpPr>
          <p:cNvPr id="11" name="Shape 8"/>
          <p:cNvSpPr/>
          <p:nvPr/>
        </p:nvSpPr>
        <p:spPr>
          <a:xfrm>
            <a:off x="2573814" y="2047242"/>
            <a:ext cx="508000" cy="508000"/>
          </a:xfrm>
          <a:prstGeom prst="roundRect">
            <a:avLst>
              <a:gd name="adj" fmla="val 50000"/>
            </a:avLst>
          </a:prstGeom>
          <a:solidFill>
            <a:srgbClr val="ECE9FB"/>
          </a:solidFill>
          <a:ln/>
        </p:spPr>
      </p:sp>
      <p:pic>
        <p:nvPicPr>
          <p:cNvPr id="12" name="Image 1" descr="Book">    </p:cNvPr>
          <p:cNvPicPr>
            <a:picLocks noChangeAspect="1"/>
          </p:cNvPicPr>
          <p:nvPr/>
        </p:nvPicPr>
        <p:blipFill>
          <a:blip r:embed="rId2"/>
          <a:srcRect l="0" r="0" t="0" b="0"/>
          <a:stretch/>
        </p:blipFill>
        <p:spPr>
          <a:xfrm>
            <a:off x="2697639" y="2171067"/>
            <a:ext cx="260350" cy="260350"/>
          </a:xfrm>
          <a:prstGeom prst="rect">
            <a:avLst/>
          </a:prstGeom>
        </p:spPr>
      </p:pic>
      <p:sp>
        <p:nvSpPr>
          <p:cNvPr id="13" name="Text 9"/>
          <p:cNvSpPr/>
          <p:nvPr/>
        </p:nvSpPr>
        <p:spPr>
          <a:xfrm>
            <a:off x="2573814" y="2631442"/>
            <a:ext cx="1659493" cy="282575"/>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5B47D6"/>
                </a:solidFill>
                <a:latin typeface="Arial" pitchFamily="34" charset="0"/>
                <a:ea typeface="Arial" pitchFamily="34" charset="-122"/>
                <a:cs typeface="Arial" pitchFamily="34" charset="-120"/>
              </a:rPr>
              <a:t>Week 1</a:t>
            </a:r>
            <a:endParaRPr lang="en-US" sz="1500" dirty="0"/>
          </a:p>
        </p:txBody>
      </p:sp>
      <p:sp>
        <p:nvSpPr>
          <p:cNvPr id="14" name="Text 10"/>
          <p:cNvSpPr/>
          <p:nvPr/>
        </p:nvSpPr>
        <p:spPr>
          <a:xfrm>
            <a:off x="2573814" y="2964817"/>
            <a:ext cx="1659493"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1F2A44"/>
                </a:solidFill>
                <a:latin typeface="Georgia" pitchFamily="18" charset="0"/>
                <a:ea typeface="Georgia" pitchFamily="18" charset="-122"/>
                <a:cs typeface="Georgia" pitchFamily="18" charset="-120"/>
              </a:rPr>
              <a:t>Consents</a:t>
            </a:r>
            <a:endParaRPr lang="en-US" sz="2000" dirty="0"/>
          </a:p>
        </p:txBody>
      </p:sp>
      <p:sp>
        <p:nvSpPr>
          <p:cNvPr id="15" name="Text 11"/>
          <p:cNvSpPr/>
          <p:nvPr/>
        </p:nvSpPr>
        <p:spPr>
          <a:xfrm>
            <a:off x="2573814" y="3333117"/>
            <a:ext cx="1659493" cy="899795"/>
          </a:xfrm>
          <a:prstGeom prst="rect">
            <a:avLst/>
          </a:prstGeom>
          <a:noFill/>
          <a:ln/>
        </p:spPr>
        <p:txBody>
          <a:bodyPr wrap="square" lIns="0" tIns="0" rIns="0" bIns="0" rtlCol="0" anchor="t">
            <a:normAutofit/>
          </a:bodyPr>
          <a:lstStyle/>
          <a:p>
            <a:pPr algn="l" indent="0" marL="0">
              <a:lnSpc>
                <a:spcPts val="2295"/>
              </a:lnSpc>
              <a:buNone/>
            </a:pPr>
            <a:r>
              <a:rPr lang="en-US" sz="1700" dirty="0">
                <a:solidFill>
                  <a:srgbClr val="3F4A5E"/>
                </a:solidFill>
                <a:latin typeface="Arial" pitchFamily="34" charset="0"/>
                <a:ea typeface="Arial" pitchFamily="34" charset="-122"/>
                <a:cs typeface="Arial" pitchFamily="34" charset="-120"/>
              </a:rPr>
              <a:t>Signs the form; a charity helps pay.</a:t>
            </a:r>
            <a:endParaRPr lang="en-US" sz="1700" dirty="0"/>
          </a:p>
        </p:txBody>
      </p:sp>
      <p:sp>
        <p:nvSpPr>
          <p:cNvPr id="16" name="Shape 12"/>
          <p:cNvSpPr/>
          <p:nvPr/>
        </p:nvSpPr>
        <p:spPr>
          <a:xfrm>
            <a:off x="4334907" y="1878335"/>
            <a:ext cx="1761014" cy="0"/>
          </a:xfrm>
          <a:prstGeom prst="line">
            <a:avLst/>
          </a:prstGeom>
          <a:noFill/>
          <a:ln w="38100">
            <a:solidFill>
              <a:srgbClr val="5B47D6"/>
            </a:solidFill>
            <a:prstDash val="solid"/>
          </a:ln>
        </p:spPr>
      </p:sp>
      <p:sp>
        <p:nvSpPr>
          <p:cNvPr id="17" name="Shape 13"/>
          <p:cNvSpPr/>
          <p:nvPr/>
        </p:nvSpPr>
        <p:spPr>
          <a:xfrm>
            <a:off x="4334907" y="2047242"/>
            <a:ext cx="508000" cy="508000"/>
          </a:xfrm>
          <a:prstGeom prst="roundRect">
            <a:avLst>
              <a:gd name="adj" fmla="val 50000"/>
            </a:avLst>
          </a:prstGeom>
          <a:solidFill>
            <a:srgbClr val="ECE9FB"/>
          </a:solidFill>
          <a:ln/>
        </p:spPr>
      </p:sp>
      <p:pic>
        <p:nvPicPr>
          <p:cNvPr id="18" name="Image 2" descr="Activity">    </p:cNvPr>
          <p:cNvPicPr>
            <a:picLocks noChangeAspect="1"/>
          </p:cNvPicPr>
          <p:nvPr/>
        </p:nvPicPr>
        <p:blipFill>
          <a:blip r:embed="rId3"/>
          <a:srcRect l="0" r="0" t="0" b="0"/>
          <a:stretch/>
        </p:blipFill>
        <p:spPr>
          <a:xfrm>
            <a:off x="4458732" y="2171067"/>
            <a:ext cx="260350" cy="260350"/>
          </a:xfrm>
          <a:prstGeom prst="rect">
            <a:avLst/>
          </a:prstGeom>
        </p:spPr>
      </p:pic>
      <p:sp>
        <p:nvSpPr>
          <p:cNvPr id="19" name="Text 14"/>
          <p:cNvSpPr/>
          <p:nvPr/>
        </p:nvSpPr>
        <p:spPr>
          <a:xfrm>
            <a:off x="4334907" y="2631442"/>
            <a:ext cx="1659414" cy="282575"/>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5B47D6"/>
                </a:solidFill>
                <a:latin typeface="Arial" pitchFamily="34" charset="0"/>
                <a:ea typeface="Arial" pitchFamily="34" charset="-122"/>
                <a:cs typeface="Arial" pitchFamily="34" charset="-120"/>
              </a:rPr>
              <a:t>Week 2</a:t>
            </a:r>
            <a:endParaRPr lang="en-US" sz="1500" dirty="0"/>
          </a:p>
        </p:txBody>
      </p:sp>
      <p:sp>
        <p:nvSpPr>
          <p:cNvPr id="20" name="Text 15"/>
          <p:cNvSpPr/>
          <p:nvPr/>
        </p:nvSpPr>
        <p:spPr>
          <a:xfrm>
            <a:off x="4334907" y="2964817"/>
            <a:ext cx="1659414"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1F2A44"/>
                </a:solidFill>
                <a:latin typeface="Georgia" pitchFamily="18" charset="0"/>
                <a:ea typeface="Georgia" pitchFamily="18" charset="-122"/>
                <a:cs typeface="Georgia" pitchFamily="18" charset="-120"/>
              </a:rPr>
              <a:t>First dose</a:t>
            </a:r>
            <a:endParaRPr lang="en-US" sz="2000" dirty="0"/>
          </a:p>
        </p:txBody>
      </p:sp>
      <p:sp>
        <p:nvSpPr>
          <p:cNvPr id="21" name="Text 16"/>
          <p:cNvSpPr/>
          <p:nvPr/>
        </p:nvSpPr>
        <p:spPr>
          <a:xfrm>
            <a:off x="4334907" y="3333117"/>
            <a:ext cx="1659414" cy="608330"/>
          </a:xfrm>
          <a:prstGeom prst="rect">
            <a:avLst/>
          </a:prstGeom>
          <a:noFill/>
          <a:ln/>
        </p:spPr>
        <p:txBody>
          <a:bodyPr wrap="square" lIns="0" tIns="0" rIns="0" bIns="0" rtlCol="0" anchor="t">
            <a:normAutofit/>
          </a:bodyPr>
          <a:lstStyle/>
          <a:p>
            <a:pPr algn="l" indent="0" marL="0">
              <a:lnSpc>
                <a:spcPts val="2295"/>
              </a:lnSpc>
              <a:buNone/>
            </a:pPr>
            <a:r>
              <a:rPr lang="en-US" sz="1700" dirty="0">
                <a:solidFill>
                  <a:srgbClr val="3F4A5E"/>
                </a:solidFill>
                <a:latin typeface="Arial" pitchFamily="34" charset="0"/>
                <a:ea typeface="Arial" pitchFamily="34" charset="-122"/>
                <a:cs typeface="Arial" pitchFamily="34" charset="-120"/>
              </a:rPr>
              <a:t>At a clinic near home.</a:t>
            </a:r>
            <a:endParaRPr lang="en-US" sz="1700" dirty="0"/>
          </a:p>
        </p:txBody>
      </p:sp>
      <p:sp>
        <p:nvSpPr>
          <p:cNvPr id="22" name="Shape 17"/>
          <p:cNvSpPr/>
          <p:nvPr/>
        </p:nvSpPr>
        <p:spPr>
          <a:xfrm>
            <a:off x="6095921" y="1878335"/>
            <a:ext cx="1761093" cy="0"/>
          </a:xfrm>
          <a:prstGeom prst="line">
            <a:avLst/>
          </a:prstGeom>
          <a:noFill/>
          <a:ln w="38100">
            <a:solidFill>
              <a:srgbClr val="5B47D6"/>
            </a:solidFill>
            <a:prstDash val="solid"/>
          </a:ln>
        </p:spPr>
      </p:sp>
      <p:sp>
        <p:nvSpPr>
          <p:cNvPr id="23" name="Shape 18"/>
          <p:cNvSpPr/>
          <p:nvPr/>
        </p:nvSpPr>
        <p:spPr>
          <a:xfrm>
            <a:off x="6095921" y="2047242"/>
            <a:ext cx="508000" cy="508000"/>
          </a:xfrm>
          <a:prstGeom prst="roundRect">
            <a:avLst>
              <a:gd name="adj" fmla="val 50000"/>
            </a:avLst>
          </a:prstGeom>
          <a:solidFill>
            <a:srgbClr val="ECE9FB"/>
          </a:solidFill>
          <a:ln/>
        </p:spPr>
      </p:sp>
      <p:pic>
        <p:nvPicPr>
          <p:cNvPr id="24" name="Image 3" descr="Clock">    </p:cNvPr>
          <p:cNvPicPr>
            <a:picLocks noChangeAspect="1"/>
          </p:cNvPicPr>
          <p:nvPr/>
        </p:nvPicPr>
        <p:blipFill>
          <a:blip r:embed="rId4"/>
          <a:srcRect l="0" r="0" t="0" b="0"/>
          <a:stretch/>
        </p:blipFill>
        <p:spPr>
          <a:xfrm>
            <a:off x="6219746" y="2171067"/>
            <a:ext cx="260350" cy="260350"/>
          </a:xfrm>
          <a:prstGeom prst="rect">
            <a:avLst/>
          </a:prstGeom>
        </p:spPr>
      </p:pic>
      <p:sp>
        <p:nvSpPr>
          <p:cNvPr id="25" name="Text 19"/>
          <p:cNvSpPr/>
          <p:nvPr/>
        </p:nvSpPr>
        <p:spPr>
          <a:xfrm>
            <a:off x="6095921" y="2631442"/>
            <a:ext cx="1659493" cy="282575"/>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5B47D6"/>
                </a:solidFill>
                <a:latin typeface="Arial" pitchFamily="34" charset="0"/>
                <a:ea typeface="Arial" pitchFamily="34" charset="-122"/>
                <a:cs typeface="Arial" pitchFamily="34" charset="-120"/>
              </a:rPr>
              <a:t>Months 1-6</a:t>
            </a:r>
            <a:endParaRPr lang="en-US" sz="1500" dirty="0"/>
          </a:p>
        </p:txBody>
      </p:sp>
      <p:sp>
        <p:nvSpPr>
          <p:cNvPr id="26" name="Text 20"/>
          <p:cNvSpPr/>
          <p:nvPr/>
        </p:nvSpPr>
        <p:spPr>
          <a:xfrm>
            <a:off x="6095921" y="2964817"/>
            <a:ext cx="1659493"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1F2A44"/>
                </a:solidFill>
                <a:latin typeface="Georgia" pitchFamily="18" charset="0"/>
                <a:ea typeface="Georgia" pitchFamily="18" charset="-122"/>
                <a:cs typeface="Georgia" pitchFamily="18" charset="-120"/>
              </a:rPr>
              <a:t>Tracked</a:t>
            </a:r>
            <a:endParaRPr lang="en-US" sz="2000" dirty="0"/>
          </a:p>
        </p:txBody>
      </p:sp>
      <p:sp>
        <p:nvSpPr>
          <p:cNvPr id="27" name="Text 21"/>
          <p:cNvSpPr/>
          <p:nvPr/>
        </p:nvSpPr>
        <p:spPr>
          <a:xfrm>
            <a:off x="6095921" y="3333117"/>
            <a:ext cx="1659493" cy="899795"/>
          </a:xfrm>
          <a:prstGeom prst="rect">
            <a:avLst/>
          </a:prstGeom>
          <a:noFill/>
          <a:ln/>
        </p:spPr>
        <p:txBody>
          <a:bodyPr wrap="square" lIns="0" tIns="0" rIns="0" bIns="0" rtlCol="0" anchor="t">
            <a:normAutofit/>
          </a:bodyPr>
          <a:lstStyle/>
          <a:p>
            <a:pPr algn="l" indent="0" marL="0">
              <a:lnSpc>
                <a:spcPts val="2295"/>
              </a:lnSpc>
              <a:buNone/>
            </a:pPr>
            <a:r>
              <a:rPr lang="en-US" sz="1700" dirty="0">
                <a:solidFill>
                  <a:srgbClr val="3F4A5E"/>
                </a:solidFill>
                <a:latin typeface="Arial" pitchFamily="34" charset="0"/>
                <a:ea typeface="Arial" pitchFamily="34" charset="-122"/>
                <a:cs typeface="Arial" pitchFamily="34" charset="-120"/>
              </a:rPr>
              <a:t>Memory tests and phone check-ins.</a:t>
            </a:r>
            <a:endParaRPr lang="en-US" sz="1700" dirty="0"/>
          </a:p>
        </p:txBody>
      </p:sp>
      <p:sp>
        <p:nvSpPr>
          <p:cNvPr id="28" name="Shape 22"/>
          <p:cNvSpPr/>
          <p:nvPr/>
        </p:nvSpPr>
        <p:spPr>
          <a:xfrm>
            <a:off x="7857014" y="1878335"/>
            <a:ext cx="1761093" cy="0"/>
          </a:xfrm>
          <a:prstGeom prst="line">
            <a:avLst/>
          </a:prstGeom>
          <a:noFill/>
          <a:ln w="38100">
            <a:solidFill>
              <a:srgbClr val="5B47D6"/>
            </a:solidFill>
            <a:prstDash val="solid"/>
          </a:ln>
        </p:spPr>
      </p:sp>
      <p:sp>
        <p:nvSpPr>
          <p:cNvPr id="29" name="Shape 23"/>
          <p:cNvSpPr/>
          <p:nvPr/>
        </p:nvSpPr>
        <p:spPr>
          <a:xfrm>
            <a:off x="7857014" y="2047242"/>
            <a:ext cx="508000" cy="508000"/>
          </a:xfrm>
          <a:prstGeom prst="roundRect">
            <a:avLst>
              <a:gd name="adj" fmla="val 50000"/>
            </a:avLst>
          </a:prstGeom>
          <a:solidFill>
            <a:srgbClr val="ECE9FB"/>
          </a:solidFill>
          <a:ln/>
        </p:spPr>
      </p:sp>
      <p:pic>
        <p:nvPicPr>
          <p:cNvPr id="30" name="Image 4" descr="Chart">    </p:cNvPr>
          <p:cNvPicPr>
            <a:picLocks noChangeAspect="1"/>
          </p:cNvPicPr>
          <p:nvPr/>
        </p:nvPicPr>
        <p:blipFill>
          <a:blip r:embed="rId5"/>
          <a:srcRect l="0" r="0" t="0" b="0"/>
          <a:stretch/>
        </p:blipFill>
        <p:spPr>
          <a:xfrm>
            <a:off x="7980839" y="2171067"/>
            <a:ext cx="260350" cy="260350"/>
          </a:xfrm>
          <a:prstGeom prst="rect">
            <a:avLst/>
          </a:prstGeom>
        </p:spPr>
      </p:pic>
      <p:sp>
        <p:nvSpPr>
          <p:cNvPr id="31" name="Text 24"/>
          <p:cNvSpPr/>
          <p:nvPr/>
        </p:nvSpPr>
        <p:spPr>
          <a:xfrm>
            <a:off x="7857014" y="2631442"/>
            <a:ext cx="1659493" cy="282575"/>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5B47D6"/>
                </a:solidFill>
                <a:latin typeface="Arial" pitchFamily="34" charset="0"/>
                <a:ea typeface="Arial" pitchFamily="34" charset="-122"/>
                <a:cs typeface="Arial" pitchFamily="34" charset="-120"/>
              </a:rPr>
              <a:t>Month 6</a:t>
            </a:r>
            <a:endParaRPr lang="en-US" sz="1500" dirty="0"/>
          </a:p>
        </p:txBody>
      </p:sp>
      <p:sp>
        <p:nvSpPr>
          <p:cNvPr id="32" name="Text 25"/>
          <p:cNvSpPr/>
          <p:nvPr/>
        </p:nvSpPr>
        <p:spPr>
          <a:xfrm>
            <a:off x="7857014" y="2964817"/>
            <a:ext cx="1659493"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1F2A44"/>
                </a:solidFill>
                <a:latin typeface="Georgia" pitchFamily="18" charset="0"/>
                <a:ea typeface="Georgia" pitchFamily="18" charset="-122"/>
                <a:cs typeface="Georgia" pitchFamily="18" charset="-120"/>
              </a:rPr>
              <a:t>Recorded</a:t>
            </a:r>
            <a:endParaRPr lang="en-US" sz="2000" dirty="0"/>
          </a:p>
        </p:txBody>
      </p:sp>
      <p:sp>
        <p:nvSpPr>
          <p:cNvPr id="33" name="Text 26"/>
          <p:cNvSpPr/>
          <p:nvPr/>
        </p:nvSpPr>
        <p:spPr>
          <a:xfrm>
            <a:off x="7857014" y="3333117"/>
            <a:ext cx="1659493" cy="899795"/>
          </a:xfrm>
          <a:prstGeom prst="rect">
            <a:avLst/>
          </a:prstGeom>
          <a:noFill/>
          <a:ln/>
        </p:spPr>
        <p:txBody>
          <a:bodyPr wrap="square" lIns="0" tIns="0" rIns="0" bIns="0" rtlCol="0" anchor="t">
            <a:normAutofit/>
          </a:bodyPr>
          <a:lstStyle/>
          <a:p>
            <a:pPr algn="l" indent="0" marL="0">
              <a:lnSpc>
                <a:spcPts val="2295"/>
              </a:lnSpc>
              <a:buNone/>
            </a:pPr>
            <a:r>
              <a:rPr lang="en-US" sz="1700" dirty="0">
                <a:solidFill>
                  <a:srgbClr val="3F4A5E"/>
                </a:solidFill>
                <a:latin typeface="Arial" pitchFamily="34" charset="0"/>
                <a:ea typeface="Arial" pitchFamily="34" charset="-122"/>
                <a:cs typeface="Arial" pitchFamily="34" charset="-120"/>
              </a:rPr>
              <a:t>Coded outcome filed, good or bad.</a:t>
            </a:r>
            <a:endParaRPr lang="en-US" sz="1700" dirty="0"/>
          </a:p>
        </p:txBody>
      </p:sp>
      <p:sp>
        <p:nvSpPr>
          <p:cNvPr id="34" name="Shape 27"/>
          <p:cNvSpPr/>
          <p:nvPr/>
        </p:nvSpPr>
        <p:spPr>
          <a:xfrm>
            <a:off x="9618107" y="1878335"/>
            <a:ext cx="1761093" cy="0"/>
          </a:xfrm>
          <a:prstGeom prst="line">
            <a:avLst/>
          </a:prstGeom>
          <a:noFill/>
          <a:ln w="38100">
            <a:solidFill>
              <a:srgbClr val="F2A65A"/>
            </a:solidFill>
            <a:prstDash val="solid"/>
          </a:ln>
        </p:spPr>
      </p:sp>
      <p:sp>
        <p:nvSpPr>
          <p:cNvPr id="35" name="Shape 28"/>
          <p:cNvSpPr/>
          <p:nvPr/>
        </p:nvSpPr>
        <p:spPr>
          <a:xfrm>
            <a:off x="9618107" y="2047242"/>
            <a:ext cx="508000" cy="508000"/>
          </a:xfrm>
          <a:prstGeom prst="roundRect">
            <a:avLst>
              <a:gd name="adj" fmla="val 50000"/>
            </a:avLst>
          </a:prstGeom>
          <a:solidFill>
            <a:srgbClr val="F2A65A"/>
          </a:solidFill>
          <a:ln/>
        </p:spPr>
      </p:sp>
      <p:pic>
        <p:nvPicPr>
          <p:cNvPr id="36" name="Image 5" descr="Star">    </p:cNvPr>
          <p:cNvPicPr>
            <a:picLocks noChangeAspect="1"/>
          </p:cNvPicPr>
          <p:nvPr/>
        </p:nvPicPr>
        <p:blipFill>
          <a:blip r:embed="rId6"/>
          <a:srcRect l="0" r="0" t="0" b="0"/>
          <a:stretch/>
        </p:blipFill>
        <p:spPr>
          <a:xfrm>
            <a:off x="9741932" y="2171067"/>
            <a:ext cx="260350" cy="260350"/>
          </a:xfrm>
          <a:prstGeom prst="rect">
            <a:avLst/>
          </a:prstGeom>
        </p:spPr>
      </p:pic>
      <p:sp>
        <p:nvSpPr>
          <p:cNvPr id="37" name="Text 29"/>
          <p:cNvSpPr/>
          <p:nvPr/>
        </p:nvSpPr>
        <p:spPr>
          <a:xfrm>
            <a:off x="9618107" y="2631442"/>
            <a:ext cx="1659493" cy="282575"/>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A64E16"/>
                </a:solidFill>
                <a:latin typeface="Arial" pitchFamily="34" charset="0"/>
                <a:ea typeface="Arial" pitchFamily="34" charset="-122"/>
                <a:cs typeface="Arial" pitchFamily="34" charset="-120"/>
              </a:rPr>
              <a:t>Year 1</a:t>
            </a:r>
            <a:endParaRPr lang="en-US" sz="1500" dirty="0"/>
          </a:p>
        </p:txBody>
      </p:sp>
      <p:sp>
        <p:nvSpPr>
          <p:cNvPr id="38" name="Text 30"/>
          <p:cNvSpPr/>
          <p:nvPr/>
        </p:nvSpPr>
        <p:spPr>
          <a:xfrm>
            <a:off x="9618107" y="2964817"/>
            <a:ext cx="1659493" cy="6096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1F2A44"/>
                </a:solidFill>
                <a:latin typeface="Georgia" pitchFamily="18" charset="0"/>
                <a:ea typeface="Georgia" pitchFamily="18" charset="-122"/>
                <a:cs typeface="Georgia" pitchFamily="18" charset="-120"/>
              </a:rPr>
              <a:t>Label updated</a:t>
            </a:r>
            <a:endParaRPr lang="en-US" sz="2000" dirty="0"/>
          </a:p>
        </p:txBody>
      </p:sp>
      <p:sp>
        <p:nvSpPr>
          <p:cNvPr id="39" name="Text 31"/>
          <p:cNvSpPr/>
          <p:nvPr/>
        </p:nvSpPr>
        <p:spPr>
          <a:xfrm>
            <a:off x="9618107" y="3625217"/>
            <a:ext cx="1659493" cy="608330"/>
          </a:xfrm>
          <a:prstGeom prst="rect">
            <a:avLst/>
          </a:prstGeom>
          <a:noFill/>
          <a:ln/>
        </p:spPr>
        <p:txBody>
          <a:bodyPr wrap="square" lIns="0" tIns="0" rIns="0" bIns="0" rtlCol="0" anchor="t">
            <a:normAutofit/>
          </a:bodyPr>
          <a:lstStyle/>
          <a:p>
            <a:pPr algn="l" indent="0" marL="0">
              <a:lnSpc>
                <a:spcPts val="2295"/>
              </a:lnSpc>
              <a:buNone/>
            </a:pPr>
            <a:r>
              <a:rPr lang="en-US" sz="1700" dirty="0">
                <a:solidFill>
                  <a:srgbClr val="3F4A5E"/>
                </a:solidFill>
                <a:latin typeface="Arial" pitchFamily="34" charset="0"/>
                <a:ea typeface="Arial" pitchFamily="34" charset="-122"/>
                <a:cs typeface="Arial" pitchFamily="34" charset="-120"/>
              </a:rPr>
              <a:t>Her result joins the evidence.</a:t>
            </a:r>
            <a:endParaRPr lang="en-US" sz="1700" dirty="0"/>
          </a:p>
        </p:txBody>
      </p:sp>
      <p:pic>
        <p:nvPicPr>
          <p:cNvPr id="40" name="Image 6" descr="Illustration of Margaret">    </p:cNvPr>
          <p:cNvPicPr>
            <a:picLocks noChangeAspect="1"/>
          </p:cNvPicPr>
          <p:nvPr/>
        </p:nvPicPr>
        <p:blipFill>
          <a:blip r:embed="rId7"/>
          <a:srcRect l="0" r="0" t="0" b="0"/>
          <a:stretch/>
        </p:blipFill>
        <p:spPr>
          <a:xfrm>
            <a:off x="812800" y="5283200"/>
            <a:ext cx="762000" cy="762000"/>
          </a:xfrm>
          <a:prstGeom prst="rect">
            <a:avLst/>
          </a:prstGeom>
        </p:spPr>
      </p:pic>
      <p:sp>
        <p:nvSpPr>
          <p:cNvPr id="41" name="Text 32"/>
          <p:cNvSpPr/>
          <p:nvPr/>
        </p:nvSpPr>
        <p:spPr>
          <a:xfrm>
            <a:off x="1778000" y="5481638"/>
            <a:ext cx="10414000" cy="390525"/>
          </a:xfrm>
          <a:prstGeom prst="rect">
            <a:avLst/>
          </a:prstGeom>
          <a:noFill/>
          <a:ln/>
        </p:spPr>
        <p:txBody>
          <a:bodyPr wrap="square" lIns="0" tIns="0" rIns="0" bIns="0" rtlCol="0" anchor="t">
            <a:normAutofit/>
          </a:bodyPr>
          <a:lstStyle/>
          <a:p>
            <a:pPr algn="l" indent="0" marL="0">
              <a:lnSpc>
                <a:spcPts val="2875"/>
              </a:lnSpc>
              <a:buNone/>
            </a:pPr>
            <a:r>
              <a:rPr lang="en-US" sz="2300" i="1" dirty="0">
                <a:solidFill>
                  <a:srgbClr val="1F2A44"/>
                </a:solidFill>
                <a:latin typeface="Georgia" pitchFamily="18" charset="0"/>
                <a:ea typeface="Georgia" pitchFamily="18" charset="-122"/>
                <a:cs typeface="Georgia" pitchFamily="18" charset="-120"/>
              </a:rPr>
              <a:t>She didn't have to be dying to try. And the next patient learns from her.</a:t>
            </a:r>
            <a:endParaRPr lang="en-US" sz="2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800" y="812800"/>
            <a:ext cx="10883392" cy="274003"/>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5B47D6"/>
                </a:solidFill>
                <a:latin typeface="Arial" pitchFamily="34" charset="0"/>
                <a:ea typeface="Arial" pitchFamily="34" charset="-122"/>
                <a:cs typeface="Arial" pitchFamily="34" charset="-120"/>
              </a:rPr>
              <a:t>WHAT BECOMES POSSIBLE</a:t>
            </a:r>
            <a:endParaRPr lang="en-US" sz="1400" dirty="0"/>
          </a:p>
        </p:txBody>
      </p:sp>
      <p:sp>
        <p:nvSpPr>
          <p:cNvPr id="3" name="Text 1"/>
          <p:cNvSpPr/>
          <p:nvPr/>
        </p:nvSpPr>
        <p:spPr>
          <a:xfrm>
            <a:off x="812800" y="1137605"/>
            <a:ext cx="10883392" cy="958929"/>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F2A44"/>
                </a:solidFill>
                <a:latin typeface="Georgia" pitchFamily="18" charset="0"/>
                <a:ea typeface="Georgia" pitchFamily="18" charset="-122"/>
                <a:cs typeface="Georgia" pitchFamily="18" charset="-120"/>
              </a:rPr>
              <a:t>Every disease could have a treatment in 36 years, not 443</a:t>
            </a:r>
            <a:endParaRPr lang="en-US" sz="3200" dirty="0"/>
          </a:p>
        </p:txBody>
      </p:sp>
      <p:sp>
        <p:nvSpPr>
          <p:cNvPr id="4" name="Text 2"/>
          <p:cNvSpPr/>
          <p:nvPr/>
        </p:nvSpPr>
        <p:spPr>
          <a:xfrm>
            <a:off x="812800" y="2325129"/>
            <a:ext cx="10883392" cy="299403"/>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3F4A5E"/>
                </a:solidFill>
                <a:latin typeface="Arial" pitchFamily="34" charset="0"/>
                <a:ea typeface="Arial" pitchFamily="34" charset="-122"/>
                <a:cs typeface="Arial" pitchFamily="34" charset="-120"/>
              </a:rPr>
              <a:t>6,650 diseases have no treatment today. When does the last one get its first treatment?</a:t>
            </a:r>
            <a:endParaRPr lang="en-US" sz="1600" dirty="0"/>
          </a:p>
        </p:txBody>
      </p:sp>
      <p:sp>
        <p:nvSpPr>
          <p:cNvPr id="5" name="Text 3"/>
          <p:cNvSpPr/>
          <p:nvPr/>
        </p:nvSpPr>
        <p:spPr>
          <a:xfrm>
            <a:off x="812800" y="2852824"/>
            <a:ext cx="235458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F2A44"/>
                </a:solidFill>
                <a:latin typeface="Arial" pitchFamily="34" charset="0"/>
                <a:ea typeface="Arial" pitchFamily="34" charset="-122"/>
                <a:cs typeface="Arial" pitchFamily="34" charset="-120"/>
              </a:rPr>
              <a:t>At today's pace</a:t>
            </a:r>
            <a:endParaRPr lang="en-US" sz="1600" dirty="0"/>
          </a:p>
        </p:txBody>
      </p:sp>
      <p:sp>
        <p:nvSpPr>
          <p:cNvPr id="6" name="Text 4"/>
          <p:cNvSpPr/>
          <p:nvPr/>
        </p:nvSpPr>
        <p:spPr>
          <a:xfrm>
            <a:off x="812800" y="3119524"/>
            <a:ext cx="2354580"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626A7C"/>
                </a:solidFill>
                <a:latin typeface="Arial" pitchFamily="34" charset="0"/>
                <a:ea typeface="Arial" pitchFamily="34" charset="-122"/>
                <a:cs typeface="Arial" pitchFamily="34" charset="-120"/>
              </a:rPr>
              <a:t>15 diseases a year</a:t>
            </a:r>
            <a:endParaRPr lang="en-US" sz="1200" dirty="0"/>
          </a:p>
        </p:txBody>
      </p:sp>
      <p:sp>
        <p:nvSpPr>
          <p:cNvPr id="7" name="Shape 5"/>
          <p:cNvSpPr/>
          <p:nvPr/>
        </p:nvSpPr>
        <p:spPr>
          <a:xfrm>
            <a:off x="3251200" y="2885839"/>
            <a:ext cx="6350000" cy="406400"/>
          </a:xfrm>
          <a:prstGeom prst="roundRect">
            <a:avLst>
              <a:gd name="adj" fmla="val 12500"/>
            </a:avLst>
          </a:prstGeom>
          <a:solidFill>
            <a:srgbClr val="A9B1C4"/>
          </a:solidFill>
          <a:ln/>
        </p:spPr>
      </p:sp>
      <p:sp>
        <p:nvSpPr>
          <p:cNvPr id="8" name="Text 6"/>
          <p:cNvSpPr/>
          <p:nvPr/>
        </p:nvSpPr>
        <p:spPr>
          <a:xfrm>
            <a:off x="9728200" y="2929024"/>
            <a:ext cx="1806702" cy="345440"/>
          </a:xfrm>
          <a:prstGeom prst="rect">
            <a:avLst/>
          </a:prstGeom>
          <a:noFill/>
          <a:ln/>
        </p:spPr>
        <p:txBody>
          <a:bodyPr wrap="square" lIns="0" tIns="0" rIns="0" bIns="0" rtlCol="0" anchor="t">
            <a:normAutofit/>
          </a:bodyPr>
          <a:lstStyle/>
          <a:p>
            <a:pPr algn="l" indent="0" marL="0">
              <a:lnSpc>
                <a:spcPts val="2520"/>
              </a:lnSpc>
              <a:buNone/>
            </a:pPr>
            <a:r>
              <a:rPr lang="en-US" sz="2400" b="1" dirty="0">
                <a:solidFill>
                  <a:srgbClr val="3F4A5E"/>
                </a:solidFill>
                <a:latin typeface="Georgia" pitchFamily="18" charset="0"/>
                <a:ea typeface="Georgia" pitchFamily="18" charset="-122"/>
                <a:cs typeface="Georgia" pitchFamily="18" charset="-120"/>
              </a:rPr>
              <a:t>443 years</a:t>
            </a:r>
            <a:endParaRPr lang="en-US" sz="2400" dirty="0"/>
          </a:p>
        </p:txBody>
      </p:sp>
      <p:sp>
        <p:nvSpPr>
          <p:cNvPr id="9" name="Text 7"/>
          <p:cNvSpPr/>
          <p:nvPr/>
        </p:nvSpPr>
        <p:spPr>
          <a:xfrm>
            <a:off x="812800" y="3477022"/>
            <a:ext cx="235458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F2A44"/>
                </a:solidFill>
                <a:latin typeface="Arial" pitchFamily="34" charset="0"/>
                <a:ea typeface="Arial" pitchFamily="34" charset="-122"/>
                <a:cs typeface="Arial" pitchFamily="34" charset="-120"/>
              </a:rPr>
              <a:t>With the system</a:t>
            </a:r>
            <a:endParaRPr lang="en-US" sz="1600" dirty="0"/>
          </a:p>
        </p:txBody>
      </p:sp>
      <p:sp>
        <p:nvSpPr>
          <p:cNvPr id="10" name="Text 8"/>
          <p:cNvSpPr/>
          <p:nvPr/>
        </p:nvSpPr>
        <p:spPr>
          <a:xfrm>
            <a:off x="812800" y="3743722"/>
            <a:ext cx="2354580"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626A7C"/>
                </a:solidFill>
                <a:latin typeface="Arial" pitchFamily="34" charset="0"/>
                <a:ea typeface="Arial" pitchFamily="34" charset="-122"/>
                <a:cs typeface="Arial" pitchFamily="34" charset="-120"/>
              </a:rPr>
              <a:t>about 185 diseases a year</a:t>
            </a:r>
            <a:endParaRPr lang="en-US" sz="1200" dirty="0"/>
          </a:p>
        </p:txBody>
      </p:sp>
      <p:sp>
        <p:nvSpPr>
          <p:cNvPr id="11" name="Shape 9"/>
          <p:cNvSpPr/>
          <p:nvPr/>
        </p:nvSpPr>
        <p:spPr>
          <a:xfrm>
            <a:off x="3251200" y="3510049"/>
            <a:ext cx="514350" cy="406400"/>
          </a:xfrm>
          <a:prstGeom prst="roundRect">
            <a:avLst>
              <a:gd name="adj" fmla="val 12500"/>
            </a:avLst>
          </a:prstGeom>
          <a:solidFill>
            <a:srgbClr val="5B47D6"/>
          </a:solidFill>
          <a:ln/>
        </p:spPr>
      </p:sp>
      <p:sp>
        <p:nvSpPr>
          <p:cNvPr id="12" name="Text 10"/>
          <p:cNvSpPr/>
          <p:nvPr/>
        </p:nvSpPr>
        <p:spPr>
          <a:xfrm>
            <a:off x="3892550" y="3553222"/>
            <a:ext cx="1568672" cy="345440"/>
          </a:xfrm>
          <a:prstGeom prst="rect">
            <a:avLst/>
          </a:prstGeom>
          <a:noFill/>
          <a:ln/>
        </p:spPr>
        <p:txBody>
          <a:bodyPr wrap="square" lIns="0" tIns="0" rIns="0" bIns="0" rtlCol="0" anchor="t">
            <a:normAutofit/>
          </a:bodyPr>
          <a:lstStyle/>
          <a:p>
            <a:pPr algn="l" indent="0" marL="0">
              <a:lnSpc>
                <a:spcPts val="2520"/>
              </a:lnSpc>
              <a:buNone/>
            </a:pPr>
            <a:r>
              <a:rPr lang="en-US" sz="2400" b="1" dirty="0">
                <a:solidFill>
                  <a:srgbClr val="5B47D6"/>
                </a:solidFill>
                <a:latin typeface="Georgia" pitchFamily="18" charset="0"/>
                <a:ea typeface="Georgia" pitchFamily="18" charset="-122"/>
                <a:cs typeface="Georgia" pitchFamily="18" charset="-120"/>
              </a:rPr>
              <a:t>36 years</a:t>
            </a:r>
            <a:endParaRPr lang="en-US" sz="2400" dirty="0"/>
          </a:p>
        </p:txBody>
      </p:sp>
      <p:sp>
        <p:nvSpPr>
          <p:cNvPr id="13" name="Shape 11"/>
          <p:cNvSpPr/>
          <p:nvPr/>
        </p:nvSpPr>
        <p:spPr>
          <a:xfrm>
            <a:off x="815975" y="4206317"/>
            <a:ext cx="3380264" cy="1632506"/>
          </a:xfrm>
          <a:prstGeom prst="roundRect">
            <a:avLst>
              <a:gd name="adj" fmla="val 9141"/>
            </a:avLst>
          </a:prstGeom>
          <a:solidFill>
            <a:srgbClr val="FFFDF9"/>
          </a:solidFill>
          <a:ln w="6350">
            <a:solidFill>
              <a:srgbClr val="E4DED3"/>
            </a:solidFill>
            <a:prstDash val="solid"/>
          </a:ln>
        </p:spPr>
      </p:sp>
      <p:sp>
        <p:nvSpPr>
          <p:cNvPr id="14" name="Text 12"/>
          <p:cNvSpPr/>
          <p:nvPr/>
        </p:nvSpPr>
        <p:spPr>
          <a:xfrm>
            <a:off x="1021080" y="4411427"/>
            <a:ext cx="3059155"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5B47D6"/>
                </a:solidFill>
                <a:latin typeface="Georgia" pitchFamily="18" charset="0"/>
                <a:ea typeface="Georgia" pitchFamily="18" charset="-122"/>
                <a:cs typeface="Georgia" pitchFamily="18" charset="-120"/>
              </a:rPr>
              <a:t>12×</a:t>
            </a:r>
            <a:endParaRPr lang="en-US" sz="3200" dirty="0"/>
          </a:p>
        </p:txBody>
      </p:sp>
      <p:sp>
        <p:nvSpPr>
          <p:cNvPr id="15" name="Text 13"/>
          <p:cNvSpPr/>
          <p:nvPr/>
        </p:nvSpPr>
        <p:spPr>
          <a:xfrm>
            <a:off x="1021080" y="4896569"/>
            <a:ext cx="3059155"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F2A44"/>
                </a:solidFill>
                <a:latin typeface="Arial" pitchFamily="34" charset="0"/>
                <a:ea typeface="Arial" pitchFamily="34" charset="-122"/>
                <a:cs typeface="Arial" pitchFamily="34" charset="-120"/>
              </a:rPr>
              <a:t>more patients in trials</a:t>
            </a:r>
            <a:endParaRPr lang="en-US" sz="1500" dirty="0"/>
          </a:p>
        </p:txBody>
      </p:sp>
      <p:sp>
        <p:nvSpPr>
          <p:cNvPr id="16" name="Text 14"/>
          <p:cNvSpPr/>
          <p:nvPr/>
        </p:nvSpPr>
        <p:spPr>
          <a:xfrm>
            <a:off x="1021080" y="5182319"/>
            <a:ext cx="3059155"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626A7C"/>
                </a:solidFill>
                <a:latin typeface="Arial" pitchFamily="34" charset="0"/>
                <a:ea typeface="Arial" pitchFamily="34" charset="-122"/>
                <a:cs typeface="Arial" pitchFamily="34" charset="-120"/>
              </a:rPr>
              <a:t>1.9 million to 23 million a year</a:t>
            </a:r>
            <a:endParaRPr lang="en-US" sz="1200" dirty="0"/>
          </a:p>
        </p:txBody>
      </p:sp>
      <p:sp>
        <p:nvSpPr>
          <p:cNvPr id="17" name="Shape 15"/>
          <p:cNvSpPr/>
          <p:nvPr/>
        </p:nvSpPr>
        <p:spPr>
          <a:xfrm>
            <a:off x="4405789" y="4206317"/>
            <a:ext cx="3380343" cy="1632506"/>
          </a:xfrm>
          <a:prstGeom prst="roundRect">
            <a:avLst>
              <a:gd name="adj" fmla="val 9141"/>
            </a:avLst>
          </a:prstGeom>
          <a:solidFill>
            <a:srgbClr val="FFFDF9"/>
          </a:solidFill>
          <a:ln w="6350">
            <a:solidFill>
              <a:srgbClr val="E4DED3"/>
            </a:solidFill>
            <a:prstDash val="solid"/>
          </a:ln>
        </p:spPr>
      </p:sp>
      <p:sp>
        <p:nvSpPr>
          <p:cNvPr id="18" name="Text 16"/>
          <p:cNvSpPr/>
          <p:nvPr/>
        </p:nvSpPr>
        <p:spPr>
          <a:xfrm>
            <a:off x="4610894" y="4411427"/>
            <a:ext cx="3059237"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5B47D6"/>
                </a:solidFill>
                <a:latin typeface="Georgia" pitchFamily="18" charset="0"/>
                <a:ea typeface="Georgia" pitchFamily="18" charset="-122"/>
                <a:cs typeface="Georgia" pitchFamily="18" charset="-120"/>
              </a:rPr>
              <a:t>44×</a:t>
            </a:r>
            <a:endParaRPr lang="en-US" sz="3200" dirty="0"/>
          </a:p>
        </p:txBody>
      </p:sp>
      <p:sp>
        <p:nvSpPr>
          <p:cNvPr id="19" name="Text 17"/>
          <p:cNvSpPr/>
          <p:nvPr/>
        </p:nvSpPr>
        <p:spPr>
          <a:xfrm>
            <a:off x="4610894" y="4896569"/>
            <a:ext cx="3059237"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F2A44"/>
                </a:solidFill>
                <a:latin typeface="Arial" pitchFamily="34" charset="0"/>
                <a:ea typeface="Arial" pitchFamily="34" charset="-122"/>
                <a:cs typeface="Arial" pitchFamily="34" charset="-120"/>
              </a:rPr>
              <a:t>lower cost per patient</a:t>
            </a:r>
            <a:endParaRPr lang="en-US" sz="1500" dirty="0"/>
          </a:p>
        </p:txBody>
      </p:sp>
      <p:sp>
        <p:nvSpPr>
          <p:cNvPr id="20" name="Text 18"/>
          <p:cNvSpPr/>
          <p:nvPr/>
        </p:nvSpPr>
        <p:spPr>
          <a:xfrm>
            <a:off x="4610894" y="5182319"/>
            <a:ext cx="3059237"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626A7C"/>
                </a:solidFill>
                <a:latin typeface="Arial" pitchFamily="34" charset="0"/>
                <a:ea typeface="Arial" pitchFamily="34" charset="-122"/>
                <a:cs typeface="Arial" pitchFamily="34" charset="-120"/>
              </a:rPr>
              <a:t>$41,000 to under $1,000</a:t>
            </a:r>
            <a:endParaRPr lang="en-US" sz="1200" dirty="0"/>
          </a:p>
        </p:txBody>
      </p:sp>
      <p:sp>
        <p:nvSpPr>
          <p:cNvPr id="21" name="Shape 19"/>
          <p:cNvSpPr/>
          <p:nvPr/>
        </p:nvSpPr>
        <p:spPr>
          <a:xfrm>
            <a:off x="7995682" y="4206317"/>
            <a:ext cx="3380343" cy="1632506"/>
          </a:xfrm>
          <a:prstGeom prst="roundRect">
            <a:avLst>
              <a:gd name="adj" fmla="val 9141"/>
            </a:avLst>
          </a:prstGeom>
          <a:solidFill>
            <a:srgbClr val="FFFDF9"/>
          </a:solidFill>
          <a:ln w="6350">
            <a:solidFill>
              <a:srgbClr val="E4DED3"/>
            </a:solidFill>
            <a:prstDash val="solid"/>
          </a:ln>
        </p:spPr>
      </p:sp>
      <p:sp>
        <p:nvSpPr>
          <p:cNvPr id="22" name="Text 20"/>
          <p:cNvSpPr/>
          <p:nvPr/>
        </p:nvSpPr>
        <p:spPr>
          <a:xfrm>
            <a:off x="8200787" y="4411427"/>
            <a:ext cx="3059237" cy="471646"/>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5B47D6"/>
                </a:solidFill>
                <a:latin typeface="Georgia" pitchFamily="18" charset="0"/>
                <a:ea typeface="Georgia" pitchFamily="18" charset="-122"/>
                <a:cs typeface="Georgia" pitchFamily="18" charset="-120"/>
              </a:rPr>
              <a:t>8 years</a:t>
            </a:r>
            <a:endParaRPr lang="en-US" sz="3200" dirty="0"/>
          </a:p>
        </p:txBody>
      </p:sp>
      <p:sp>
        <p:nvSpPr>
          <p:cNvPr id="23" name="Text 21"/>
          <p:cNvSpPr/>
          <p:nvPr/>
        </p:nvSpPr>
        <p:spPr>
          <a:xfrm>
            <a:off x="8200787" y="4895776"/>
            <a:ext cx="3059237" cy="519827"/>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F2A44"/>
                </a:solidFill>
                <a:latin typeface="Arial" pitchFamily="34" charset="0"/>
                <a:ea typeface="Arial" pitchFamily="34" charset="-122"/>
                <a:cs typeface="Arial" pitchFamily="34" charset="-120"/>
              </a:rPr>
              <a:t>less waiting after safety tests</a:t>
            </a:r>
            <a:endParaRPr lang="en-US" sz="1500" dirty="0"/>
          </a:p>
        </p:txBody>
      </p:sp>
      <p:sp>
        <p:nvSpPr>
          <p:cNvPr id="24" name="Text 22"/>
          <p:cNvSpPr/>
          <p:nvPr/>
        </p:nvSpPr>
        <p:spPr>
          <a:xfrm>
            <a:off x="8200787" y="5428295"/>
            <a:ext cx="3059237" cy="230823"/>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626A7C"/>
                </a:solidFill>
                <a:latin typeface="Arial" pitchFamily="34" charset="0"/>
                <a:ea typeface="Arial" pitchFamily="34" charset="-122"/>
                <a:cs typeface="Arial" pitchFamily="34" charset="-120"/>
              </a:rPr>
              <a:t>available after board review</a:t>
            </a:r>
            <a:endParaRPr lang="en-US" sz="1200" dirty="0"/>
          </a:p>
        </p:txBody>
      </p:sp>
      <p:sp>
        <p:nvSpPr>
          <p:cNvPr id="25" name="Text 23"/>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26A7C"/>
                </a:solidFill>
                <a:latin typeface="Arial" pitchFamily="34" charset="0"/>
                <a:ea typeface="Arial" pitchFamily="34" charset="-122"/>
                <a:cs typeface="Arial" pitchFamily="34" charset="-120"/>
              </a:rPr>
              <a:t>Assumes 2% of willing patients join and discoveries rise with patients studied. Source: War on Disease manual, impact paper.</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800" y="812800"/>
            <a:ext cx="10883392" cy="248126"/>
          </a:xfrm>
          <a:prstGeom prst="rect">
            <a:avLst/>
          </a:prstGeom>
          <a:noFill/>
          <a:ln/>
        </p:spPr>
        <p:txBody>
          <a:bodyPr wrap="square" lIns="0" tIns="0" rIns="0" bIns="0" rtlCol="0" anchor="t">
            <a:normAutofit/>
          </a:bodyPr>
          <a:lstStyle/>
          <a:p>
            <a:pPr algn="l" indent="0" marL="0">
              <a:lnSpc>
                <a:spcPts val="1770"/>
              </a:lnSpc>
              <a:buNone/>
            </a:pPr>
            <a:r>
              <a:rPr lang="en-US" sz="1264" b="1" spc="150" kern="0" dirty="0">
                <a:solidFill>
                  <a:srgbClr val="5B47D6"/>
                </a:solidFill>
                <a:latin typeface="Arial" pitchFamily="34" charset="0"/>
                <a:ea typeface="Arial" pitchFamily="34" charset="-122"/>
                <a:cs typeface="Arial" pitchFamily="34" charset="-120"/>
              </a:rPr>
              <a:t>VALUE FOR MONEY</a:t>
            </a:r>
            <a:endParaRPr lang="en-US" sz="1264" dirty="0"/>
          </a:p>
        </p:txBody>
      </p:sp>
      <p:sp>
        <p:nvSpPr>
          <p:cNvPr id="3" name="Text 1"/>
          <p:cNvSpPr/>
          <p:nvPr/>
        </p:nvSpPr>
        <p:spPr>
          <a:xfrm>
            <a:off x="812800" y="1111734"/>
            <a:ext cx="10883392" cy="443547"/>
          </a:xfrm>
          <a:prstGeom prst="rect">
            <a:avLst/>
          </a:prstGeom>
          <a:noFill/>
          <a:ln/>
        </p:spPr>
        <p:txBody>
          <a:bodyPr wrap="square" lIns="0" tIns="0" rIns="0" bIns="0" rtlCol="0" anchor="t">
            <a:normAutofit/>
          </a:bodyPr>
          <a:lstStyle/>
          <a:p>
            <a:pPr algn="l" indent="0" marL="0">
              <a:lnSpc>
                <a:spcPts val="3323"/>
              </a:lnSpc>
              <a:buNone/>
            </a:pPr>
            <a:r>
              <a:rPr lang="en-US" sz="2890" b="1" dirty="0">
                <a:solidFill>
                  <a:srgbClr val="1F2A44"/>
                </a:solidFill>
                <a:latin typeface="Georgia" pitchFamily="18" charset="0"/>
                <a:ea typeface="Georgia" pitchFamily="18" charset="-122"/>
                <a:cs typeface="Georgia" pitchFamily="18" charset="-120"/>
              </a:rPr>
              <a:t>A year of healthy life for under $10</a:t>
            </a:r>
            <a:endParaRPr lang="en-US" sz="2890" dirty="0"/>
          </a:p>
        </p:txBody>
      </p:sp>
      <p:sp>
        <p:nvSpPr>
          <p:cNvPr id="4" name="Text 2"/>
          <p:cNvSpPr/>
          <p:nvPr/>
        </p:nvSpPr>
        <p:spPr>
          <a:xfrm>
            <a:off x="812800" y="1758479"/>
            <a:ext cx="10883392" cy="277733"/>
          </a:xfrm>
          <a:prstGeom prst="rect">
            <a:avLst/>
          </a:prstGeom>
          <a:noFill/>
          <a:ln/>
        </p:spPr>
        <p:txBody>
          <a:bodyPr wrap="square" lIns="0" tIns="0" rIns="0" bIns="0" rtlCol="0" anchor="t">
            <a:normAutofit/>
          </a:bodyPr>
          <a:lstStyle/>
          <a:p>
            <a:pPr algn="l" indent="0" marL="0">
              <a:lnSpc>
                <a:spcPts val="2024"/>
              </a:lnSpc>
              <a:buNone/>
            </a:pPr>
            <a:r>
              <a:rPr lang="en-US" sz="1557" b="1" dirty="0">
                <a:solidFill>
                  <a:srgbClr val="3F4A5E"/>
                </a:solidFill>
                <a:latin typeface="Arial" pitchFamily="34" charset="0"/>
                <a:ea typeface="Arial" pitchFamily="34" charset="-122"/>
                <a:cs typeface="Arial" pitchFamily="34" charset="-120"/>
              </a:rPr>
              <a:t>Cost per year of healthy life</a:t>
            </a:r>
            <a:endParaRPr lang="en-US" sz="1557" dirty="0"/>
          </a:p>
        </p:txBody>
      </p:sp>
      <p:sp>
        <p:nvSpPr>
          <p:cNvPr id="5" name="Shape 3"/>
          <p:cNvSpPr/>
          <p:nvPr/>
        </p:nvSpPr>
        <p:spPr>
          <a:xfrm>
            <a:off x="812800" y="2163204"/>
            <a:ext cx="3379867" cy="1957467"/>
          </a:xfrm>
          <a:prstGeom prst="roundRect">
            <a:avLst>
              <a:gd name="adj" fmla="val 7786"/>
            </a:avLst>
          </a:prstGeom>
          <a:solidFill>
            <a:srgbClr val="5B47D6"/>
          </a:solidFill>
          <a:ln/>
        </p:spPr>
      </p:sp>
      <p:sp>
        <p:nvSpPr>
          <p:cNvPr id="6" name="Text 4"/>
          <p:cNvSpPr/>
          <p:nvPr/>
        </p:nvSpPr>
        <p:spPr>
          <a:xfrm>
            <a:off x="1016000" y="2341004"/>
            <a:ext cx="3062671" cy="612140"/>
          </a:xfrm>
          <a:prstGeom prst="rect">
            <a:avLst/>
          </a:prstGeom>
          <a:noFill/>
          <a:ln/>
        </p:spPr>
        <p:txBody>
          <a:bodyPr wrap="square" lIns="0" tIns="0" rIns="0" bIns="0" rtlCol="0" anchor="t">
            <a:normAutofit/>
          </a:bodyPr>
          <a:lstStyle/>
          <a:p>
            <a:pPr algn="l" indent="0" marL="0">
              <a:lnSpc>
                <a:spcPts val="4620"/>
              </a:lnSpc>
              <a:buNone/>
            </a:pPr>
            <a:r>
              <a:rPr lang="en-US" sz="4400" b="1" dirty="0">
                <a:solidFill>
                  <a:srgbClr val="FAF7F2"/>
                </a:solidFill>
                <a:latin typeface="Georgia" pitchFamily="18" charset="0"/>
                <a:ea typeface="Georgia" pitchFamily="18" charset="-122"/>
                <a:cs typeface="Georgia" pitchFamily="18" charset="-120"/>
              </a:rPr>
              <a:t>$9.50</a:t>
            </a:r>
            <a:endParaRPr lang="en-US" sz="4400" dirty="0"/>
          </a:p>
        </p:txBody>
      </p:sp>
      <p:sp>
        <p:nvSpPr>
          <p:cNvPr id="7" name="Text 5"/>
          <p:cNvSpPr/>
          <p:nvPr/>
        </p:nvSpPr>
        <p:spPr>
          <a:xfrm>
            <a:off x="1016000" y="2965847"/>
            <a:ext cx="3062671"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AF7F2"/>
                </a:solidFill>
                <a:latin typeface="Georgia" pitchFamily="18" charset="0"/>
                <a:ea typeface="Georgia" pitchFamily="18" charset="-122"/>
                <a:cs typeface="Georgia" pitchFamily="18" charset="-120"/>
              </a:rPr>
              <a:t>Right to Trial at scale</a:t>
            </a:r>
            <a:endParaRPr lang="en-US" sz="2000" dirty="0"/>
          </a:p>
        </p:txBody>
      </p:sp>
      <p:sp>
        <p:nvSpPr>
          <p:cNvPr id="8" name="Text 6"/>
          <p:cNvSpPr/>
          <p:nvPr/>
        </p:nvSpPr>
        <p:spPr>
          <a:xfrm>
            <a:off x="1016000" y="3308747"/>
            <a:ext cx="3062671"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E6E2FB"/>
                </a:solidFill>
                <a:latin typeface="Arial" pitchFamily="34" charset="0"/>
                <a:ea typeface="Arial" pitchFamily="34" charset="-122"/>
                <a:cs typeface="Arial" pitchFamily="34" charset="-120"/>
              </a:rPr>
              <a:t>trials built into everyday care</a:t>
            </a:r>
            <a:endParaRPr lang="en-US" sz="1500" dirty="0"/>
          </a:p>
        </p:txBody>
      </p:sp>
      <p:sp>
        <p:nvSpPr>
          <p:cNvPr id="9" name="Shape 7"/>
          <p:cNvSpPr/>
          <p:nvPr/>
        </p:nvSpPr>
        <p:spPr>
          <a:xfrm>
            <a:off x="4399042" y="2166379"/>
            <a:ext cx="3383756" cy="1951117"/>
          </a:xfrm>
          <a:prstGeom prst="roundRect">
            <a:avLst>
              <a:gd name="adj" fmla="val 7648"/>
            </a:avLst>
          </a:prstGeom>
          <a:solidFill>
            <a:srgbClr val="FFFDF9"/>
          </a:solidFill>
          <a:ln w="6350">
            <a:solidFill>
              <a:srgbClr val="E4DED3"/>
            </a:solidFill>
            <a:prstDash val="solid"/>
          </a:ln>
        </p:spPr>
      </p:sp>
      <p:sp>
        <p:nvSpPr>
          <p:cNvPr id="10" name="Text 8"/>
          <p:cNvSpPr/>
          <p:nvPr/>
        </p:nvSpPr>
        <p:spPr>
          <a:xfrm>
            <a:off x="4604147" y="2346089"/>
            <a:ext cx="3062753" cy="612140"/>
          </a:xfrm>
          <a:prstGeom prst="rect">
            <a:avLst/>
          </a:prstGeom>
          <a:noFill/>
          <a:ln/>
        </p:spPr>
        <p:txBody>
          <a:bodyPr wrap="square" lIns="0" tIns="0" rIns="0" bIns="0" rtlCol="0" anchor="t">
            <a:normAutofit/>
          </a:bodyPr>
          <a:lstStyle/>
          <a:p>
            <a:pPr algn="l" indent="0" marL="0">
              <a:lnSpc>
                <a:spcPts val="4620"/>
              </a:lnSpc>
              <a:buNone/>
            </a:pPr>
            <a:r>
              <a:rPr lang="en-US" sz="4400" b="1" dirty="0">
                <a:solidFill>
                  <a:srgbClr val="A64E16"/>
                </a:solidFill>
                <a:latin typeface="Georgia" pitchFamily="18" charset="0"/>
                <a:ea typeface="Georgia" pitchFamily="18" charset="-122"/>
                <a:cs typeface="Georgia" pitchFamily="18" charset="-120"/>
              </a:rPr>
              <a:t>$89</a:t>
            </a:r>
            <a:endParaRPr lang="en-US" sz="4400" dirty="0"/>
          </a:p>
        </p:txBody>
      </p:sp>
      <p:sp>
        <p:nvSpPr>
          <p:cNvPr id="11" name="Text 9"/>
          <p:cNvSpPr/>
          <p:nvPr/>
        </p:nvSpPr>
        <p:spPr>
          <a:xfrm>
            <a:off x="4604147" y="2970932"/>
            <a:ext cx="306275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F2A44"/>
                </a:solidFill>
                <a:latin typeface="Georgia" pitchFamily="18" charset="0"/>
                <a:ea typeface="Georgia" pitchFamily="18" charset="-122"/>
                <a:cs typeface="Georgia" pitchFamily="18" charset="-120"/>
              </a:rPr>
              <a:t>Malaria bed nets</a:t>
            </a:r>
            <a:endParaRPr lang="en-US" sz="2000" dirty="0"/>
          </a:p>
        </p:txBody>
      </p:sp>
      <p:sp>
        <p:nvSpPr>
          <p:cNvPr id="12" name="Text 10"/>
          <p:cNvSpPr/>
          <p:nvPr/>
        </p:nvSpPr>
        <p:spPr>
          <a:xfrm>
            <a:off x="4604147" y="3313832"/>
            <a:ext cx="3062753"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626A7C"/>
                </a:solidFill>
                <a:latin typeface="Arial" pitchFamily="34" charset="0"/>
                <a:ea typeface="Arial" pitchFamily="34" charset="-122"/>
                <a:cs typeface="Arial" pitchFamily="34" charset="-120"/>
              </a:rPr>
              <a:t>one of the best charities known</a:t>
            </a:r>
            <a:endParaRPr lang="en-US" sz="1500" dirty="0"/>
          </a:p>
        </p:txBody>
      </p:sp>
      <p:sp>
        <p:nvSpPr>
          <p:cNvPr id="13" name="Shape 11"/>
          <p:cNvSpPr/>
          <p:nvPr/>
        </p:nvSpPr>
        <p:spPr>
          <a:xfrm>
            <a:off x="7992349" y="2166379"/>
            <a:ext cx="3383677" cy="1951117"/>
          </a:xfrm>
          <a:prstGeom prst="roundRect">
            <a:avLst>
              <a:gd name="adj" fmla="val 7648"/>
            </a:avLst>
          </a:prstGeom>
          <a:solidFill>
            <a:srgbClr val="FFFDF9"/>
          </a:solidFill>
          <a:ln w="6350">
            <a:solidFill>
              <a:srgbClr val="E4DED3"/>
            </a:solidFill>
            <a:prstDash val="solid"/>
          </a:ln>
        </p:spPr>
      </p:sp>
      <p:sp>
        <p:nvSpPr>
          <p:cNvPr id="14" name="Text 12"/>
          <p:cNvSpPr/>
          <p:nvPr/>
        </p:nvSpPr>
        <p:spPr>
          <a:xfrm>
            <a:off x="8197453" y="2346089"/>
            <a:ext cx="3175397" cy="1050211"/>
          </a:xfrm>
          <a:prstGeom prst="rect">
            <a:avLst/>
          </a:prstGeom>
          <a:noFill/>
          <a:ln/>
        </p:spPr>
        <p:txBody>
          <a:bodyPr wrap="square" lIns="0" tIns="0" rIns="0" bIns="0" rtlCol="0" anchor="t">
            <a:normAutofit/>
          </a:bodyPr>
          <a:lstStyle/>
          <a:p>
            <a:pPr algn="l" indent="0" marL="0">
              <a:lnSpc>
                <a:spcPts val="4331"/>
              </a:lnSpc>
              <a:buNone/>
            </a:pPr>
            <a:r>
              <a:rPr lang="en-US" sz="4125" b="1" dirty="0">
                <a:solidFill>
                  <a:srgbClr val="3F4A5E"/>
                </a:solidFill>
                <a:latin typeface="Georgia" pitchFamily="18" charset="0"/>
                <a:ea typeface="Georgia" pitchFamily="18" charset="-122"/>
                <a:cs typeface="Georgia" pitchFamily="18" charset="-120"/>
              </a:rPr>
              <a:t>$100,000+</a:t>
            </a:r>
            <a:endParaRPr lang="en-US" sz="4125" dirty="0"/>
          </a:p>
        </p:txBody>
      </p:sp>
      <p:sp>
        <p:nvSpPr>
          <p:cNvPr id="15" name="Text 13"/>
          <p:cNvSpPr/>
          <p:nvPr/>
        </p:nvSpPr>
        <p:spPr>
          <a:xfrm>
            <a:off x="8197453" y="3408995"/>
            <a:ext cx="3062671" cy="291544"/>
          </a:xfrm>
          <a:prstGeom prst="rect">
            <a:avLst/>
          </a:prstGeom>
          <a:noFill/>
          <a:ln/>
        </p:spPr>
        <p:txBody>
          <a:bodyPr wrap="square" lIns="0" tIns="0" rIns="0" bIns="0" rtlCol="0" anchor="t">
            <a:normAutofit/>
          </a:bodyPr>
          <a:lstStyle/>
          <a:p>
            <a:pPr algn="l" indent="0" marL="0">
              <a:lnSpc>
                <a:spcPts val="2123"/>
              </a:lnSpc>
              <a:buNone/>
            </a:pPr>
            <a:r>
              <a:rPr lang="en-US" sz="1769" b="1" dirty="0">
                <a:solidFill>
                  <a:srgbClr val="1F2A44"/>
                </a:solidFill>
                <a:latin typeface="Georgia" pitchFamily="18" charset="0"/>
                <a:ea typeface="Georgia" pitchFamily="18" charset="-122"/>
                <a:cs typeface="Georgia" pitchFamily="18" charset="-120"/>
              </a:rPr>
              <a:t>A typical new drug</a:t>
            </a:r>
            <a:endParaRPr lang="en-US" sz="1769" dirty="0"/>
          </a:p>
        </p:txBody>
      </p:sp>
      <p:sp>
        <p:nvSpPr>
          <p:cNvPr id="16" name="Text 14"/>
          <p:cNvSpPr/>
          <p:nvPr/>
        </p:nvSpPr>
        <p:spPr>
          <a:xfrm>
            <a:off x="8197453" y="3713249"/>
            <a:ext cx="3062671" cy="249952"/>
          </a:xfrm>
          <a:prstGeom prst="rect">
            <a:avLst/>
          </a:prstGeom>
          <a:noFill/>
          <a:ln/>
        </p:spPr>
        <p:txBody>
          <a:bodyPr wrap="square" lIns="0" tIns="0" rIns="0" bIns="0" rtlCol="0" anchor="t">
            <a:normAutofit/>
          </a:bodyPr>
          <a:lstStyle/>
          <a:p>
            <a:pPr algn="l" indent="0" marL="0">
              <a:lnSpc>
                <a:spcPts val="1772"/>
              </a:lnSpc>
              <a:buNone/>
            </a:pPr>
            <a:r>
              <a:rPr lang="en-US" sz="1313" dirty="0">
                <a:solidFill>
                  <a:srgbClr val="626A7C"/>
                </a:solidFill>
                <a:latin typeface="Arial" pitchFamily="34" charset="0"/>
                <a:ea typeface="Arial" pitchFamily="34" charset="-122"/>
                <a:cs typeface="Arial" pitchFamily="34" charset="-120"/>
              </a:rPr>
              <a:t>at the usual U.S. price limit</a:t>
            </a:r>
            <a:endParaRPr lang="en-US" sz="1313" dirty="0"/>
          </a:p>
        </p:txBody>
      </p:sp>
      <p:sp>
        <p:nvSpPr>
          <p:cNvPr id="17" name="Text 15"/>
          <p:cNvSpPr/>
          <p:nvPr/>
        </p:nvSpPr>
        <p:spPr>
          <a:xfrm>
            <a:off x="812800" y="4370474"/>
            <a:ext cx="274701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2A44"/>
                </a:solidFill>
                <a:latin typeface="Arial" pitchFamily="34" charset="0"/>
                <a:ea typeface="Arial" pitchFamily="34" charset="-122"/>
                <a:cs typeface="Arial" pitchFamily="34" charset="-120"/>
              </a:rPr>
              <a:t>Right to Trial at scale</a:t>
            </a:r>
            <a:endParaRPr lang="en-US" sz="1500" dirty="0"/>
          </a:p>
        </p:txBody>
      </p:sp>
      <p:sp>
        <p:nvSpPr>
          <p:cNvPr id="18" name="Shape 16"/>
          <p:cNvSpPr/>
          <p:nvPr/>
        </p:nvSpPr>
        <p:spPr>
          <a:xfrm>
            <a:off x="3638550" y="4332374"/>
            <a:ext cx="0" cy="304800"/>
          </a:xfrm>
          <a:prstGeom prst="line">
            <a:avLst/>
          </a:prstGeom>
          <a:noFill/>
          <a:ln w="12700">
            <a:solidFill>
              <a:srgbClr val="C9C2B6"/>
            </a:solidFill>
            <a:prstDash val="solid"/>
          </a:ln>
        </p:spPr>
      </p:sp>
      <p:sp>
        <p:nvSpPr>
          <p:cNvPr id="19" name="Text 17"/>
          <p:cNvSpPr/>
          <p:nvPr/>
        </p:nvSpPr>
        <p:spPr>
          <a:xfrm>
            <a:off x="3743960" y="4360304"/>
            <a:ext cx="3578308"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5B47D6"/>
                </a:solidFill>
                <a:latin typeface="Arial" pitchFamily="34" charset="0"/>
                <a:ea typeface="Arial" pitchFamily="34" charset="-122"/>
                <a:cs typeface="Arial" pitchFamily="34" charset="-120"/>
              </a:rPr>
              <a:t>$9.50: too small to see at this scale</a:t>
            </a:r>
            <a:endParaRPr lang="en-US" sz="1400" dirty="0"/>
          </a:p>
        </p:txBody>
      </p:sp>
      <p:sp>
        <p:nvSpPr>
          <p:cNvPr id="20" name="Text 18"/>
          <p:cNvSpPr/>
          <p:nvPr/>
        </p:nvSpPr>
        <p:spPr>
          <a:xfrm>
            <a:off x="812800" y="4717653"/>
            <a:ext cx="274701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2A44"/>
                </a:solidFill>
                <a:latin typeface="Arial" pitchFamily="34" charset="0"/>
                <a:ea typeface="Arial" pitchFamily="34" charset="-122"/>
                <a:cs typeface="Arial" pitchFamily="34" charset="-120"/>
              </a:rPr>
              <a:t>Malaria bed nets</a:t>
            </a:r>
            <a:endParaRPr lang="en-US" sz="1500" dirty="0"/>
          </a:p>
        </p:txBody>
      </p:sp>
      <p:sp>
        <p:nvSpPr>
          <p:cNvPr id="21" name="Shape 19"/>
          <p:cNvSpPr/>
          <p:nvPr/>
        </p:nvSpPr>
        <p:spPr>
          <a:xfrm>
            <a:off x="3638550" y="4679553"/>
            <a:ext cx="0" cy="304800"/>
          </a:xfrm>
          <a:prstGeom prst="line">
            <a:avLst/>
          </a:prstGeom>
          <a:noFill/>
          <a:ln w="12700">
            <a:solidFill>
              <a:srgbClr val="C9C2B6"/>
            </a:solidFill>
            <a:prstDash val="solid"/>
          </a:ln>
        </p:spPr>
      </p:sp>
      <p:sp>
        <p:nvSpPr>
          <p:cNvPr id="22" name="Shape 20"/>
          <p:cNvSpPr/>
          <p:nvPr/>
        </p:nvSpPr>
        <p:spPr>
          <a:xfrm>
            <a:off x="3642360" y="4679553"/>
            <a:ext cx="6350" cy="304800"/>
          </a:xfrm>
          <a:prstGeom prst="rect">
            <a:avLst/>
          </a:prstGeom>
          <a:solidFill>
            <a:srgbClr val="A64E16"/>
          </a:solidFill>
          <a:ln/>
        </p:spPr>
      </p:sp>
      <p:sp>
        <p:nvSpPr>
          <p:cNvPr id="23" name="Text 21"/>
          <p:cNvSpPr/>
          <p:nvPr/>
        </p:nvSpPr>
        <p:spPr>
          <a:xfrm>
            <a:off x="3750310" y="4707496"/>
            <a:ext cx="2713387"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64E16"/>
                </a:solidFill>
                <a:latin typeface="Arial" pitchFamily="34" charset="0"/>
                <a:ea typeface="Arial" pitchFamily="34" charset="-122"/>
                <a:cs typeface="Arial" pitchFamily="34" charset="-120"/>
              </a:rPr>
              <a:t>$89: about 1 pixel wide</a:t>
            </a:r>
            <a:endParaRPr lang="en-US" sz="1400" dirty="0"/>
          </a:p>
        </p:txBody>
      </p:sp>
      <p:sp>
        <p:nvSpPr>
          <p:cNvPr id="24" name="Text 22"/>
          <p:cNvSpPr/>
          <p:nvPr/>
        </p:nvSpPr>
        <p:spPr>
          <a:xfrm>
            <a:off x="812800" y="5064844"/>
            <a:ext cx="274701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2A44"/>
                </a:solidFill>
                <a:latin typeface="Arial" pitchFamily="34" charset="0"/>
                <a:ea typeface="Arial" pitchFamily="34" charset="-122"/>
                <a:cs typeface="Arial" pitchFamily="34" charset="-120"/>
              </a:rPr>
              <a:t>A typical new drug</a:t>
            </a:r>
            <a:endParaRPr lang="en-US" sz="1500" dirty="0"/>
          </a:p>
        </p:txBody>
      </p:sp>
      <p:sp>
        <p:nvSpPr>
          <p:cNvPr id="25" name="Text 23"/>
          <p:cNvSpPr/>
          <p:nvPr/>
        </p:nvSpPr>
        <p:spPr>
          <a:xfrm>
            <a:off x="3632200" y="5026744"/>
            <a:ext cx="7747000" cy="304800"/>
          </a:xfrm>
          <a:prstGeom prst="roundRect">
            <a:avLst>
              <a:gd name="adj" fmla="val 16667"/>
            </a:avLst>
          </a:prstGeom>
          <a:solidFill>
            <a:srgbClr val="3F4A5E"/>
          </a:solidFill>
          <a:ln/>
        </p:spPr>
        <p:txBody>
          <a:bodyPr wrap="square" lIns="112121" tIns="0" rIns="0" bIns="0" rtlCol="0" anchor="ctr">
            <a:normAutofit/>
          </a:bodyPr>
          <a:lstStyle/>
          <a:p>
            <a:pPr algn="l" indent="0" marL="0">
              <a:lnSpc>
                <a:spcPts val="1960"/>
              </a:lnSpc>
              <a:buNone/>
            </a:pPr>
            <a:r>
              <a:rPr lang="en-US" sz="1400" b="1" dirty="0">
                <a:solidFill>
                  <a:srgbClr val="FAF7F2"/>
                </a:solidFill>
                <a:latin typeface="Arial" pitchFamily="34" charset="0"/>
                <a:ea typeface="Arial" pitchFamily="34" charset="-122"/>
                <a:cs typeface="Arial" pitchFamily="34" charset="-120"/>
              </a:rPr>
              <a:t>$100,000+</a:t>
            </a:r>
            <a:endParaRPr lang="en-US" sz="1400" dirty="0"/>
          </a:p>
        </p:txBody>
      </p:sp>
      <p:sp>
        <p:nvSpPr>
          <p:cNvPr id="26" name="Text 24"/>
          <p:cNvSpPr/>
          <p:nvPr/>
        </p:nvSpPr>
        <p:spPr>
          <a:xfrm>
            <a:off x="812800" y="5543240"/>
            <a:ext cx="10883392" cy="324167"/>
          </a:xfrm>
          <a:prstGeom prst="rect">
            <a:avLst/>
          </a:prstGeom>
          <a:noFill/>
          <a:ln/>
        </p:spPr>
        <p:txBody>
          <a:bodyPr wrap="square" lIns="0" tIns="0" rIns="0" bIns="0" rtlCol="0" anchor="t">
            <a:normAutofit/>
          </a:bodyPr>
          <a:lstStyle/>
          <a:p>
            <a:pPr algn="l" indent="0" marL="0">
              <a:lnSpc>
                <a:spcPts val="2373"/>
              </a:lnSpc>
              <a:buNone/>
            </a:pPr>
            <a:r>
              <a:rPr lang="en-US" sz="1825" dirty="0">
                <a:solidFill>
                  <a:srgbClr val="1F2A44"/>
                </a:solidFill>
                <a:latin typeface="Arial" pitchFamily="34" charset="0"/>
                <a:ea typeface="Arial" pitchFamily="34" charset="-122"/>
                <a:cs typeface="Arial" pitchFamily="34" charset="-120"/>
              </a:rPr>
              <a:t>About </a:t>
            </a:r>
            <a:r>
              <a:rPr lang="en-US" sz="1825" b="1" dirty="0">
                <a:solidFill>
                  <a:srgbClr val="1F2A44"/>
                </a:solidFill>
                <a:latin typeface="Arial" pitchFamily="34" charset="0"/>
                <a:ea typeface="Arial" pitchFamily="34" charset="-122"/>
                <a:cs typeface="Arial" pitchFamily="34" charset="-120"/>
              </a:rPr>
              <a:t>9 times</a:t>
            </a:r>
            <a:r>
              <a:rPr lang="en-US" sz="1825" dirty="0">
                <a:solidFill>
                  <a:srgbClr val="1F2A44"/>
                </a:solidFill>
                <a:latin typeface="Arial" pitchFamily="34" charset="0"/>
                <a:ea typeface="Arial" pitchFamily="34" charset="-122"/>
                <a:cs typeface="Arial" pitchFamily="34" charset="-120"/>
              </a:rPr>
              <a:t> cheaper than bed nets. Over </a:t>
            </a:r>
            <a:r>
              <a:rPr lang="en-US" sz="1825" b="1" dirty="0">
                <a:solidFill>
                  <a:srgbClr val="1F2A44"/>
                </a:solidFill>
                <a:latin typeface="Arial" pitchFamily="34" charset="0"/>
                <a:ea typeface="Arial" pitchFamily="34" charset="-122"/>
                <a:cs typeface="Arial" pitchFamily="34" charset="-120"/>
              </a:rPr>
              <a:t>10,000 times</a:t>
            </a:r>
            <a:r>
              <a:rPr lang="en-US" sz="1825" dirty="0">
                <a:solidFill>
                  <a:srgbClr val="1F2A44"/>
                </a:solidFill>
                <a:latin typeface="Arial" pitchFamily="34" charset="0"/>
                <a:ea typeface="Arial" pitchFamily="34" charset="-122"/>
                <a:cs typeface="Arial" pitchFamily="34" charset="-120"/>
              </a:rPr>
              <a:t> cheaper than a typical new drug.</a:t>
            </a:r>
            <a:endParaRPr lang="en-US" sz="1825" dirty="0"/>
          </a:p>
        </p:txBody>
      </p:sp>
      <p:sp>
        <p:nvSpPr>
          <p:cNvPr id="27" name="Text 25"/>
          <p:cNvSpPr/>
          <p:nvPr/>
        </p:nvSpPr>
        <p:spPr>
          <a:xfrm>
            <a:off x="812800" y="6024885"/>
            <a:ext cx="1088339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26A7C"/>
                </a:solidFill>
                <a:latin typeface="Arial" pitchFamily="34" charset="0"/>
                <a:ea typeface="Arial" pitchFamily="34" charset="-122"/>
                <a:cs typeface="Arial" pitchFamily="34" charset="-120"/>
              </a:rPr>
              <a:t>A year of healthy life = one year without early death or disability. Conservative: costs and health both discounted 3% a year. Sources: War on Disease manual, impact paper; ICER.</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F2A44"/>
        </a:solidFill>
      </p:bgPr>
    </p:bg>
    <p:spTree>
      <p:nvGrpSpPr>
        <p:cNvPr id="1" name=""/>
        <p:cNvGrpSpPr/>
        <p:nvPr/>
      </p:nvGrpSpPr>
      <p:grpSpPr>
        <a:xfrm>
          <a:off x="0" y="0"/>
          <a:ext cx="0" cy="0"/>
          <a:chOff x="0" y="0"/>
          <a:chExt cx="0" cy="0"/>
        </a:xfrm>
      </p:grpSpPr>
      <p:pic>
        <p:nvPicPr>
          <p:cNvPr id="2" name="Image 0" descr="Eight-step journey path">    </p:cNvPr>
          <p:cNvPicPr>
            <a:picLocks noChangeAspect="1"/>
          </p:cNvPicPr>
          <p:nvPr/>
        </p:nvPicPr>
        <p:blipFill>
          <a:blip r:embed="rId1"/>
          <a:srcRect l="0" r="0" t="-89" b="-89"/>
          <a:stretch/>
        </p:blipFill>
        <p:spPr>
          <a:xfrm>
            <a:off x="812800" y="812800"/>
            <a:ext cx="10566400" cy="1333500"/>
          </a:xfrm>
          <a:prstGeom prst="rect">
            <a:avLst/>
          </a:prstGeom>
        </p:spPr>
      </p:pic>
      <p:pic>
        <p:nvPicPr>
          <p:cNvPr id="3" name="Image 1" descr="Search">    </p:cNvPr>
          <p:cNvPicPr>
            <a:picLocks noChangeAspect="1"/>
          </p:cNvPicPr>
          <p:nvPr/>
        </p:nvPicPr>
        <p:blipFill>
          <a:blip r:embed="rId2"/>
          <a:srcRect l="0" r="0" t="0" b="0"/>
          <a:stretch/>
        </p:blipFill>
        <p:spPr>
          <a:xfrm>
            <a:off x="939800" y="1574800"/>
            <a:ext cx="254000" cy="254000"/>
          </a:xfrm>
          <a:prstGeom prst="rect">
            <a:avLst/>
          </a:prstGeom>
        </p:spPr>
      </p:pic>
      <p:pic>
        <p:nvPicPr>
          <p:cNvPr id="4" name="Image 2" descr="Chat">    </p:cNvPr>
          <p:cNvPicPr>
            <a:picLocks noChangeAspect="1"/>
          </p:cNvPicPr>
          <p:nvPr/>
        </p:nvPicPr>
        <p:blipFill>
          <a:blip r:embed="rId3"/>
          <a:srcRect l="0" r="0" t="0" b="0"/>
          <a:stretch/>
        </p:blipFill>
        <p:spPr>
          <a:xfrm>
            <a:off x="2374900" y="1130300"/>
            <a:ext cx="254000" cy="254000"/>
          </a:xfrm>
          <a:prstGeom prst="rect">
            <a:avLst/>
          </a:prstGeom>
        </p:spPr>
      </p:pic>
      <p:pic>
        <p:nvPicPr>
          <p:cNvPr id="5" name="Image 3" descr="Verified">    </p:cNvPr>
          <p:cNvPicPr>
            <a:picLocks noChangeAspect="1"/>
          </p:cNvPicPr>
          <p:nvPr/>
        </p:nvPicPr>
        <p:blipFill>
          <a:blip r:embed="rId4"/>
          <a:srcRect l="0" r="0" t="0" b="0"/>
          <a:stretch/>
        </p:blipFill>
        <p:spPr>
          <a:xfrm>
            <a:off x="3816350" y="1574800"/>
            <a:ext cx="254000" cy="254000"/>
          </a:xfrm>
          <a:prstGeom prst="rect">
            <a:avLst/>
          </a:prstGeom>
        </p:spPr>
      </p:pic>
      <p:pic>
        <p:nvPicPr>
          <p:cNvPr id="6" name="Image 4" descr="Book">    </p:cNvPr>
          <p:cNvPicPr>
            <a:picLocks noChangeAspect="1"/>
          </p:cNvPicPr>
          <p:nvPr/>
        </p:nvPicPr>
        <p:blipFill>
          <a:blip r:embed="rId5"/>
          <a:srcRect l="0" r="0" t="0" b="0"/>
          <a:stretch/>
        </p:blipFill>
        <p:spPr>
          <a:xfrm>
            <a:off x="5251450" y="1130300"/>
            <a:ext cx="254000" cy="254000"/>
          </a:xfrm>
          <a:prstGeom prst="rect">
            <a:avLst/>
          </a:prstGeom>
        </p:spPr>
      </p:pic>
      <p:pic>
        <p:nvPicPr>
          <p:cNvPr id="7" name="Image 5" descr="Trust">    </p:cNvPr>
          <p:cNvPicPr>
            <a:picLocks noChangeAspect="1"/>
          </p:cNvPicPr>
          <p:nvPr/>
        </p:nvPicPr>
        <p:blipFill>
          <a:blip r:embed="rId6"/>
          <a:srcRect l="0" r="0" t="0" b="0"/>
          <a:stretch/>
        </p:blipFill>
        <p:spPr>
          <a:xfrm>
            <a:off x="6686550" y="1574800"/>
            <a:ext cx="254000" cy="254000"/>
          </a:xfrm>
          <a:prstGeom prst="rect">
            <a:avLst/>
          </a:prstGeom>
        </p:spPr>
      </p:pic>
      <p:pic>
        <p:nvPicPr>
          <p:cNvPr id="8" name="Image 6" descr="Activity">    </p:cNvPr>
          <p:cNvPicPr>
            <a:picLocks noChangeAspect="1"/>
          </p:cNvPicPr>
          <p:nvPr/>
        </p:nvPicPr>
        <p:blipFill>
          <a:blip r:embed="rId7"/>
          <a:srcRect l="0" r="0" t="0" b="0"/>
          <a:stretch/>
        </p:blipFill>
        <p:spPr>
          <a:xfrm>
            <a:off x="8128000" y="1130300"/>
            <a:ext cx="254000" cy="254000"/>
          </a:xfrm>
          <a:prstGeom prst="rect">
            <a:avLst/>
          </a:prstGeom>
        </p:spPr>
      </p:pic>
      <p:pic>
        <p:nvPicPr>
          <p:cNvPr id="9" name="Image 7" descr="Chart">    </p:cNvPr>
          <p:cNvPicPr>
            <a:picLocks noChangeAspect="1"/>
          </p:cNvPicPr>
          <p:nvPr/>
        </p:nvPicPr>
        <p:blipFill>
          <a:blip r:embed="rId8"/>
          <a:srcRect l="0" r="0" t="0" b="0"/>
          <a:stretch/>
        </p:blipFill>
        <p:spPr>
          <a:xfrm>
            <a:off x="9563100" y="1574800"/>
            <a:ext cx="254000" cy="254000"/>
          </a:xfrm>
          <a:prstGeom prst="rect">
            <a:avLst/>
          </a:prstGeom>
        </p:spPr>
      </p:pic>
      <p:pic>
        <p:nvPicPr>
          <p:cNvPr id="10" name="Image 8" descr="Star">    </p:cNvPr>
          <p:cNvPicPr>
            <a:picLocks noChangeAspect="1"/>
          </p:cNvPicPr>
          <p:nvPr/>
        </p:nvPicPr>
        <p:blipFill>
          <a:blip r:embed="rId9"/>
          <a:srcRect l="0" r="0" t="0" b="0"/>
          <a:stretch/>
        </p:blipFill>
        <p:spPr>
          <a:xfrm>
            <a:off x="10998200" y="1130300"/>
            <a:ext cx="254000" cy="254000"/>
          </a:xfrm>
          <a:prstGeom prst="rect">
            <a:avLst/>
          </a:prstGeom>
        </p:spPr>
      </p:pic>
      <p:sp>
        <p:nvSpPr>
          <p:cNvPr id="11" name="Text 0"/>
          <p:cNvSpPr/>
          <p:nvPr/>
        </p:nvSpPr>
        <p:spPr>
          <a:xfrm>
            <a:off x="812800" y="2104231"/>
            <a:ext cx="10883392" cy="1390809"/>
          </a:xfrm>
          <a:prstGeom prst="rect">
            <a:avLst/>
          </a:prstGeom>
          <a:noFill/>
          <a:ln/>
        </p:spPr>
        <p:txBody>
          <a:bodyPr wrap="square" lIns="0" tIns="0" rIns="0" bIns="0" rtlCol="0" anchor="t">
            <a:normAutofit/>
          </a:bodyPr>
          <a:lstStyle/>
          <a:p>
            <a:pPr algn="l" indent="0" marL="0">
              <a:lnSpc>
                <a:spcPts val="5376"/>
              </a:lnSpc>
              <a:buNone/>
            </a:pPr>
            <a:r>
              <a:rPr lang="en-US" sz="4800" b="1" dirty="0">
                <a:solidFill>
                  <a:srgbClr val="FAF7F2"/>
                </a:solidFill>
                <a:latin typeface="Georgia" pitchFamily="18" charset="0"/>
                <a:ea typeface="Georgia" pitchFamily="18" charset="-122"/>
                <a:cs typeface="Georgia" pitchFamily="18" charset="-120"/>
              </a:rPr>
              <a:t>Every patient's experience becomes evidence for the next.</a:t>
            </a:r>
            <a:endParaRPr lang="en-US" sz="4800" dirty="0"/>
          </a:p>
        </p:txBody>
      </p:sp>
      <p:sp>
        <p:nvSpPr>
          <p:cNvPr id="12" name="Text 1"/>
          <p:cNvSpPr/>
          <p:nvPr/>
        </p:nvSpPr>
        <p:spPr>
          <a:xfrm>
            <a:off x="812800" y="3698242"/>
            <a:ext cx="9810750" cy="711200"/>
          </a:xfrm>
          <a:prstGeom prst="rect">
            <a:avLst/>
          </a:prstGeom>
          <a:noFill/>
          <a:ln/>
        </p:spPr>
        <p:txBody>
          <a:bodyPr wrap="square" lIns="0" tIns="0" rIns="0" bIns="0" rtlCol="0" anchor="t">
            <a:normAutofit/>
          </a:bodyPr>
          <a:lstStyle/>
          <a:p>
            <a:pPr algn="l" indent="0" marL="0">
              <a:lnSpc>
                <a:spcPts val="2700"/>
              </a:lnSpc>
              <a:buNone/>
            </a:pPr>
            <a:r>
              <a:rPr lang="en-US" sz="2000" b="1" dirty="0">
                <a:solidFill>
                  <a:srgbClr val="FAF7F2"/>
                </a:solidFill>
                <a:latin typeface="Arial" pitchFamily="34" charset="0"/>
                <a:ea typeface="Arial" pitchFamily="34" charset="-122"/>
                <a:cs typeface="Arial" pitchFamily="34" charset="-120"/>
              </a:rPr>
              <a:t>Any patient can participate</a:t>
            </a:r>
            <a:r>
              <a:rPr lang="en-US" sz="2000" dirty="0">
                <a:solidFill>
                  <a:srgbClr val="FAF7F2"/>
                </a:solidFill>
                <a:latin typeface="Arial" pitchFamily="34" charset="0"/>
                <a:ea typeface="Arial" pitchFamily="34" charset="-122"/>
                <a:cs typeface="Arial" pitchFamily="34" charset="-120"/>
              </a:rPr>
              <a:t> in trials for the most promising treatments</a:t>
            </a:r>
            <a:r>
              <a:rPr lang="en-US" sz="2000" b="1" dirty="0">
                <a:solidFill>
                  <a:srgbClr val="FAF7F2"/>
                </a:solidFill>
                <a:latin typeface="Arial" pitchFamily="34" charset="0"/>
                <a:ea typeface="Arial" pitchFamily="34" charset="-122"/>
                <a:cs typeface="Arial" pitchFamily="34" charset="-120"/>
              </a:rPr>
              <a:t>,</a:t>
            </a:r>
            <a:r>
              <a:rPr lang="en-US" sz="2000" dirty="0">
                <a:solidFill>
                  <a:srgbClr val="DCE2EE"/>
                </a:solidFill>
                <a:latin typeface="Arial" pitchFamily="34" charset="0"/>
                <a:ea typeface="Arial" pitchFamily="34" charset="-122"/>
                <a:cs typeface="Arial" pitchFamily="34" charset="-120"/>
              </a:rPr>
              <a:t> not only the dying.</a:t>
            </a:r>
            <a:endParaRPr lang="en-US" sz="2000" dirty="0"/>
          </a:p>
        </p:txBody>
      </p:sp>
      <p:sp>
        <p:nvSpPr>
          <p:cNvPr id="13" name="Text 2"/>
          <p:cNvSpPr/>
          <p:nvPr/>
        </p:nvSpPr>
        <p:spPr>
          <a:xfrm>
            <a:off x="812800" y="4434842"/>
            <a:ext cx="9810750" cy="711200"/>
          </a:xfrm>
          <a:prstGeom prst="rect">
            <a:avLst/>
          </a:prstGeom>
          <a:noFill/>
          <a:ln/>
        </p:spPr>
        <p:txBody>
          <a:bodyPr wrap="square" lIns="0" tIns="0" rIns="0" bIns="0" rtlCol="0" anchor="t">
            <a:normAutofit/>
          </a:bodyPr>
          <a:lstStyle/>
          <a:p>
            <a:pPr algn="l" indent="0" marL="0">
              <a:lnSpc>
                <a:spcPts val="2700"/>
              </a:lnSpc>
              <a:buNone/>
            </a:pPr>
            <a:r>
              <a:rPr lang="en-US" sz="2000" b="1" dirty="0">
                <a:solidFill>
                  <a:srgbClr val="FAF7F2"/>
                </a:solidFill>
                <a:latin typeface="Arial" pitchFamily="34" charset="0"/>
                <a:ea typeface="Arial" pitchFamily="34" charset="-122"/>
                <a:cs typeface="Arial" pitchFamily="34" charset="-120"/>
              </a:rPr>
              <a:t>Clinics can charge fairly,</a:t>
            </a:r>
            <a:r>
              <a:rPr lang="en-US" sz="2000" dirty="0">
                <a:solidFill>
                  <a:srgbClr val="FAF7F2"/>
                </a:solidFill>
                <a:latin typeface="Arial" pitchFamily="34" charset="0"/>
                <a:ea typeface="Arial" pitchFamily="34" charset="-122"/>
                <a:cs typeface="Arial" pitchFamily="34" charset="-120"/>
              </a:rPr>
              <a:t> incentivizing them to</a:t>
            </a:r>
            <a:r>
              <a:rPr lang="en-US" sz="2000" dirty="0">
                <a:solidFill>
                  <a:srgbClr val="DCE2EE"/>
                </a:solidFill>
                <a:latin typeface="Arial" pitchFamily="34" charset="0"/>
                <a:ea typeface="Arial" pitchFamily="34" charset="-122"/>
                <a:cs typeface="Arial" pitchFamily="34" charset="-120"/>
              </a:rPr>
              <a:t> offer otherwise unprofitable  treatments.</a:t>
            </a:r>
            <a:endParaRPr lang="en-US" sz="2000" dirty="0"/>
          </a:p>
        </p:txBody>
      </p:sp>
      <p:sp>
        <p:nvSpPr>
          <p:cNvPr id="14" name="Text 3"/>
          <p:cNvSpPr/>
          <p:nvPr/>
        </p:nvSpPr>
        <p:spPr>
          <a:xfrm>
            <a:off x="812800" y="5171442"/>
            <a:ext cx="9810750" cy="368300"/>
          </a:xfrm>
          <a:prstGeom prst="rect">
            <a:avLst/>
          </a:prstGeom>
          <a:noFill/>
          <a:ln/>
        </p:spPr>
        <p:txBody>
          <a:bodyPr wrap="square" lIns="0" tIns="0" rIns="0" bIns="0" rtlCol="0" anchor="t">
            <a:normAutofit/>
          </a:bodyPr>
          <a:lstStyle/>
          <a:p>
            <a:pPr algn="l" indent="0" marL="0">
              <a:lnSpc>
                <a:spcPts val="2700"/>
              </a:lnSpc>
              <a:buNone/>
            </a:pPr>
            <a:r>
              <a:rPr lang="en-US" sz="2000" b="1" dirty="0">
                <a:solidFill>
                  <a:srgbClr val="FAF7F2"/>
                </a:solidFill>
                <a:latin typeface="Arial" pitchFamily="34" charset="0"/>
                <a:ea typeface="Arial" pitchFamily="34" charset="-122"/>
                <a:cs typeface="Arial" pitchFamily="34" charset="-120"/>
              </a:rPr>
              <a:t>Every result is published,</a:t>
            </a:r>
            <a:r>
              <a:rPr lang="en-US" sz="2000" dirty="0">
                <a:solidFill>
                  <a:srgbClr val="DCE2EE"/>
                </a:solidFill>
                <a:latin typeface="Arial" pitchFamily="34" charset="0"/>
                <a:ea typeface="Arial" pitchFamily="34" charset="-122"/>
                <a:cs typeface="Arial" pitchFamily="34" charset="-120"/>
              </a:rPr>
              <a:t> producing treatment rankings and outcome labels.</a:t>
            </a:r>
            <a:endParaRPr lang="en-US" sz="2000" dirty="0"/>
          </a:p>
        </p:txBody>
      </p:sp>
      <p:sp>
        <p:nvSpPr>
          <p:cNvPr id="15" name="Text 4"/>
          <p:cNvSpPr/>
          <p:nvPr/>
        </p:nvSpPr>
        <p:spPr>
          <a:xfrm>
            <a:off x="812800" y="5742942"/>
            <a:ext cx="10883392" cy="327660"/>
          </a:xfrm>
          <a:prstGeom prst="rect">
            <a:avLst/>
          </a:prstGeom>
          <a:noFill/>
          <a:ln/>
        </p:spPr>
        <p:txBody>
          <a:bodyPr wrap="square" lIns="0" tIns="0" rIns="0" bIns="0" rtlCol="0" anchor="t">
            <a:normAutofit/>
          </a:bodyPr>
          <a:lstStyle/>
          <a:p>
            <a:pPr algn="l" indent="0" marL="0">
              <a:lnSpc>
                <a:spcPts val="2380"/>
              </a:lnSpc>
              <a:buNone/>
            </a:pPr>
            <a:r>
              <a:rPr lang="en-US" sz="1700" b="1" u="sng" dirty="0">
                <a:solidFill>
                  <a:srgbClr val="F2A65A"/>
                </a:solidFill>
                <a:latin typeface="Arial" pitchFamily="34" charset="0"/>
                <a:ea typeface="Arial" pitchFamily="34" charset="-122"/>
                <a:cs typeface="Arial" pitchFamily="34" charset="-120"/>
                <a:hlinkClick r:id="rId10" invalidUrl="" action="" tgtFrame="" tooltip="" history="1" highlightClick="0" endSnd="0">
                  <a:extLst>
                    <a:ext uri="{A12FA001-AC4F-418D-AE19-62706E023703}">
                      <ahyp:hlinkClr xmlns:ahyp="http://schemas.microsoft.com/office/drawing/2018/hyperlinkcolor" val="tx"/>
                    </a:ext>
                  </a:extLst>
                </a:hlinkClick>
              </a:rPr>
              <a:t>Explore the prototype</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Right to Trial: The Patient Journey</dc:title>
  <dc:subject/>
  <dc:creator/>
  <cp:lastModifiedBy/>
  <cp:revision>1</cp:revision>
  <dcterms:created xsi:type="dcterms:W3CDTF">2026-10-01T21:48:32Z</dcterms:created>
  <dcterms:modified xsi:type="dcterms:W3CDTF">2026-10-01T21:48:32Z</dcterms:modified>
</cp:coreProperties>
</file>